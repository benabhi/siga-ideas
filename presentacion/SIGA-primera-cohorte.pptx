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dónde estamos con SIGA. Esta cohorte se ocupa del primer eslabón: el ingreso de aspirantes. Mostramos las vistas, cómo vamos a organizar el proyecto en Django y Docker, el estilo visual y el modelo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circuito completo de punta a punta en lugar de pedazos de varios módulos. El aspirante entra por el formulario; secretaría trabaja en la bandeja y en la ficha. Por debajo, la base técnica que van a heredar las cohortes siguientes. Queda fuera de esta etapa crear la cuenta del aspirante y el legajo.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única pantalla pública y está pensada primero para el celular. En la captura: la elección de carrera muestra el cupo de cada una; si está completo, avisa que la solicitud queda en lista de espera. Sólo pide lo que existe en el modelo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pantalla de trabajo diario de secretaría y reemplaza la planilla de respuestas del formulario de Google. Arriba, el resumen por estado, que también filtra. Abajo, cada solicitud con su documentación verificada y su estado.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Arriba, la cabecera: el botón de confirmar está apagado porque falta aprobar documentación. Abajo, cada archivo con su estado: uno aprobado, uno observado con el motivo y dos sin verificar. Los botones dependen del estado de la solicitud, y el historial es la auditoría que pide el módulo M3.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app por rol (administración, estudiantes, docentes) más apps de dominio. core tiene lo que todos comparten. admisiones guarda los datos del ingreso, así no dependen del formulario. Esta cohorte llena core, admisiones, preinscripcion y administracion; estudiantes y docentes quedan creadas para las próximas.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flechas son dependencias: quién usa a quién. El formulario y la administración usan admisiones; nada usa al formulario. Por eso se puede sacar de INSTALLED_APPS, por ejemplo fuera del período de inscripción, y la URL deja de existir sin romper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servicios en docker-compose: web con Django y db con PostgreSQL, más dos volúmenes. Con tres comandos cualquiera levanta el proyecto. Los archivos subidos no tienen una URL pública: los sirve Django después de verificar permisos.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estilo sale de las dos imágenes de referencia que elegimos como equipo. Un azul institucional, mucho blanco y una sola tipografía. Los estados combinan color y texto para que se entiendan aunque no se distinga el color.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de datos ya cubre el SIGA completo: 29 tablas en 7 módulos. Esta etapa usa 8. No vamos a importar la base: vamos a escribir los modelos de Django y generar las migraciones a medida que desarrollamos cada parte, para que el historial de migraciones cuente cómo creció el sistema. Antes de empezar hay tres puntos del modelo para ajustar: documentos que piden un estudiante, la contraseña obligatoria del aspirante y el historial de la preinscripción.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orden sigue la dependencia: primero el modelo y la base, después las pantallas. Los modelos y las migraciones se escriben dentro de cada paso, no de una vez. Al final, el despliegue de prueba y la documentación para la cohorte que sigue. El enlace abre los mockups navegables.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claude.ai/artifact/LUtNzuTp73qRe59vqwuPYf"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4B"/>
        </a:solidFill>
      </p:bgPr>
    </p:bg>
    <p:spTree>
      <p:nvGrpSpPr>
        <p:cNvPr id="1" name=""/>
        <p:cNvGrpSpPr/>
        <p:nvPr/>
      </p:nvGrpSpPr>
      <p:grpSpPr>
        <a:xfrm>
          <a:off x="0" y="0"/>
          <a:ext cx="0" cy="0"/>
          <a:chOff x="0" y="0"/>
          <a:chExt cx="0" cy="0"/>
        </a:xfrm>
      </p:grpSpPr>
      <p:pic>
        <p:nvPicPr>
          <p:cNvPr id="2" name="Image 0" descr="Bandeja de aspirantes del panel administrativo">    </p:cNvPr>
          <p:cNvPicPr>
            <a:picLocks noChangeAspect="1"/>
          </p:cNvPicPr>
          <p:nvPr/>
        </p:nvPicPr>
        <p:blipFill>
          <a:blip r:embed="rId1">
            <a:alphaModFix amt="95000"/>
          </a:blip>
          <a:stretch>
            <a:fillRect/>
          </a:stretch>
        </p:blipFill>
        <p:spPr>
          <a:xfrm>
            <a:off x="6413500" y="1587500"/>
            <a:ext cx="5461000" cy="3413125"/>
          </a:xfrm>
          <a:prstGeom prst="rect">
            <a:avLst/>
          </a:prstGeom>
          <a:effectLst>
            <a:outerShdw sx="100000" sy="100000" kx="0" ky="0" algn="bl" rotWithShape="0" blurRad="304800" dist="127000" dir="5400000">
              <a:srgbClr val="000000">
                <a:alpha val="45000"/>
              </a:srgbClr>
            </a:outerShdw>
          </a:effectLst>
        </p:spPr>
      </p:pic>
      <p:sp>
        <p:nvSpPr>
          <p:cNvPr id="3" name="Text 0"/>
          <p:cNvSpPr txBox="1"/>
          <p:nvPr/>
        </p:nvSpPr>
        <p:spPr>
          <a:xfrm>
            <a:off x="812800" y="812800"/>
            <a:ext cx="5334000" cy="215900"/>
          </a:xfrm>
          <a:prstGeom prst="rect">
            <a:avLst/>
          </a:prstGeom>
          <a:noFill/>
          <a:ln/>
        </p:spPr>
        <p:txBody>
          <a:bodyPr wrap="square" lIns="0" tIns="0" rIns="0" bIns="0" rtlCol="0" anchor="t"/>
          <a:lstStyle/>
          <a:p>
            <a:pPr indent="0" marL="0">
              <a:buNone/>
            </a:pPr>
            <a:r>
              <a:rPr lang="en-US" sz="1200" b="1" spc="150" kern="0" dirty="0">
                <a:solidFill>
                  <a:srgbClr val="9DBBFF"/>
                </a:solidFill>
                <a:latin typeface="Arial" pitchFamily="34" charset="0"/>
                <a:ea typeface="Arial" pitchFamily="34" charset="-122"/>
                <a:cs typeface="Arial" pitchFamily="34" charset="-120"/>
              </a:rPr>
              <a:t>PROYECTO FINAL · ITS N.º 1 · VIEDMA</a:t>
            </a:r>
            <a:endParaRPr lang="en-US" sz="1200" dirty="0"/>
          </a:p>
        </p:txBody>
      </p:sp>
      <p:sp>
        <p:nvSpPr>
          <p:cNvPr id="4" name="Text 1"/>
          <p:cNvSpPr txBox="1"/>
          <p:nvPr/>
        </p:nvSpPr>
        <p:spPr>
          <a:xfrm>
            <a:off x="812800" y="1143000"/>
            <a:ext cx="5207000" cy="1206500"/>
          </a:xfrm>
          <a:prstGeom prst="rect">
            <a:avLst/>
          </a:prstGeom>
          <a:noFill/>
          <a:ln/>
        </p:spPr>
        <p:txBody>
          <a:bodyPr wrap="square" lIns="0" tIns="0" rIns="0" bIns="0" rtlCol="0" anchor="t"/>
          <a:lstStyle/>
          <a:p>
            <a:pPr indent="0" marL="0">
              <a:buNone/>
            </a:pPr>
            <a:r>
              <a:rPr lang="en-US" sz="9000" b="1" spc="-300" kern="0" dirty="0">
                <a:solidFill>
                  <a:srgbClr val="F4F6F9"/>
                </a:solidFill>
                <a:latin typeface="Arial" pitchFamily="34" charset="0"/>
                <a:ea typeface="Arial" pitchFamily="34" charset="-122"/>
                <a:cs typeface="Arial" pitchFamily="34" charset="-120"/>
              </a:rPr>
              <a:t>SIGA</a:t>
            </a:r>
            <a:endParaRPr lang="en-US" sz="9000" dirty="0"/>
          </a:p>
        </p:txBody>
      </p:sp>
      <p:sp>
        <p:nvSpPr>
          <p:cNvPr id="5" name="Text 2"/>
          <p:cNvSpPr txBox="1"/>
          <p:nvPr/>
        </p:nvSpPr>
        <p:spPr>
          <a:xfrm>
            <a:off x="812800" y="2508250"/>
            <a:ext cx="5207000" cy="381000"/>
          </a:xfrm>
          <a:prstGeom prst="rect">
            <a:avLst/>
          </a:prstGeom>
          <a:noFill/>
          <a:ln/>
        </p:spPr>
        <p:txBody>
          <a:bodyPr wrap="square" lIns="0" tIns="0" rIns="0" bIns="0" rtlCol="0" anchor="t"/>
          <a:lstStyle/>
          <a:p>
            <a:pPr indent="0" marL="0">
              <a:buNone/>
            </a:pPr>
            <a:r>
              <a:rPr lang="en-US" sz="2200" b="1" dirty="0">
                <a:solidFill>
                  <a:srgbClr val="F4F6F9"/>
                </a:solidFill>
                <a:latin typeface="Arial" pitchFamily="34" charset="0"/>
                <a:ea typeface="Arial" pitchFamily="34" charset="-122"/>
                <a:cs typeface="Arial" pitchFamily="34" charset="-120"/>
              </a:rPr>
              <a:t>Sistema Integral de Gestión Académica</a:t>
            </a:r>
            <a:endParaRPr lang="en-US" sz="2200" dirty="0"/>
          </a:p>
        </p:txBody>
      </p:sp>
      <p:sp>
        <p:nvSpPr>
          <p:cNvPr id="6" name="Text 3"/>
          <p:cNvSpPr txBox="1"/>
          <p:nvPr/>
        </p:nvSpPr>
        <p:spPr>
          <a:xfrm>
            <a:off x="812800" y="2984500"/>
            <a:ext cx="5207000" cy="317500"/>
          </a:xfrm>
          <a:prstGeom prst="rect">
            <a:avLst/>
          </a:prstGeom>
          <a:noFill/>
          <a:ln/>
        </p:spPr>
        <p:txBody>
          <a:bodyPr wrap="square" lIns="0" tIns="0" rIns="0" bIns="0" rtlCol="0" anchor="t"/>
          <a:lstStyle/>
          <a:p>
            <a:pPr indent="0" marL="0">
              <a:buNone/>
            </a:pPr>
            <a:r>
              <a:rPr lang="en-US" sz="1500" dirty="0">
                <a:solidFill>
                  <a:srgbClr val="B9C6DA"/>
                </a:solidFill>
                <a:latin typeface="Arial" pitchFamily="34" charset="0"/>
                <a:ea typeface="Arial" pitchFamily="34" charset="-122"/>
                <a:cs typeface="Arial" pitchFamily="34" charset="-120"/>
              </a:rPr>
              <a:t>Primera cohorte: el circuito de ingreso de aspirantes</a:t>
            </a:r>
            <a:endParaRPr lang="en-US" sz="1500" dirty="0"/>
          </a:p>
        </p:txBody>
      </p:sp>
      <p:sp>
        <p:nvSpPr>
          <p:cNvPr id="7" name="Text 4"/>
          <p:cNvSpPr txBox="1"/>
          <p:nvPr/>
        </p:nvSpPr>
        <p:spPr>
          <a:xfrm>
            <a:off x="812800" y="5080000"/>
            <a:ext cx="5207000" cy="508000"/>
          </a:xfrm>
          <a:prstGeom prst="rect">
            <a:avLst/>
          </a:prstGeom>
          <a:noFill/>
          <a:ln/>
        </p:spPr>
        <p:txBody>
          <a:bodyPr wrap="square" lIns="0" tIns="0" rIns="0" bIns="0" rtlCol="0" anchor="t"/>
          <a:lstStyle/>
          <a:p>
            <a:pPr indent="0" marL="0">
              <a:lnSpc>
                <a:spcPct val="120000"/>
              </a:lnSpc>
              <a:buNone/>
            </a:pPr>
            <a:r>
              <a:rPr lang="en-US" sz="1300" dirty="0">
                <a:solidFill>
                  <a:srgbClr val="F4F6F9"/>
                </a:solidFill>
                <a:latin typeface="Arial" pitchFamily="34" charset="0"/>
                <a:ea typeface="Arial" pitchFamily="34" charset="-122"/>
                <a:cs typeface="Arial" pitchFamily="34" charset="-120"/>
              </a:rPr>
              <a:t>Gonzalo Paez · Hernan Jalabert · Fernando Díaz · Guadalupe Lemunao · Federico Benitez</a:t>
            </a:r>
            <a:endParaRPr lang="en-US" sz="1300" dirty="0"/>
          </a:p>
        </p:txBody>
      </p:sp>
      <p:sp>
        <p:nvSpPr>
          <p:cNvPr id="8" name="Text 5"/>
          <p:cNvSpPr txBox="1"/>
          <p:nvPr/>
        </p:nvSpPr>
        <p:spPr>
          <a:xfrm>
            <a:off x="812800" y="5619750"/>
            <a:ext cx="5207000" cy="444500"/>
          </a:xfrm>
          <a:prstGeom prst="rect">
            <a:avLst/>
          </a:prstGeom>
          <a:noFill/>
          <a:ln/>
        </p:spPr>
        <p:txBody>
          <a:bodyPr wrap="square" lIns="0" tIns="0" rIns="0" bIns="0" rtlCol="0" anchor="t"/>
          <a:lstStyle/>
          <a:p>
            <a:pPr indent="0" marL="0">
              <a:lnSpc>
                <a:spcPct val="120000"/>
              </a:lnSpc>
              <a:buNone/>
            </a:pPr>
            <a:r>
              <a:rPr lang="en-US" sz="1200" dirty="0">
                <a:solidFill>
                  <a:srgbClr val="B9C6DA"/>
                </a:solidFill>
                <a:latin typeface="Arial" pitchFamily="34" charset="0"/>
                <a:ea typeface="Arial" pitchFamily="34" charset="-122"/>
                <a:cs typeface="Arial" pitchFamily="34" charset="-120"/>
              </a:rPr>
              <a:t>Docente: Oswaldo Rivera · Tecnicatura Superior en Análisis y Desarrollo de Sistemas Informáticos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5900"/>
          </a:xfrm>
          <a:prstGeom prst="rect">
            <a:avLst/>
          </a:prstGeom>
          <a:noFill/>
          <a:ln/>
        </p:spPr>
        <p:txBody>
          <a:bodyPr wrap="square" lIns="0" tIns="0" rIns="0" bIns="0" rtlCol="0" anchor="t"/>
          <a:lstStyle/>
          <a:p>
            <a:pPr indent="0" marL="0">
              <a:buNone/>
            </a:pPr>
            <a:r>
              <a:rPr lang="en-US" sz="1200" b="1" spc="150" kern="0" dirty="0">
                <a:solidFill>
                  <a:srgbClr val="2E5FC7"/>
                </a:solidFill>
                <a:latin typeface="Arial" pitchFamily="34" charset="0"/>
                <a:ea typeface="Arial" pitchFamily="34" charset="-122"/>
                <a:cs typeface="Arial" pitchFamily="34" charset="-120"/>
              </a:rPr>
              <a:t>ALCANCE</a:t>
            </a:r>
            <a:endParaRPr lang="en-US" sz="1200" dirty="0"/>
          </a:p>
        </p:txBody>
      </p:sp>
      <p:sp>
        <p:nvSpPr>
          <p:cNvPr id="3" name="Text 1"/>
          <p:cNvSpPr txBox="1"/>
          <p:nvPr/>
        </p:nvSpPr>
        <p:spPr>
          <a:xfrm>
            <a:off x="812800" y="1066800"/>
            <a:ext cx="10566400" cy="508000"/>
          </a:xfrm>
          <a:prstGeom prst="rect">
            <a:avLst/>
          </a:prstGeom>
          <a:noFill/>
          <a:ln/>
        </p:spPr>
        <p:txBody>
          <a:bodyPr wrap="square" lIns="0" tIns="0" rIns="0" bIns="0" rtlCol="0" anchor="t"/>
          <a:lstStyle/>
          <a:p>
            <a:pPr indent="0" marL="0">
              <a:lnSpc>
                <a:spcPct val="100000"/>
              </a:lnSpc>
              <a:buNone/>
            </a:pPr>
            <a:r>
              <a:rPr lang="en-US" sz="3200" b="1" dirty="0">
                <a:solidFill>
                  <a:srgbClr val="13213A"/>
                </a:solidFill>
                <a:latin typeface="Arial" pitchFamily="34" charset="0"/>
                <a:ea typeface="Arial" pitchFamily="34" charset="-122"/>
                <a:cs typeface="Arial" pitchFamily="34" charset="-120"/>
              </a:rPr>
              <a:t>Qué construye esta primera cohorte</a:t>
            </a:r>
            <a:endParaRPr lang="en-US" sz="3200" dirty="0"/>
          </a:p>
        </p:txBody>
      </p:sp>
      <p:sp>
        <p:nvSpPr>
          <p:cNvPr id="4" name="Shape 2"/>
          <p:cNvSpPr/>
          <p:nvPr/>
        </p:nvSpPr>
        <p:spPr>
          <a:xfrm>
            <a:off x="812800" y="1905000"/>
            <a:ext cx="3079750" cy="2667000"/>
          </a:xfrm>
          <a:prstGeom prst="roundRect">
            <a:avLst>
              <a:gd name="adj" fmla="val 5714"/>
            </a:avLst>
          </a:prstGeom>
          <a:solidFill>
            <a:srgbClr val="FFFFFF"/>
          </a:solidFill>
          <a:ln w="12700">
            <a:solidFill>
              <a:srgbClr val="DCE2EB"/>
            </a:solidFill>
            <a:prstDash val="solid"/>
          </a:ln>
        </p:spPr>
      </p:sp>
      <p:sp>
        <p:nvSpPr>
          <p:cNvPr id="5" name="Shape 3"/>
          <p:cNvSpPr/>
          <p:nvPr/>
        </p:nvSpPr>
        <p:spPr>
          <a:xfrm>
            <a:off x="1066800" y="2159000"/>
            <a:ext cx="1936750" cy="279400"/>
          </a:xfrm>
          <a:prstGeom prst="roundRect">
            <a:avLst>
              <a:gd name="adj" fmla="val 163636"/>
            </a:avLst>
          </a:prstGeom>
          <a:solidFill>
            <a:srgbClr val="EAF0F8"/>
          </a:solidFill>
          <a:ln/>
        </p:spPr>
      </p:sp>
      <p:sp>
        <p:nvSpPr>
          <p:cNvPr id="6" name="Text 4"/>
          <p:cNvSpPr txBox="1"/>
          <p:nvPr/>
        </p:nvSpPr>
        <p:spPr>
          <a:xfrm>
            <a:off x="1066800" y="2159000"/>
            <a:ext cx="1936750" cy="279400"/>
          </a:xfrm>
          <a:prstGeom prst="rect">
            <a:avLst/>
          </a:prstGeom>
          <a:noFill/>
          <a:ln/>
        </p:spPr>
        <p:txBody>
          <a:bodyPr wrap="square" lIns="0" tIns="0" rIns="0" bIns="0" rtlCol="0" anchor="ctr"/>
          <a:lstStyle/>
          <a:p>
            <a:pPr algn="ctr" indent="0" marL="0">
              <a:buNone/>
            </a:pPr>
            <a:r>
              <a:rPr lang="en-US" sz="1200" b="1" dirty="0">
                <a:solidFill>
                  <a:srgbClr val="1E3D6B"/>
                </a:solidFill>
                <a:latin typeface="Arial" pitchFamily="34" charset="0"/>
                <a:ea typeface="Arial" pitchFamily="34" charset="-122"/>
                <a:cs typeface="Arial" pitchFamily="34" charset="-120"/>
              </a:rPr>
              <a:t>Público · sin cuenta</a:t>
            </a:r>
            <a:endParaRPr lang="en-US" sz="1200" dirty="0"/>
          </a:p>
        </p:txBody>
      </p:sp>
      <p:sp>
        <p:nvSpPr>
          <p:cNvPr id="7" name="Text 5"/>
          <p:cNvSpPr txBox="1"/>
          <p:nvPr/>
        </p:nvSpPr>
        <p:spPr>
          <a:xfrm>
            <a:off x="1066800" y="2565400"/>
            <a:ext cx="2571750" cy="635000"/>
          </a:xfrm>
          <a:prstGeom prst="rect">
            <a:avLst/>
          </a:prstGeom>
          <a:noFill/>
          <a:ln/>
        </p:spPr>
        <p:txBody>
          <a:bodyPr wrap="square" lIns="0" tIns="0" rIns="0" bIns="0" rtlCol="0" anchor="t"/>
          <a:lstStyle/>
          <a:p>
            <a:pPr indent="0" marL="0">
              <a:buNone/>
            </a:pPr>
            <a:r>
              <a:rPr lang="en-US" sz="2000" b="1" dirty="0">
                <a:solidFill>
                  <a:srgbClr val="13213A"/>
                </a:solidFill>
                <a:latin typeface="Arial" pitchFamily="34" charset="0"/>
                <a:ea typeface="Arial" pitchFamily="34" charset="-122"/>
                <a:cs typeface="Arial" pitchFamily="34" charset="-120"/>
              </a:rPr>
              <a:t>Formulario de preinscripción</a:t>
            </a:r>
            <a:endParaRPr lang="en-US" sz="2000" dirty="0"/>
          </a:p>
        </p:txBody>
      </p:sp>
      <p:sp>
        <p:nvSpPr>
          <p:cNvPr id="8" name="Text 6"/>
          <p:cNvSpPr txBox="1"/>
          <p:nvPr/>
        </p:nvSpPr>
        <p:spPr>
          <a:xfrm>
            <a:off x="1066800" y="3263900"/>
            <a:ext cx="2571750" cy="825500"/>
          </a:xfrm>
          <a:prstGeom prst="rect">
            <a:avLst/>
          </a:prstGeom>
          <a:noFill/>
          <a:ln/>
        </p:spPr>
        <p:txBody>
          <a:bodyPr wrap="square" lIns="0" tIns="0" rIns="0" bIns="0" rtlCol="0" anchor="t"/>
          <a:lstStyle/>
          <a:p>
            <a:pPr indent="0" marL="0">
              <a:lnSpc>
                <a:spcPct val="120000"/>
              </a:lnSpc>
              <a:buNone/>
            </a:pPr>
            <a:r>
              <a:rPr lang="en-US" sz="1400" dirty="0">
                <a:solidFill>
                  <a:srgbClr val="4A5A70"/>
                </a:solidFill>
                <a:latin typeface="Arial" pitchFamily="34" charset="0"/>
                <a:ea typeface="Arial" pitchFamily="34" charset="-122"/>
                <a:cs typeface="Arial" pitchFamily="34" charset="-120"/>
              </a:rPr>
              <a:t>El aspirante carga sus datos, elige la carrera y adjunta la documentación.</a:t>
            </a:r>
            <a:endParaRPr lang="en-US" sz="1400" dirty="0"/>
          </a:p>
        </p:txBody>
      </p:sp>
      <p:sp>
        <p:nvSpPr>
          <p:cNvPr id="9" name="Text 7"/>
          <p:cNvSpPr txBox="1"/>
          <p:nvPr/>
        </p:nvSpPr>
        <p:spPr>
          <a:xfrm>
            <a:off x="1066800" y="4140200"/>
            <a:ext cx="2571750" cy="228600"/>
          </a:xfrm>
          <a:prstGeom prst="rect">
            <a:avLst/>
          </a:prstGeom>
          <a:noFill/>
          <a:ln/>
        </p:spPr>
        <p:txBody>
          <a:bodyPr wrap="square" lIns="0" tIns="0" rIns="0" bIns="0" rtlCol="0" anchor="t"/>
          <a:lstStyle/>
          <a:p>
            <a:pPr indent="0" marL="0">
              <a:buNone/>
            </a:pPr>
            <a:r>
              <a:rPr lang="en-US" sz="1200" dirty="0">
                <a:solidFill>
                  <a:srgbClr val="2E5FC7"/>
                </a:solidFill>
                <a:latin typeface="Consolas" pitchFamily="34" charset="0"/>
                <a:ea typeface="Consolas" pitchFamily="34" charset="-122"/>
                <a:cs typeface="Consolas" pitchFamily="34" charset="-120"/>
              </a:rPr>
              <a:t>Módulo M1</a:t>
            </a:r>
            <a:endParaRPr lang="en-US" sz="1200" dirty="0"/>
          </a:p>
        </p:txBody>
      </p:sp>
      <p:sp>
        <p:nvSpPr>
          <p:cNvPr id="10" name="Shape 8"/>
          <p:cNvSpPr/>
          <p:nvPr/>
        </p:nvSpPr>
        <p:spPr>
          <a:xfrm>
            <a:off x="4044950" y="3149600"/>
            <a:ext cx="355600" cy="177800"/>
          </a:xfrm>
          <a:prstGeom prst="rightArrow">
            <a:avLst/>
          </a:prstGeom>
          <a:solidFill>
            <a:srgbClr val="9AAAC2"/>
          </a:solidFill>
          <a:ln/>
        </p:spPr>
      </p:sp>
      <p:sp>
        <p:nvSpPr>
          <p:cNvPr id="11" name="Shape 9"/>
          <p:cNvSpPr/>
          <p:nvPr/>
        </p:nvSpPr>
        <p:spPr>
          <a:xfrm>
            <a:off x="4552950" y="1905000"/>
            <a:ext cx="3079750" cy="2667000"/>
          </a:xfrm>
          <a:prstGeom prst="roundRect">
            <a:avLst>
              <a:gd name="adj" fmla="val 5714"/>
            </a:avLst>
          </a:prstGeom>
          <a:solidFill>
            <a:srgbClr val="FFFFFF"/>
          </a:solidFill>
          <a:ln w="12700">
            <a:solidFill>
              <a:srgbClr val="DCE2EB"/>
            </a:solidFill>
            <a:prstDash val="solid"/>
          </a:ln>
        </p:spPr>
      </p:sp>
      <p:sp>
        <p:nvSpPr>
          <p:cNvPr id="12" name="Shape 10"/>
          <p:cNvSpPr/>
          <p:nvPr/>
        </p:nvSpPr>
        <p:spPr>
          <a:xfrm>
            <a:off x="4806950" y="2159000"/>
            <a:ext cx="1079500" cy="279400"/>
          </a:xfrm>
          <a:prstGeom prst="roundRect">
            <a:avLst>
              <a:gd name="adj" fmla="val 163636"/>
            </a:avLst>
          </a:prstGeom>
          <a:solidFill>
            <a:srgbClr val="EAF0F8"/>
          </a:solidFill>
          <a:ln/>
        </p:spPr>
      </p:sp>
      <p:sp>
        <p:nvSpPr>
          <p:cNvPr id="13" name="Text 11"/>
          <p:cNvSpPr txBox="1"/>
          <p:nvPr/>
        </p:nvSpPr>
        <p:spPr>
          <a:xfrm>
            <a:off x="4806950" y="2159000"/>
            <a:ext cx="1079500" cy="279400"/>
          </a:xfrm>
          <a:prstGeom prst="rect">
            <a:avLst/>
          </a:prstGeom>
          <a:noFill/>
          <a:ln/>
        </p:spPr>
        <p:txBody>
          <a:bodyPr wrap="square" lIns="0" tIns="0" rIns="0" bIns="0" rtlCol="0" anchor="ctr"/>
          <a:lstStyle/>
          <a:p>
            <a:pPr algn="ctr" indent="0" marL="0">
              <a:buNone/>
            </a:pPr>
            <a:r>
              <a:rPr lang="en-US" sz="1200" b="1" dirty="0">
                <a:solidFill>
                  <a:srgbClr val="1E3D6B"/>
                </a:solidFill>
                <a:latin typeface="Arial" pitchFamily="34" charset="0"/>
                <a:ea typeface="Arial" pitchFamily="34" charset="-122"/>
                <a:cs typeface="Arial" pitchFamily="34" charset="-120"/>
              </a:rPr>
              <a:t>Secretaría</a:t>
            </a:r>
            <a:endParaRPr lang="en-US" sz="1200" dirty="0"/>
          </a:p>
        </p:txBody>
      </p:sp>
      <p:sp>
        <p:nvSpPr>
          <p:cNvPr id="14" name="Text 12"/>
          <p:cNvSpPr txBox="1"/>
          <p:nvPr/>
        </p:nvSpPr>
        <p:spPr>
          <a:xfrm>
            <a:off x="4806950" y="2565400"/>
            <a:ext cx="2571750" cy="635000"/>
          </a:xfrm>
          <a:prstGeom prst="rect">
            <a:avLst/>
          </a:prstGeom>
          <a:noFill/>
          <a:ln/>
        </p:spPr>
        <p:txBody>
          <a:bodyPr wrap="square" lIns="0" tIns="0" rIns="0" bIns="0" rtlCol="0" anchor="t"/>
          <a:lstStyle/>
          <a:p>
            <a:pPr indent="0" marL="0">
              <a:buNone/>
            </a:pPr>
            <a:r>
              <a:rPr lang="en-US" sz="2000" b="1" dirty="0">
                <a:solidFill>
                  <a:srgbClr val="13213A"/>
                </a:solidFill>
                <a:latin typeface="Arial" pitchFamily="34" charset="0"/>
                <a:ea typeface="Arial" pitchFamily="34" charset="-122"/>
                <a:cs typeface="Arial" pitchFamily="34" charset="-120"/>
              </a:rPr>
              <a:t>Bandeja de aspirantes</a:t>
            </a:r>
            <a:endParaRPr lang="en-US" sz="2000" dirty="0"/>
          </a:p>
        </p:txBody>
      </p:sp>
      <p:sp>
        <p:nvSpPr>
          <p:cNvPr id="15" name="Text 13"/>
          <p:cNvSpPr txBox="1"/>
          <p:nvPr/>
        </p:nvSpPr>
        <p:spPr>
          <a:xfrm>
            <a:off x="4806950" y="3263900"/>
            <a:ext cx="2571750" cy="825500"/>
          </a:xfrm>
          <a:prstGeom prst="rect">
            <a:avLst/>
          </a:prstGeom>
          <a:noFill/>
          <a:ln/>
        </p:spPr>
        <p:txBody>
          <a:bodyPr wrap="square" lIns="0" tIns="0" rIns="0" bIns="0" rtlCol="0" anchor="t"/>
          <a:lstStyle/>
          <a:p>
            <a:pPr indent="0" marL="0">
              <a:lnSpc>
                <a:spcPct val="120000"/>
              </a:lnSpc>
              <a:buNone/>
            </a:pPr>
            <a:r>
              <a:rPr lang="en-US" sz="1400" dirty="0">
                <a:solidFill>
                  <a:srgbClr val="4A5A70"/>
                </a:solidFill>
                <a:latin typeface="Arial" pitchFamily="34" charset="0"/>
                <a:ea typeface="Arial" pitchFamily="34" charset="-122"/>
                <a:cs typeface="Arial" pitchFamily="34" charset="-120"/>
              </a:rPr>
              <a:t>Lista todas las solicitudes del período, con filtros, búsqueda y cupos.</a:t>
            </a:r>
            <a:endParaRPr lang="en-US" sz="1400" dirty="0"/>
          </a:p>
        </p:txBody>
      </p:sp>
      <p:sp>
        <p:nvSpPr>
          <p:cNvPr id="16" name="Text 14"/>
          <p:cNvSpPr txBox="1"/>
          <p:nvPr/>
        </p:nvSpPr>
        <p:spPr>
          <a:xfrm>
            <a:off x="4806950" y="4140200"/>
            <a:ext cx="2571750" cy="228600"/>
          </a:xfrm>
          <a:prstGeom prst="rect">
            <a:avLst/>
          </a:prstGeom>
          <a:noFill/>
          <a:ln/>
        </p:spPr>
        <p:txBody>
          <a:bodyPr wrap="square" lIns="0" tIns="0" rIns="0" bIns="0" rtlCol="0" anchor="t"/>
          <a:lstStyle/>
          <a:p>
            <a:pPr indent="0" marL="0">
              <a:buNone/>
            </a:pPr>
            <a:r>
              <a:rPr lang="en-US" sz="1200" dirty="0">
                <a:solidFill>
                  <a:srgbClr val="2E5FC7"/>
                </a:solidFill>
                <a:latin typeface="Consolas" pitchFamily="34" charset="0"/>
                <a:ea typeface="Consolas" pitchFamily="34" charset="-122"/>
                <a:cs typeface="Consolas" pitchFamily="34" charset="-120"/>
              </a:rPr>
              <a:t>Módulo M2</a:t>
            </a:r>
            <a:endParaRPr lang="en-US" sz="1200" dirty="0"/>
          </a:p>
        </p:txBody>
      </p:sp>
      <p:sp>
        <p:nvSpPr>
          <p:cNvPr id="17" name="Shape 15"/>
          <p:cNvSpPr/>
          <p:nvPr/>
        </p:nvSpPr>
        <p:spPr>
          <a:xfrm>
            <a:off x="7785100" y="3149600"/>
            <a:ext cx="355600" cy="177800"/>
          </a:xfrm>
          <a:prstGeom prst="rightArrow">
            <a:avLst/>
          </a:prstGeom>
          <a:solidFill>
            <a:srgbClr val="9AAAC2"/>
          </a:solidFill>
          <a:ln/>
        </p:spPr>
      </p:sp>
      <p:sp>
        <p:nvSpPr>
          <p:cNvPr id="18" name="Shape 16"/>
          <p:cNvSpPr/>
          <p:nvPr/>
        </p:nvSpPr>
        <p:spPr>
          <a:xfrm>
            <a:off x="8293100" y="1905000"/>
            <a:ext cx="3079750" cy="2667000"/>
          </a:xfrm>
          <a:prstGeom prst="roundRect">
            <a:avLst>
              <a:gd name="adj" fmla="val 5714"/>
            </a:avLst>
          </a:prstGeom>
          <a:solidFill>
            <a:srgbClr val="FFFFFF"/>
          </a:solidFill>
          <a:ln w="12700">
            <a:solidFill>
              <a:srgbClr val="DCE2EB"/>
            </a:solidFill>
            <a:prstDash val="solid"/>
          </a:ln>
        </p:spPr>
      </p:sp>
      <p:sp>
        <p:nvSpPr>
          <p:cNvPr id="19" name="Shape 17"/>
          <p:cNvSpPr/>
          <p:nvPr/>
        </p:nvSpPr>
        <p:spPr>
          <a:xfrm>
            <a:off x="8547100" y="2159000"/>
            <a:ext cx="1079500" cy="279400"/>
          </a:xfrm>
          <a:prstGeom prst="roundRect">
            <a:avLst>
              <a:gd name="adj" fmla="val 163636"/>
            </a:avLst>
          </a:prstGeom>
          <a:solidFill>
            <a:srgbClr val="EAF0F8"/>
          </a:solidFill>
          <a:ln/>
        </p:spPr>
      </p:sp>
      <p:sp>
        <p:nvSpPr>
          <p:cNvPr id="20" name="Text 18"/>
          <p:cNvSpPr txBox="1"/>
          <p:nvPr/>
        </p:nvSpPr>
        <p:spPr>
          <a:xfrm>
            <a:off x="8547100" y="2159000"/>
            <a:ext cx="1079500" cy="279400"/>
          </a:xfrm>
          <a:prstGeom prst="rect">
            <a:avLst/>
          </a:prstGeom>
          <a:noFill/>
          <a:ln/>
        </p:spPr>
        <p:txBody>
          <a:bodyPr wrap="square" lIns="0" tIns="0" rIns="0" bIns="0" rtlCol="0" anchor="ctr"/>
          <a:lstStyle/>
          <a:p>
            <a:pPr algn="ctr" indent="0" marL="0">
              <a:buNone/>
            </a:pPr>
            <a:r>
              <a:rPr lang="en-US" sz="1200" b="1" dirty="0">
                <a:solidFill>
                  <a:srgbClr val="1E3D6B"/>
                </a:solidFill>
                <a:latin typeface="Arial" pitchFamily="34" charset="0"/>
                <a:ea typeface="Arial" pitchFamily="34" charset="-122"/>
                <a:cs typeface="Arial" pitchFamily="34" charset="-120"/>
              </a:rPr>
              <a:t>Secretaría</a:t>
            </a:r>
            <a:endParaRPr lang="en-US" sz="1200" dirty="0"/>
          </a:p>
        </p:txBody>
      </p:sp>
      <p:sp>
        <p:nvSpPr>
          <p:cNvPr id="21" name="Text 19"/>
          <p:cNvSpPr txBox="1"/>
          <p:nvPr/>
        </p:nvSpPr>
        <p:spPr>
          <a:xfrm>
            <a:off x="8547100" y="2565400"/>
            <a:ext cx="2571750" cy="635000"/>
          </a:xfrm>
          <a:prstGeom prst="rect">
            <a:avLst/>
          </a:prstGeom>
          <a:noFill/>
          <a:ln/>
        </p:spPr>
        <p:txBody>
          <a:bodyPr wrap="square" lIns="0" tIns="0" rIns="0" bIns="0" rtlCol="0" anchor="t"/>
          <a:lstStyle/>
          <a:p>
            <a:pPr indent="0" marL="0">
              <a:buNone/>
            </a:pPr>
            <a:r>
              <a:rPr lang="en-US" sz="2000" b="1" dirty="0">
                <a:solidFill>
                  <a:srgbClr val="13213A"/>
                </a:solidFill>
                <a:latin typeface="Arial" pitchFamily="34" charset="0"/>
                <a:ea typeface="Arial" pitchFamily="34" charset="-122"/>
                <a:cs typeface="Arial" pitchFamily="34" charset="-120"/>
              </a:rPr>
              <a:t>Ficha del aspirante</a:t>
            </a:r>
            <a:endParaRPr lang="en-US" sz="2000" dirty="0"/>
          </a:p>
        </p:txBody>
      </p:sp>
      <p:sp>
        <p:nvSpPr>
          <p:cNvPr id="22" name="Text 20"/>
          <p:cNvSpPr txBox="1"/>
          <p:nvPr/>
        </p:nvSpPr>
        <p:spPr>
          <a:xfrm>
            <a:off x="8547100" y="3263900"/>
            <a:ext cx="2571750" cy="825500"/>
          </a:xfrm>
          <a:prstGeom prst="rect">
            <a:avLst/>
          </a:prstGeom>
          <a:noFill/>
          <a:ln/>
        </p:spPr>
        <p:txBody>
          <a:bodyPr wrap="square" lIns="0" tIns="0" rIns="0" bIns="0" rtlCol="0" anchor="t"/>
          <a:lstStyle/>
          <a:p>
            <a:pPr indent="0" marL="0">
              <a:lnSpc>
                <a:spcPct val="120000"/>
              </a:lnSpc>
              <a:buNone/>
            </a:pPr>
            <a:r>
              <a:rPr lang="en-US" sz="1400" dirty="0">
                <a:solidFill>
                  <a:srgbClr val="4A5A70"/>
                </a:solidFill>
                <a:latin typeface="Arial" pitchFamily="34" charset="0"/>
                <a:ea typeface="Arial" pitchFamily="34" charset="-122"/>
                <a:cs typeface="Arial" pitchFamily="34" charset="-120"/>
              </a:rPr>
              <a:t>Muestra lo que cargó, verifica cada documento y resuelve la solicitud.</a:t>
            </a:r>
            <a:endParaRPr lang="en-US" sz="1400" dirty="0"/>
          </a:p>
        </p:txBody>
      </p:sp>
      <p:sp>
        <p:nvSpPr>
          <p:cNvPr id="23" name="Text 21"/>
          <p:cNvSpPr txBox="1"/>
          <p:nvPr/>
        </p:nvSpPr>
        <p:spPr>
          <a:xfrm>
            <a:off x="8547100" y="4140200"/>
            <a:ext cx="2571750" cy="228600"/>
          </a:xfrm>
          <a:prstGeom prst="rect">
            <a:avLst/>
          </a:prstGeom>
          <a:noFill/>
          <a:ln/>
        </p:spPr>
        <p:txBody>
          <a:bodyPr wrap="square" lIns="0" tIns="0" rIns="0" bIns="0" rtlCol="0" anchor="t"/>
          <a:lstStyle/>
          <a:p>
            <a:pPr indent="0" marL="0">
              <a:buNone/>
            </a:pPr>
            <a:r>
              <a:rPr lang="en-US" sz="1200" dirty="0">
                <a:solidFill>
                  <a:srgbClr val="2E5FC7"/>
                </a:solidFill>
                <a:latin typeface="Consolas" pitchFamily="34" charset="0"/>
                <a:ea typeface="Consolas" pitchFamily="34" charset="-122"/>
                <a:cs typeface="Consolas" pitchFamily="34" charset="-120"/>
              </a:rPr>
              <a:t>Módulo M2</a:t>
            </a:r>
            <a:endParaRPr lang="en-US" sz="1200" dirty="0"/>
          </a:p>
        </p:txBody>
      </p:sp>
      <p:sp>
        <p:nvSpPr>
          <p:cNvPr id="24" name="Shape 22"/>
          <p:cNvSpPr/>
          <p:nvPr/>
        </p:nvSpPr>
        <p:spPr>
          <a:xfrm>
            <a:off x="812800" y="4800600"/>
            <a:ext cx="10566400" cy="1016000"/>
          </a:xfrm>
          <a:prstGeom prst="roundRect">
            <a:avLst>
              <a:gd name="adj" fmla="val 15000"/>
            </a:avLst>
          </a:prstGeom>
          <a:solidFill>
            <a:srgbClr val="13294B"/>
          </a:solidFill>
          <a:ln/>
        </p:spPr>
      </p:sp>
      <p:sp>
        <p:nvSpPr>
          <p:cNvPr id="25" name="Text 23"/>
          <p:cNvSpPr txBox="1"/>
          <p:nvPr/>
        </p:nvSpPr>
        <p:spPr>
          <a:xfrm>
            <a:off x="1117600" y="5016500"/>
            <a:ext cx="1905000" cy="215900"/>
          </a:xfrm>
          <a:prstGeom prst="rect">
            <a:avLst/>
          </a:prstGeom>
          <a:noFill/>
          <a:ln/>
        </p:spPr>
        <p:txBody>
          <a:bodyPr wrap="square" lIns="0" tIns="0" rIns="0" bIns="0" rtlCol="0" anchor="t"/>
          <a:lstStyle/>
          <a:p>
            <a:pPr indent="0" marL="0">
              <a:buNone/>
            </a:pPr>
            <a:r>
              <a:rPr lang="en-US" sz="1200" b="1" spc="150" kern="0" dirty="0">
                <a:solidFill>
                  <a:srgbClr val="9DBBFF"/>
                </a:solidFill>
                <a:latin typeface="Arial" pitchFamily="34" charset="0"/>
                <a:ea typeface="Arial" pitchFamily="34" charset="-122"/>
                <a:cs typeface="Arial" pitchFamily="34" charset="-120"/>
              </a:rPr>
              <a:t>BASE TÉCNICA</a:t>
            </a:r>
            <a:endParaRPr lang="en-US" sz="1200" dirty="0"/>
          </a:p>
        </p:txBody>
      </p:sp>
      <p:sp>
        <p:nvSpPr>
          <p:cNvPr id="26" name="Text 24"/>
          <p:cNvSpPr txBox="1"/>
          <p:nvPr/>
        </p:nvSpPr>
        <p:spPr>
          <a:xfrm>
            <a:off x="1117600" y="5245100"/>
            <a:ext cx="1905000" cy="317500"/>
          </a:xfrm>
          <a:prstGeom prst="rect">
            <a:avLst/>
          </a:prstGeom>
          <a:noFill/>
          <a:ln/>
        </p:spPr>
        <p:txBody>
          <a:bodyPr wrap="square" lIns="0" tIns="0" rIns="0" bIns="0" rtlCol="0" anchor="t"/>
          <a:lstStyle/>
          <a:p>
            <a:pPr indent="0" marL="0">
              <a:buNone/>
            </a:pPr>
            <a:r>
              <a:rPr lang="en-US" sz="1800" b="1" dirty="0">
                <a:solidFill>
                  <a:srgbClr val="F4F6F9"/>
                </a:solidFill>
                <a:latin typeface="Arial" pitchFamily="34" charset="0"/>
                <a:ea typeface="Arial" pitchFamily="34" charset="-122"/>
                <a:cs typeface="Arial" pitchFamily="34" charset="-120"/>
              </a:rPr>
              <a:t>Módulo M3</a:t>
            </a:r>
            <a:endParaRPr lang="en-US" sz="1800" dirty="0"/>
          </a:p>
        </p:txBody>
      </p:sp>
      <p:sp>
        <p:nvSpPr>
          <p:cNvPr id="27" name="Shape 25"/>
          <p:cNvSpPr/>
          <p:nvPr/>
        </p:nvSpPr>
        <p:spPr>
          <a:xfrm>
            <a:off x="2984500" y="5029200"/>
            <a:ext cx="0" cy="558800"/>
          </a:xfrm>
          <a:prstGeom prst="line">
            <a:avLst/>
          </a:prstGeom>
          <a:noFill/>
          <a:ln w="19050">
            <a:solidFill>
              <a:srgbClr val="34507D"/>
            </a:solidFill>
            <a:prstDash val="solid"/>
          </a:ln>
        </p:spPr>
      </p:sp>
      <p:sp>
        <p:nvSpPr>
          <p:cNvPr id="28" name="Text 26"/>
          <p:cNvSpPr txBox="1"/>
          <p:nvPr/>
        </p:nvSpPr>
        <p:spPr>
          <a:xfrm>
            <a:off x="3238500" y="5016500"/>
            <a:ext cx="7874000" cy="609600"/>
          </a:xfrm>
          <a:prstGeom prst="rect">
            <a:avLst/>
          </a:prstGeom>
          <a:noFill/>
          <a:ln/>
        </p:spPr>
        <p:txBody>
          <a:bodyPr wrap="square" lIns="0" tIns="0" rIns="0" bIns="0" rtlCol="0" anchor="ctr"/>
          <a:lstStyle/>
          <a:p>
            <a:pPr indent="0" marL="0">
              <a:lnSpc>
                <a:spcPct val="120000"/>
              </a:lnSpc>
              <a:buNone/>
            </a:pPr>
            <a:r>
              <a:rPr lang="en-US" sz="1300" dirty="0">
                <a:solidFill>
                  <a:srgbClr val="B9C6DA"/>
                </a:solidFill>
                <a:latin typeface="Arial" pitchFamily="34" charset="0"/>
                <a:ea typeface="Arial" pitchFamily="34" charset="-122"/>
                <a:cs typeface="Arial" pitchFamily="34" charset="-120"/>
              </a:rPr>
              <a:t>Django y PostgreSQL en Docker · acceso con permisos por rol · archivos privados · registro de quién decide y cuándo</a:t>
            </a:r>
            <a:endParaRPr lang="en-US" sz="1300" dirty="0"/>
          </a:p>
        </p:txBody>
      </p:sp>
      <p:sp>
        <p:nvSpPr>
          <p:cNvPr id="29" name="Text 27"/>
          <p:cNvSpPr txBox="1"/>
          <p:nvPr/>
        </p:nvSpPr>
        <p:spPr>
          <a:xfrm>
            <a:off x="812800" y="6235700"/>
            <a:ext cx="6350000" cy="215900"/>
          </a:xfrm>
          <a:prstGeom prst="rect">
            <a:avLst/>
          </a:prstGeom>
          <a:noFill/>
          <a:ln/>
        </p:spPr>
        <p:txBody>
          <a:bodyPr wrap="square" lIns="0" tIns="0" rIns="0" bIns="0" rtlCol="0" anchor="t"/>
          <a:lstStyle/>
          <a:p>
            <a:pPr indent="0" marL="0">
              <a:buNone/>
            </a:pPr>
            <a:r>
              <a:rPr lang="en-US" sz="1200" dirty="0">
                <a:solidFill>
                  <a:srgbClr val="5A6A80"/>
                </a:solidFill>
                <a:latin typeface="Arial" pitchFamily="34" charset="0"/>
                <a:ea typeface="Arial" pitchFamily="34" charset="-122"/>
                <a:cs typeface="Arial" pitchFamily="34" charset="-120"/>
              </a:rPr>
              <a:t>SIGA · Primera cohorte · Circuito de ingreso</a:t>
            </a:r>
            <a:endParaRPr lang="en-US" sz="1200" dirty="0"/>
          </a:p>
        </p:txBody>
      </p:sp>
      <p:sp>
        <p:nvSpPr>
          <p:cNvPr id="30" name="Text 28"/>
          <p:cNvSpPr txBox="1"/>
          <p:nvPr/>
        </p:nvSpPr>
        <p:spPr>
          <a:xfrm>
            <a:off x="10109200" y="6235700"/>
            <a:ext cx="1270000" cy="215900"/>
          </a:xfrm>
          <a:prstGeom prst="rect">
            <a:avLst/>
          </a:prstGeom>
          <a:noFill/>
          <a:ln/>
        </p:spPr>
        <p:txBody>
          <a:bodyPr wrap="square" lIns="0" tIns="0" rIns="0" bIns="0" rtlCol="0" anchor="t"/>
          <a:lstStyle/>
          <a:p>
            <a:pPr algn="r" indent="0" marL="0">
              <a:buNone/>
            </a:pPr>
            <a:r>
              <a:rPr lang="en-US" sz="1200" dirty="0">
                <a:solidFill>
                  <a:srgbClr val="5A6A80"/>
                </a:solidFill>
                <a:latin typeface="Arial" pitchFamily="34" charset="0"/>
                <a:ea typeface="Arial" pitchFamily="34" charset="-122"/>
                <a:cs typeface="Arial"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812800" y="812800"/>
            <a:ext cx="4318000" cy="215900"/>
          </a:xfrm>
          <a:prstGeom prst="rect">
            <a:avLst/>
          </a:prstGeom>
          <a:noFill/>
          <a:ln/>
        </p:spPr>
        <p:txBody>
          <a:bodyPr wrap="square" lIns="0" tIns="0" rIns="0" bIns="0" rtlCol="0" anchor="t"/>
          <a:lstStyle/>
          <a:p>
            <a:pPr indent="0" marL="0">
              <a:buNone/>
            </a:pPr>
            <a:r>
              <a:rPr lang="en-US" sz="1200" b="1" spc="150" kern="0" dirty="0">
                <a:solidFill>
                  <a:srgbClr val="2E5FC7"/>
                </a:solidFill>
                <a:latin typeface="Arial" pitchFamily="34" charset="0"/>
                <a:ea typeface="Arial" pitchFamily="34" charset="-122"/>
                <a:cs typeface="Arial" pitchFamily="34" charset="-120"/>
              </a:rPr>
              <a:t>VISTA 1 · FORMULARIO PÚBLICO</a:t>
            </a:r>
            <a:endParaRPr lang="en-US" sz="1200" dirty="0"/>
          </a:p>
        </p:txBody>
      </p:sp>
      <p:sp>
        <p:nvSpPr>
          <p:cNvPr id="3" name="Text 1"/>
          <p:cNvSpPr txBox="1"/>
          <p:nvPr/>
        </p:nvSpPr>
        <p:spPr>
          <a:xfrm>
            <a:off x="812800" y="1066800"/>
            <a:ext cx="4318000" cy="1270000"/>
          </a:xfrm>
          <a:prstGeom prst="rect">
            <a:avLst/>
          </a:prstGeom>
          <a:noFill/>
          <a:ln/>
        </p:spPr>
        <p:txBody>
          <a:bodyPr wrap="square" lIns="0" tIns="0" rIns="0" bIns="0" rtlCol="0" anchor="t"/>
          <a:lstStyle/>
          <a:p>
            <a:pPr indent="0" marL="0">
              <a:lnSpc>
                <a:spcPct val="100000"/>
              </a:lnSpc>
              <a:buNone/>
            </a:pPr>
            <a:r>
              <a:rPr lang="en-US" sz="2800" b="1" dirty="0">
                <a:solidFill>
                  <a:srgbClr val="13213A"/>
                </a:solidFill>
                <a:latin typeface="Arial" pitchFamily="34" charset="0"/>
                <a:ea typeface="Arial" pitchFamily="34" charset="-122"/>
                <a:cs typeface="Arial" pitchFamily="34" charset="-120"/>
              </a:rPr>
              <a:t>El aspirante se preinscribe sin crear una cuenta</a:t>
            </a:r>
            <a:endParaRPr lang="en-US" sz="2800" dirty="0"/>
          </a:p>
        </p:txBody>
      </p:sp>
      <p:sp>
        <p:nvSpPr>
          <p:cNvPr id="4" name="Text 2"/>
          <p:cNvSpPr txBox="1"/>
          <p:nvPr/>
        </p:nvSpPr>
        <p:spPr>
          <a:xfrm>
            <a:off x="812800" y="2540000"/>
            <a:ext cx="4318000" cy="3175000"/>
          </a:xfrm>
          <a:prstGeom prst="rect">
            <a:avLst/>
          </a:prstGeom>
          <a:noFill/>
          <a:ln/>
        </p:spPr>
        <p:txBody>
          <a:bodyPr wrap="square" lIns="0" tIns="0" rIns="0" bIns="0" rtlCol="0" anchor="t"/>
          <a:lstStyle/>
          <a:p>
            <a:pPr marL="228600" indent="-228600">
              <a:lnSpc>
                <a:spcPct val="115000"/>
              </a:lnSpc>
              <a:spcAft>
                <a:spcPts val="770"/>
              </a:spcAft>
              <a:buSzPct val="100000"/>
              <a:buChar char="•"/>
            </a:pPr>
            <a:r>
              <a:rPr lang="en-US" sz="1400" dirty="0">
                <a:solidFill>
                  <a:srgbClr val="4A5A70"/>
                </a:solidFill>
                <a:latin typeface="Arial" pitchFamily="34" charset="0"/>
                <a:ea typeface="Arial" pitchFamily="34" charset="-122"/>
                <a:cs typeface="Arial" pitchFamily="34" charset="-120"/>
              </a:rPr>
              <a:t>Datos personales, de contacto y la carrera elegida</a:t>
            </a:r>
            <a:endParaRPr lang="en-US" sz="1400" dirty="0"/>
          </a:p>
          <a:p>
            <a:pPr marL="228600" indent="-228600">
              <a:lnSpc>
                <a:spcPct val="115000"/>
              </a:lnSpc>
              <a:spcAft>
                <a:spcPts val="770"/>
              </a:spcAft>
              <a:buSzPct val="100000"/>
              <a:buChar char="•"/>
            </a:pPr>
            <a:r>
              <a:rPr lang="en-US" sz="1400" dirty="0">
                <a:solidFill>
                  <a:srgbClr val="4A5A70"/>
                </a:solidFill>
                <a:latin typeface="Arial" pitchFamily="34" charset="0"/>
                <a:ea typeface="Arial" pitchFamily="34" charset="-122"/>
                <a:cs typeface="Arial" pitchFamily="34" charset="-120"/>
              </a:rPr>
              <a:t>Cuatro documentos: DNI, título, analítico y foto carnet</a:t>
            </a:r>
            <a:endParaRPr lang="en-US" sz="1400" dirty="0"/>
          </a:p>
          <a:p>
            <a:pPr marL="228600" indent="-228600">
              <a:lnSpc>
                <a:spcPct val="115000"/>
              </a:lnSpc>
              <a:spcAft>
                <a:spcPts val="770"/>
              </a:spcAft>
              <a:buSzPct val="100000"/>
              <a:buChar char="•"/>
            </a:pPr>
            <a:r>
              <a:rPr lang="en-US" sz="1400" dirty="0">
                <a:solidFill>
                  <a:srgbClr val="4A5A70"/>
                </a:solidFill>
                <a:latin typeface="Arial" pitchFamily="34" charset="0"/>
                <a:ea typeface="Arial" pitchFamily="34" charset="-122"/>
                <a:cs typeface="Arial" pitchFamily="34" charset="-120"/>
              </a:rPr>
              <a:t>PDF, JPG o PNG de hasta 10 MB, validados al subir</a:t>
            </a:r>
            <a:endParaRPr lang="en-US" sz="1400" dirty="0"/>
          </a:p>
          <a:p>
            <a:pPr marL="228600" indent="-228600">
              <a:lnSpc>
                <a:spcPct val="115000"/>
              </a:lnSpc>
              <a:spcAft>
                <a:spcPts val="770"/>
              </a:spcAft>
              <a:buSzPct val="100000"/>
              <a:buChar char="•"/>
            </a:pPr>
            <a:r>
              <a:rPr lang="en-US" sz="1400" dirty="0">
                <a:solidFill>
                  <a:srgbClr val="4A5A70"/>
                </a:solidFill>
                <a:latin typeface="Arial" pitchFamily="34" charset="0"/>
                <a:ea typeface="Arial" pitchFamily="34" charset="-122"/>
                <a:cs typeface="Arial" pitchFamily="34" charset="-120"/>
              </a:rPr>
              <a:t>Si la carrera no tiene cupo, entra a lista de espera</a:t>
            </a:r>
            <a:endParaRPr lang="en-US" sz="1400" dirty="0"/>
          </a:p>
          <a:p>
            <a:pPr marL="228600" indent="-228600">
              <a:lnSpc>
                <a:spcPct val="115000"/>
              </a:lnSpc>
              <a:spcAft>
                <a:spcPts val="770"/>
              </a:spcAft>
              <a:buSzPct val="100000"/>
              <a:buChar char="•"/>
            </a:pPr>
            <a:r>
              <a:rPr lang="en-US" sz="1400" dirty="0">
                <a:solidFill>
                  <a:srgbClr val="4A5A70"/>
                </a:solidFill>
                <a:latin typeface="Arial" pitchFamily="34" charset="0"/>
                <a:ea typeface="Arial" pitchFamily="34" charset="-122"/>
                <a:cs typeface="Arial" pitchFamily="34" charset="-120"/>
              </a:rPr>
              <a:t>Al enviar recibe un número de solicitud por correo</a:t>
            </a:r>
            <a:endParaRPr lang="en-US" sz="1400" dirty="0"/>
          </a:p>
        </p:txBody>
      </p:sp>
      <p:pic>
        <p:nvPicPr>
          <p:cNvPr id="5" name="Image 0" descr="Formulario: elección de carrera con el cupo de cada una">    </p:cNvPr>
          <p:cNvPicPr>
            <a:picLocks noChangeAspect="1"/>
          </p:cNvPicPr>
          <p:nvPr/>
        </p:nvPicPr>
        <p:blipFill>
          <a:blip r:embed="rId1"/>
          <a:stretch>
            <a:fillRect/>
          </a:stretch>
        </p:blipFill>
        <p:spPr>
          <a:xfrm>
            <a:off x="5784850" y="889000"/>
            <a:ext cx="5594350" cy="4826000"/>
          </a:xfrm>
          <a:prstGeom prst="rect">
            <a:avLst/>
          </a:prstGeom>
          <a:effectLst>
            <a:outerShdw sx="100000" sy="100000" kx="0" ky="0" algn="bl" rotWithShape="0" blurRad="177800" dist="63500" dir="5400000">
              <a:srgbClr val="13294B">
                <a:alpha val="22000"/>
              </a:srgbClr>
            </a:outerShdw>
          </a:effectLst>
        </p:spPr>
      </p:pic>
      <p:sp>
        <p:nvSpPr>
          <p:cNvPr id="6" name="Shape 3"/>
          <p:cNvSpPr/>
          <p:nvPr/>
        </p:nvSpPr>
        <p:spPr>
          <a:xfrm>
            <a:off x="5784850" y="889000"/>
            <a:ext cx="5594350" cy="4826000"/>
          </a:xfrm>
          <a:prstGeom prst="rect">
            <a:avLst/>
          </a:prstGeom>
          <a:ln w="9525">
            <a:solidFill>
              <a:srgbClr val="DCE2EB"/>
            </a:solidFill>
            <a:prstDash val="solid"/>
          </a:ln>
        </p:spPr>
      </p:sp>
      <p:sp>
        <p:nvSpPr>
          <p:cNvPr id="7" name="Text 4"/>
          <p:cNvSpPr txBox="1"/>
          <p:nvPr/>
        </p:nvSpPr>
        <p:spPr>
          <a:xfrm>
            <a:off x="812800" y="6235700"/>
            <a:ext cx="6350000" cy="215900"/>
          </a:xfrm>
          <a:prstGeom prst="rect">
            <a:avLst/>
          </a:prstGeom>
          <a:noFill/>
          <a:ln/>
        </p:spPr>
        <p:txBody>
          <a:bodyPr wrap="square" lIns="0" tIns="0" rIns="0" bIns="0" rtlCol="0" anchor="t"/>
          <a:lstStyle/>
          <a:p>
            <a:pPr indent="0" marL="0">
              <a:buNone/>
            </a:pPr>
            <a:r>
              <a:rPr lang="en-US" sz="1200" dirty="0">
                <a:solidFill>
                  <a:srgbClr val="5A6A80"/>
                </a:solidFill>
                <a:latin typeface="Arial" pitchFamily="34" charset="0"/>
                <a:ea typeface="Arial" pitchFamily="34" charset="-122"/>
                <a:cs typeface="Arial" pitchFamily="34" charset="-120"/>
              </a:rPr>
              <a:t>SIGA · Primera cohorte · Circuito de ingreso</a:t>
            </a:r>
            <a:endParaRPr lang="en-US" sz="1200" dirty="0"/>
          </a:p>
        </p:txBody>
      </p:sp>
      <p:sp>
        <p:nvSpPr>
          <p:cNvPr id="8" name="Text 5"/>
          <p:cNvSpPr txBox="1"/>
          <p:nvPr/>
        </p:nvSpPr>
        <p:spPr>
          <a:xfrm>
            <a:off x="10109200" y="6235700"/>
            <a:ext cx="1270000" cy="215900"/>
          </a:xfrm>
          <a:prstGeom prst="rect">
            <a:avLst/>
          </a:prstGeom>
          <a:noFill/>
          <a:ln/>
        </p:spPr>
        <p:txBody>
          <a:bodyPr wrap="square" lIns="0" tIns="0" rIns="0" bIns="0" rtlCol="0" anchor="t"/>
          <a:lstStyle/>
          <a:p>
            <a:pPr algn="r" indent="0" marL="0">
              <a:buNone/>
            </a:pPr>
            <a:r>
              <a:rPr lang="en-US" sz="1200" dirty="0">
                <a:solidFill>
                  <a:srgbClr val="5A6A80"/>
                </a:solidFill>
                <a:latin typeface="Arial" pitchFamily="34" charset="0"/>
                <a:ea typeface="Arial" pitchFamily="34" charset="-122"/>
                <a:cs typeface="Arial"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5900"/>
          </a:xfrm>
          <a:prstGeom prst="rect">
            <a:avLst/>
          </a:prstGeom>
          <a:noFill/>
          <a:ln/>
        </p:spPr>
        <p:txBody>
          <a:bodyPr wrap="square" lIns="0" tIns="0" rIns="0" bIns="0" rtlCol="0" anchor="t"/>
          <a:lstStyle/>
          <a:p>
            <a:pPr indent="0" marL="0">
              <a:buNone/>
            </a:pPr>
            <a:r>
              <a:rPr lang="en-US" sz="1200" b="1" spc="150" kern="0" dirty="0">
                <a:solidFill>
                  <a:srgbClr val="2E5FC7"/>
                </a:solidFill>
                <a:latin typeface="Arial" pitchFamily="34" charset="0"/>
                <a:ea typeface="Arial" pitchFamily="34" charset="-122"/>
                <a:cs typeface="Arial" pitchFamily="34" charset="-120"/>
              </a:rPr>
              <a:t>VISTA 2 · SECRETARÍA</a:t>
            </a:r>
            <a:endParaRPr lang="en-US" sz="1200" dirty="0"/>
          </a:p>
        </p:txBody>
      </p:sp>
      <p:sp>
        <p:nvSpPr>
          <p:cNvPr id="3" name="Text 1"/>
          <p:cNvSpPr txBox="1"/>
          <p:nvPr/>
        </p:nvSpPr>
        <p:spPr>
          <a:xfrm>
            <a:off x="812800" y="1066800"/>
            <a:ext cx="10566400" cy="444500"/>
          </a:xfrm>
          <a:prstGeom prst="rect">
            <a:avLst/>
          </a:prstGeom>
          <a:noFill/>
          <a:ln/>
        </p:spPr>
        <p:txBody>
          <a:bodyPr wrap="square" lIns="0" tIns="0" rIns="0" bIns="0" rtlCol="0" anchor="t"/>
          <a:lstStyle/>
          <a:p>
            <a:pPr indent="0" marL="0">
              <a:lnSpc>
                <a:spcPct val="100000"/>
              </a:lnSpc>
              <a:buNone/>
            </a:pPr>
            <a:r>
              <a:rPr lang="en-US" sz="2800" b="1" dirty="0">
                <a:solidFill>
                  <a:srgbClr val="13213A"/>
                </a:solidFill>
                <a:latin typeface="Arial" pitchFamily="34" charset="0"/>
                <a:ea typeface="Arial" pitchFamily="34" charset="-122"/>
                <a:cs typeface="Arial" pitchFamily="34" charset="-120"/>
              </a:rPr>
              <a:t>La bandeja ordena las solicitudes del período</a:t>
            </a:r>
            <a:endParaRPr lang="en-US" sz="2800" dirty="0"/>
          </a:p>
        </p:txBody>
      </p:sp>
      <p:pic>
        <p:nvPicPr>
          <p:cNvPr id="4" name="Image 0" descr="Tarjetas de resumen por estado">    </p:cNvPr>
          <p:cNvPicPr>
            <a:picLocks noChangeAspect="1"/>
          </p:cNvPicPr>
          <p:nvPr/>
        </p:nvPicPr>
        <p:blipFill>
          <a:blip r:embed="rId1"/>
          <a:stretch>
            <a:fillRect/>
          </a:stretch>
        </p:blipFill>
        <p:spPr>
          <a:xfrm>
            <a:off x="812800" y="1778000"/>
            <a:ext cx="5080000" cy="908050"/>
          </a:xfrm>
          <a:prstGeom prst="rect">
            <a:avLst/>
          </a:prstGeom>
          <a:effectLst>
            <a:outerShdw sx="100000" sy="100000" kx="0" ky="0" algn="bl" rotWithShape="0" blurRad="177800" dist="63500" dir="5400000">
              <a:srgbClr val="13294B">
                <a:alpha val="22000"/>
              </a:srgbClr>
            </a:outerShdw>
          </a:effectLst>
        </p:spPr>
      </p:pic>
      <p:sp>
        <p:nvSpPr>
          <p:cNvPr id="5" name="Shape 2"/>
          <p:cNvSpPr/>
          <p:nvPr/>
        </p:nvSpPr>
        <p:spPr>
          <a:xfrm>
            <a:off x="812800" y="1778000"/>
            <a:ext cx="5080000" cy="908050"/>
          </a:xfrm>
          <a:prstGeom prst="rect">
            <a:avLst/>
          </a:prstGeom>
          <a:ln w="9525">
            <a:solidFill>
              <a:srgbClr val="DCE2EB"/>
            </a:solidFill>
            <a:prstDash val="solid"/>
          </a:ln>
        </p:spPr>
      </p:sp>
      <p:pic>
        <p:nvPicPr>
          <p:cNvPr id="6" name="Image 1" descr="Tabla de aspirantes con carrera, fecha, documentación y estado">    </p:cNvPr>
          <p:cNvPicPr>
            <a:picLocks noChangeAspect="1"/>
          </p:cNvPicPr>
          <p:nvPr/>
        </p:nvPicPr>
        <p:blipFill>
          <a:blip r:embed="rId2"/>
          <a:stretch>
            <a:fillRect/>
          </a:stretch>
        </p:blipFill>
        <p:spPr>
          <a:xfrm>
            <a:off x="812800" y="2838450"/>
            <a:ext cx="5969000" cy="2962275"/>
          </a:xfrm>
          <a:prstGeom prst="rect">
            <a:avLst/>
          </a:prstGeom>
          <a:effectLst>
            <a:outerShdw sx="100000" sy="100000" kx="0" ky="0" algn="bl" rotWithShape="0" blurRad="177800" dist="63500" dir="5400000">
              <a:srgbClr val="13294B">
                <a:alpha val="22000"/>
              </a:srgbClr>
            </a:outerShdw>
          </a:effectLst>
        </p:spPr>
      </p:pic>
      <p:sp>
        <p:nvSpPr>
          <p:cNvPr id="7" name="Shape 3"/>
          <p:cNvSpPr/>
          <p:nvPr/>
        </p:nvSpPr>
        <p:spPr>
          <a:xfrm>
            <a:off x="812800" y="2838450"/>
            <a:ext cx="5969000" cy="2962275"/>
          </a:xfrm>
          <a:prstGeom prst="rect">
            <a:avLst/>
          </a:prstGeom>
          <a:ln w="9525">
            <a:solidFill>
              <a:srgbClr val="DCE2EB"/>
            </a:solidFill>
            <a:prstDash val="solid"/>
          </a:ln>
        </p:spPr>
      </p:sp>
      <p:sp>
        <p:nvSpPr>
          <p:cNvPr id="8" name="Shape 4"/>
          <p:cNvSpPr/>
          <p:nvPr/>
        </p:nvSpPr>
        <p:spPr>
          <a:xfrm>
            <a:off x="7137400" y="1778000"/>
            <a:ext cx="4241800" cy="0"/>
          </a:xfrm>
          <a:prstGeom prst="line">
            <a:avLst/>
          </a:prstGeom>
          <a:noFill/>
          <a:ln w="12700">
            <a:solidFill>
              <a:srgbClr val="DCE2EB"/>
            </a:solidFill>
            <a:prstDash val="solid"/>
          </a:ln>
        </p:spPr>
      </p:sp>
      <p:sp>
        <p:nvSpPr>
          <p:cNvPr id="9" name="Text 5"/>
          <p:cNvSpPr txBox="1"/>
          <p:nvPr/>
        </p:nvSpPr>
        <p:spPr>
          <a:xfrm>
            <a:off x="7137400" y="1905000"/>
            <a:ext cx="4241800" cy="266700"/>
          </a:xfrm>
          <a:prstGeom prst="rect">
            <a:avLst/>
          </a:prstGeom>
          <a:noFill/>
          <a:ln/>
        </p:spPr>
        <p:txBody>
          <a:bodyPr wrap="square" lIns="0" tIns="0" rIns="0" bIns="0" rtlCol="0" anchor="t"/>
          <a:lstStyle/>
          <a:p>
            <a:pPr indent="0" marL="0">
              <a:buNone/>
            </a:pPr>
            <a:r>
              <a:rPr lang="en-US" sz="1500" b="1" dirty="0">
                <a:solidFill>
                  <a:srgbClr val="13213A"/>
                </a:solidFill>
                <a:latin typeface="Arial" pitchFamily="34" charset="0"/>
                <a:ea typeface="Arial" pitchFamily="34" charset="-122"/>
                <a:cs typeface="Arial" pitchFamily="34" charset="-120"/>
              </a:rPr>
              <a:t>Resumen por estado</a:t>
            </a:r>
            <a:endParaRPr lang="en-US" sz="1500" dirty="0"/>
          </a:p>
        </p:txBody>
      </p:sp>
      <p:sp>
        <p:nvSpPr>
          <p:cNvPr id="10" name="Text 6"/>
          <p:cNvSpPr txBox="1"/>
          <p:nvPr/>
        </p:nvSpPr>
        <p:spPr>
          <a:xfrm>
            <a:off x="7137400" y="2197100"/>
            <a:ext cx="4241800" cy="508000"/>
          </a:xfrm>
          <a:prstGeom prst="rect">
            <a:avLst/>
          </a:prstGeom>
          <a:noFill/>
          <a:ln/>
        </p:spPr>
        <p:txBody>
          <a:bodyPr wrap="square" lIns="0" tIns="0" rIns="0" bIns="0" rtlCol="0" anchor="t"/>
          <a:lstStyle/>
          <a:p>
            <a:pPr indent="0" marL="0">
              <a:lnSpc>
                <a:spcPct val="115000"/>
              </a:lnSpc>
              <a:buNone/>
            </a:pPr>
            <a:r>
              <a:rPr lang="en-US" sz="1300" dirty="0">
                <a:solidFill>
                  <a:srgbClr val="4A5A70"/>
                </a:solidFill>
                <a:latin typeface="Arial" pitchFamily="34" charset="0"/>
                <a:ea typeface="Arial" pitchFamily="34" charset="-122"/>
                <a:cs typeface="Arial" pitchFamily="34" charset="-120"/>
              </a:rPr>
              <a:t>Cada número filtra la tabla con un clic.</a:t>
            </a:r>
            <a:endParaRPr lang="en-US" sz="1300" dirty="0"/>
          </a:p>
        </p:txBody>
      </p:sp>
      <p:sp>
        <p:nvSpPr>
          <p:cNvPr id="11" name="Shape 7"/>
          <p:cNvSpPr/>
          <p:nvPr/>
        </p:nvSpPr>
        <p:spPr>
          <a:xfrm>
            <a:off x="7137400" y="2781300"/>
            <a:ext cx="4241800" cy="0"/>
          </a:xfrm>
          <a:prstGeom prst="line">
            <a:avLst/>
          </a:prstGeom>
          <a:noFill/>
          <a:ln w="12700">
            <a:solidFill>
              <a:srgbClr val="DCE2EB"/>
            </a:solidFill>
            <a:prstDash val="solid"/>
          </a:ln>
        </p:spPr>
      </p:sp>
      <p:sp>
        <p:nvSpPr>
          <p:cNvPr id="12" name="Text 8"/>
          <p:cNvSpPr txBox="1"/>
          <p:nvPr/>
        </p:nvSpPr>
        <p:spPr>
          <a:xfrm>
            <a:off x="7137400" y="2908300"/>
            <a:ext cx="4241800" cy="266700"/>
          </a:xfrm>
          <a:prstGeom prst="rect">
            <a:avLst/>
          </a:prstGeom>
          <a:noFill/>
          <a:ln/>
        </p:spPr>
        <p:txBody>
          <a:bodyPr wrap="square" lIns="0" tIns="0" rIns="0" bIns="0" rtlCol="0" anchor="t"/>
          <a:lstStyle/>
          <a:p>
            <a:pPr indent="0" marL="0">
              <a:buNone/>
            </a:pPr>
            <a:r>
              <a:rPr lang="en-US" sz="1500" b="1" dirty="0">
                <a:solidFill>
                  <a:srgbClr val="13213A"/>
                </a:solidFill>
                <a:latin typeface="Arial" pitchFamily="34" charset="0"/>
                <a:ea typeface="Arial" pitchFamily="34" charset="-122"/>
                <a:cs typeface="Arial" pitchFamily="34" charset="-120"/>
              </a:rPr>
              <a:t>Cupos por carrera</a:t>
            </a:r>
            <a:endParaRPr lang="en-US" sz="1500" dirty="0"/>
          </a:p>
        </p:txBody>
      </p:sp>
      <p:sp>
        <p:nvSpPr>
          <p:cNvPr id="13" name="Text 9"/>
          <p:cNvSpPr txBox="1"/>
          <p:nvPr/>
        </p:nvSpPr>
        <p:spPr>
          <a:xfrm>
            <a:off x="7137400" y="3200400"/>
            <a:ext cx="4241800" cy="508000"/>
          </a:xfrm>
          <a:prstGeom prst="rect">
            <a:avLst/>
          </a:prstGeom>
          <a:noFill/>
          <a:ln/>
        </p:spPr>
        <p:txBody>
          <a:bodyPr wrap="square" lIns="0" tIns="0" rIns="0" bIns="0" rtlCol="0" anchor="t"/>
          <a:lstStyle/>
          <a:p>
            <a:pPr indent="0" marL="0">
              <a:lnSpc>
                <a:spcPct val="115000"/>
              </a:lnSpc>
              <a:buNone/>
            </a:pPr>
            <a:r>
              <a:rPr lang="en-US" sz="1300" dirty="0">
                <a:solidFill>
                  <a:srgbClr val="4A5A70"/>
                </a:solidFill>
                <a:latin typeface="Arial" pitchFamily="34" charset="0"/>
                <a:ea typeface="Arial" pitchFamily="34" charset="-122"/>
                <a:cs typeface="Arial" pitchFamily="34" charset="-120"/>
              </a:rPr>
              <a:t>Lugares ocupados y lista de espera.</a:t>
            </a:r>
            <a:endParaRPr lang="en-US" sz="1300" dirty="0"/>
          </a:p>
        </p:txBody>
      </p:sp>
      <p:sp>
        <p:nvSpPr>
          <p:cNvPr id="14" name="Shape 10"/>
          <p:cNvSpPr/>
          <p:nvPr/>
        </p:nvSpPr>
        <p:spPr>
          <a:xfrm>
            <a:off x="7137400" y="3784600"/>
            <a:ext cx="4241800" cy="0"/>
          </a:xfrm>
          <a:prstGeom prst="line">
            <a:avLst/>
          </a:prstGeom>
          <a:noFill/>
          <a:ln w="12700">
            <a:solidFill>
              <a:srgbClr val="DCE2EB"/>
            </a:solidFill>
            <a:prstDash val="solid"/>
          </a:ln>
        </p:spPr>
      </p:sp>
      <p:sp>
        <p:nvSpPr>
          <p:cNvPr id="15" name="Text 11"/>
          <p:cNvSpPr txBox="1"/>
          <p:nvPr/>
        </p:nvSpPr>
        <p:spPr>
          <a:xfrm>
            <a:off x="7137400" y="3911600"/>
            <a:ext cx="4241800" cy="266700"/>
          </a:xfrm>
          <a:prstGeom prst="rect">
            <a:avLst/>
          </a:prstGeom>
          <a:noFill/>
          <a:ln/>
        </p:spPr>
        <p:txBody>
          <a:bodyPr wrap="square" lIns="0" tIns="0" rIns="0" bIns="0" rtlCol="0" anchor="t"/>
          <a:lstStyle/>
          <a:p>
            <a:pPr indent="0" marL="0">
              <a:buNone/>
            </a:pPr>
            <a:r>
              <a:rPr lang="en-US" sz="1500" b="1" dirty="0">
                <a:solidFill>
                  <a:srgbClr val="13213A"/>
                </a:solidFill>
                <a:latin typeface="Arial" pitchFamily="34" charset="0"/>
                <a:ea typeface="Arial" pitchFamily="34" charset="-122"/>
                <a:cs typeface="Arial" pitchFamily="34" charset="-120"/>
              </a:rPr>
              <a:t>Buscar y filtrar</a:t>
            </a:r>
            <a:endParaRPr lang="en-US" sz="1500" dirty="0"/>
          </a:p>
        </p:txBody>
      </p:sp>
      <p:sp>
        <p:nvSpPr>
          <p:cNvPr id="16" name="Text 12"/>
          <p:cNvSpPr txBox="1"/>
          <p:nvPr/>
        </p:nvSpPr>
        <p:spPr>
          <a:xfrm>
            <a:off x="7137400" y="4203700"/>
            <a:ext cx="4241800" cy="508000"/>
          </a:xfrm>
          <a:prstGeom prst="rect">
            <a:avLst/>
          </a:prstGeom>
          <a:noFill/>
          <a:ln/>
        </p:spPr>
        <p:txBody>
          <a:bodyPr wrap="square" lIns="0" tIns="0" rIns="0" bIns="0" rtlCol="0" anchor="t"/>
          <a:lstStyle/>
          <a:p>
            <a:pPr indent="0" marL="0">
              <a:lnSpc>
                <a:spcPct val="115000"/>
              </a:lnSpc>
              <a:buNone/>
            </a:pPr>
            <a:r>
              <a:rPr lang="en-US" sz="1300" dirty="0">
                <a:solidFill>
                  <a:srgbClr val="4A5A70"/>
                </a:solidFill>
                <a:latin typeface="Arial" pitchFamily="34" charset="0"/>
                <a:ea typeface="Arial" pitchFamily="34" charset="-122"/>
                <a:cs typeface="Arial" pitchFamily="34" charset="-120"/>
              </a:rPr>
              <a:t>Por nombre, DNI, correo, estado, carrera o documentación.</a:t>
            </a:r>
            <a:endParaRPr lang="en-US" sz="1300" dirty="0"/>
          </a:p>
        </p:txBody>
      </p:sp>
      <p:sp>
        <p:nvSpPr>
          <p:cNvPr id="17" name="Shape 13"/>
          <p:cNvSpPr/>
          <p:nvPr/>
        </p:nvSpPr>
        <p:spPr>
          <a:xfrm>
            <a:off x="7137400" y="4787900"/>
            <a:ext cx="4241800" cy="0"/>
          </a:xfrm>
          <a:prstGeom prst="line">
            <a:avLst/>
          </a:prstGeom>
          <a:noFill/>
          <a:ln w="12700">
            <a:solidFill>
              <a:srgbClr val="DCE2EB"/>
            </a:solidFill>
            <a:prstDash val="solid"/>
          </a:ln>
        </p:spPr>
      </p:sp>
      <p:sp>
        <p:nvSpPr>
          <p:cNvPr id="18" name="Text 14"/>
          <p:cNvSpPr txBox="1"/>
          <p:nvPr/>
        </p:nvSpPr>
        <p:spPr>
          <a:xfrm>
            <a:off x="7137400" y="4914900"/>
            <a:ext cx="4241800" cy="266700"/>
          </a:xfrm>
          <a:prstGeom prst="rect">
            <a:avLst/>
          </a:prstGeom>
          <a:noFill/>
          <a:ln/>
        </p:spPr>
        <p:txBody>
          <a:bodyPr wrap="square" lIns="0" tIns="0" rIns="0" bIns="0" rtlCol="0" anchor="t"/>
          <a:lstStyle/>
          <a:p>
            <a:pPr indent="0" marL="0">
              <a:buNone/>
            </a:pPr>
            <a:r>
              <a:rPr lang="en-US" sz="1500" b="1" dirty="0">
                <a:solidFill>
                  <a:srgbClr val="13213A"/>
                </a:solidFill>
                <a:latin typeface="Arial" pitchFamily="34" charset="0"/>
                <a:ea typeface="Arial" pitchFamily="34" charset="-122"/>
                <a:cs typeface="Arial" pitchFamily="34" charset="-120"/>
              </a:rPr>
              <a:t>Acciones con control</a:t>
            </a:r>
            <a:endParaRPr lang="en-US" sz="1500" dirty="0"/>
          </a:p>
        </p:txBody>
      </p:sp>
      <p:sp>
        <p:nvSpPr>
          <p:cNvPr id="19" name="Text 15"/>
          <p:cNvSpPr txBox="1"/>
          <p:nvPr/>
        </p:nvSpPr>
        <p:spPr>
          <a:xfrm>
            <a:off x="7137400" y="5207000"/>
            <a:ext cx="4241800" cy="508000"/>
          </a:xfrm>
          <a:prstGeom prst="rect">
            <a:avLst/>
          </a:prstGeom>
          <a:noFill/>
          <a:ln/>
        </p:spPr>
        <p:txBody>
          <a:bodyPr wrap="square" lIns="0" tIns="0" rIns="0" bIns="0" rtlCol="0" anchor="t"/>
          <a:lstStyle/>
          <a:p>
            <a:pPr indent="0" marL="0">
              <a:lnSpc>
                <a:spcPct val="115000"/>
              </a:lnSpc>
              <a:buNone/>
            </a:pPr>
            <a:r>
              <a:rPr lang="en-US" sz="1300" dirty="0">
                <a:solidFill>
                  <a:srgbClr val="4A5A70"/>
                </a:solidFill>
                <a:latin typeface="Arial" pitchFamily="34" charset="0"/>
                <a:ea typeface="Arial" pitchFamily="34" charset="-122"/>
                <a:cs typeface="Arial" pitchFamily="34" charset="-120"/>
              </a:rPr>
              <a:t>Confirmar sólo con la documentación aprobada.</a:t>
            </a:r>
            <a:endParaRPr lang="en-US" sz="1300" dirty="0"/>
          </a:p>
        </p:txBody>
      </p:sp>
      <p:sp>
        <p:nvSpPr>
          <p:cNvPr id="20" name="Text 16"/>
          <p:cNvSpPr txBox="1"/>
          <p:nvPr/>
        </p:nvSpPr>
        <p:spPr>
          <a:xfrm>
            <a:off x="812800" y="6235700"/>
            <a:ext cx="6350000" cy="215900"/>
          </a:xfrm>
          <a:prstGeom prst="rect">
            <a:avLst/>
          </a:prstGeom>
          <a:noFill/>
          <a:ln/>
        </p:spPr>
        <p:txBody>
          <a:bodyPr wrap="square" lIns="0" tIns="0" rIns="0" bIns="0" rtlCol="0" anchor="t"/>
          <a:lstStyle/>
          <a:p>
            <a:pPr indent="0" marL="0">
              <a:buNone/>
            </a:pPr>
            <a:r>
              <a:rPr lang="en-US" sz="1200" dirty="0">
                <a:solidFill>
                  <a:srgbClr val="5A6A80"/>
                </a:solidFill>
                <a:latin typeface="Arial" pitchFamily="34" charset="0"/>
                <a:ea typeface="Arial" pitchFamily="34" charset="-122"/>
                <a:cs typeface="Arial" pitchFamily="34" charset="-120"/>
              </a:rPr>
              <a:t>SIGA · Primera cohorte · Circuito de ingreso</a:t>
            </a:r>
            <a:endParaRPr lang="en-US" sz="1200" dirty="0"/>
          </a:p>
        </p:txBody>
      </p:sp>
      <p:sp>
        <p:nvSpPr>
          <p:cNvPr id="21" name="Text 17"/>
          <p:cNvSpPr txBox="1"/>
          <p:nvPr/>
        </p:nvSpPr>
        <p:spPr>
          <a:xfrm>
            <a:off x="10109200" y="6235700"/>
            <a:ext cx="1270000" cy="215900"/>
          </a:xfrm>
          <a:prstGeom prst="rect">
            <a:avLst/>
          </a:prstGeom>
          <a:noFill/>
          <a:ln/>
        </p:spPr>
        <p:txBody>
          <a:bodyPr wrap="square" lIns="0" tIns="0" rIns="0" bIns="0" rtlCol="0" anchor="t"/>
          <a:lstStyle/>
          <a:p>
            <a:pPr algn="r" indent="0" marL="0">
              <a:buNone/>
            </a:pPr>
            <a:r>
              <a:rPr lang="en-US" sz="1200" dirty="0">
                <a:solidFill>
                  <a:srgbClr val="5A6A80"/>
                </a:solidFill>
                <a:latin typeface="Arial" pitchFamily="34" charset="0"/>
                <a:ea typeface="Arial" pitchFamily="34" charset="-122"/>
                <a:cs typeface="Arial"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5900"/>
          </a:xfrm>
          <a:prstGeom prst="rect">
            <a:avLst/>
          </a:prstGeom>
          <a:noFill/>
          <a:ln/>
        </p:spPr>
        <p:txBody>
          <a:bodyPr wrap="square" lIns="0" tIns="0" rIns="0" bIns="0" rtlCol="0" anchor="t"/>
          <a:lstStyle/>
          <a:p>
            <a:pPr indent="0" marL="0">
              <a:buNone/>
            </a:pPr>
            <a:r>
              <a:rPr lang="en-US" sz="1200" b="1" spc="150" kern="0" dirty="0">
                <a:solidFill>
                  <a:srgbClr val="2E5FC7"/>
                </a:solidFill>
                <a:latin typeface="Arial" pitchFamily="34" charset="0"/>
                <a:ea typeface="Arial" pitchFamily="34" charset="-122"/>
                <a:cs typeface="Arial" pitchFamily="34" charset="-120"/>
              </a:rPr>
              <a:t>VISTA 3 · SECRETARÍA</a:t>
            </a:r>
            <a:endParaRPr lang="en-US" sz="1200" dirty="0"/>
          </a:p>
        </p:txBody>
      </p:sp>
      <p:sp>
        <p:nvSpPr>
          <p:cNvPr id="3" name="Text 1"/>
          <p:cNvSpPr txBox="1"/>
          <p:nvPr/>
        </p:nvSpPr>
        <p:spPr>
          <a:xfrm>
            <a:off x="812800" y="1066800"/>
            <a:ext cx="10566400" cy="444500"/>
          </a:xfrm>
          <a:prstGeom prst="rect">
            <a:avLst/>
          </a:prstGeom>
          <a:noFill/>
          <a:ln/>
        </p:spPr>
        <p:txBody>
          <a:bodyPr wrap="square" lIns="0" tIns="0" rIns="0" bIns="0" rtlCol="0" anchor="t"/>
          <a:lstStyle/>
          <a:p>
            <a:pPr indent="0" marL="0">
              <a:lnSpc>
                <a:spcPct val="100000"/>
              </a:lnSpc>
              <a:buNone/>
            </a:pPr>
            <a:r>
              <a:rPr lang="en-US" sz="2800" b="1" dirty="0">
                <a:solidFill>
                  <a:srgbClr val="13213A"/>
                </a:solidFill>
                <a:latin typeface="Arial" pitchFamily="34" charset="0"/>
                <a:ea typeface="Arial" pitchFamily="34" charset="-122"/>
                <a:cs typeface="Arial" pitchFamily="34" charset="-120"/>
              </a:rPr>
              <a:t>La ficha muestra lo que cargó y permite resolver</a:t>
            </a:r>
            <a:endParaRPr lang="en-US" sz="2800" dirty="0"/>
          </a:p>
        </p:txBody>
      </p:sp>
      <p:pic>
        <p:nvPicPr>
          <p:cNvPr id="4" name="Image 0" descr="Cabecera de la ficha con el estado y los botones de resolución">    </p:cNvPr>
          <p:cNvPicPr>
            <a:picLocks noChangeAspect="1"/>
          </p:cNvPicPr>
          <p:nvPr/>
        </p:nvPicPr>
        <p:blipFill>
          <a:blip r:embed="rId1"/>
          <a:stretch>
            <a:fillRect/>
          </a:stretch>
        </p:blipFill>
        <p:spPr>
          <a:xfrm>
            <a:off x="812800" y="1714500"/>
            <a:ext cx="8255000" cy="937895"/>
          </a:xfrm>
          <a:prstGeom prst="rect">
            <a:avLst/>
          </a:prstGeom>
          <a:effectLst>
            <a:outerShdw sx="100000" sy="100000" kx="0" ky="0" algn="bl" rotWithShape="0" blurRad="177800" dist="63500" dir="5400000">
              <a:srgbClr val="13294B">
                <a:alpha val="22000"/>
              </a:srgbClr>
            </a:outerShdw>
          </a:effectLst>
        </p:spPr>
      </p:pic>
      <p:sp>
        <p:nvSpPr>
          <p:cNvPr id="5" name="Shape 2"/>
          <p:cNvSpPr/>
          <p:nvPr/>
        </p:nvSpPr>
        <p:spPr>
          <a:xfrm>
            <a:off x="812800" y="1714500"/>
            <a:ext cx="8255000" cy="937895"/>
          </a:xfrm>
          <a:prstGeom prst="rect">
            <a:avLst/>
          </a:prstGeom>
          <a:ln w="9525">
            <a:solidFill>
              <a:srgbClr val="DCE2EB"/>
            </a:solidFill>
            <a:prstDash val="solid"/>
          </a:ln>
        </p:spPr>
      </p:sp>
      <p:pic>
        <p:nvPicPr>
          <p:cNvPr id="6" name="Image 1" descr="Documentación del aspirante: aprobar u observar cada archivo">    </p:cNvPr>
          <p:cNvPicPr>
            <a:picLocks noChangeAspect="1"/>
          </p:cNvPicPr>
          <p:nvPr/>
        </p:nvPicPr>
        <p:blipFill>
          <a:blip r:embed="rId2"/>
          <a:stretch>
            <a:fillRect/>
          </a:stretch>
        </p:blipFill>
        <p:spPr>
          <a:xfrm>
            <a:off x="812800" y="2895600"/>
            <a:ext cx="4445000" cy="2804160"/>
          </a:xfrm>
          <a:prstGeom prst="rect">
            <a:avLst/>
          </a:prstGeom>
          <a:effectLst>
            <a:outerShdw sx="100000" sy="100000" kx="0" ky="0" algn="bl" rotWithShape="0" blurRad="177800" dist="63500" dir="5400000">
              <a:srgbClr val="13294B">
                <a:alpha val="22000"/>
              </a:srgbClr>
            </a:outerShdw>
          </a:effectLst>
        </p:spPr>
      </p:pic>
      <p:sp>
        <p:nvSpPr>
          <p:cNvPr id="7" name="Shape 3"/>
          <p:cNvSpPr/>
          <p:nvPr/>
        </p:nvSpPr>
        <p:spPr>
          <a:xfrm>
            <a:off x="812800" y="2895600"/>
            <a:ext cx="4445000" cy="2804160"/>
          </a:xfrm>
          <a:prstGeom prst="rect">
            <a:avLst/>
          </a:prstGeom>
          <a:ln w="9525">
            <a:solidFill>
              <a:srgbClr val="DCE2EB"/>
            </a:solidFill>
            <a:prstDash val="solid"/>
          </a:ln>
        </p:spPr>
      </p:sp>
      <p:sp>
        <p:nvSpPr>
          <p:cNvPr id="8" name="Text 4"/>
          <p:cNvSpPr txBox="1"/>
          <p:nvPr/>
        </p:nvSpPr>
        <p:spPr>
          <a:xfrm>
            <a:off x="5613400" y="2895600"/>
            <a:ext cx="5715000" cy="266700"/>
          </a:xfrm>
          <a:prstGeom prst="rect">
            <a:avLst/>
          </a:prstGeom>
          <a:noFill/>
          <a:ln/>
        </p:spPr>
        <p:txBody>
          <a:bodyPr wrap="square" lIns="0" tIns="0" rIns="0" bIns="0" rtlCol="0" anchor="t"/>
          <a:lstStyle/>
          <a:p>
            <a:pPr indent="0" marL="0">
              <a:buNone/>
            </a:pPr>
            <a:r>
              <a:rPr lang="en-US" sz="1500" b="1" dirty="0">
                <a:solidFill>
                  <a:srgbClr val="13213A"/>
                </a:solidFill>
                <a:latin typeface="Arial" pitchFamily="34" charset="0"/>
                <a:ea typeface="Arial" pitchFamily="34" charset="-122"/>
                <a:cs typeface="Arial" pitchFamily="34" charset="-120"/>
              </a:rPr>
              <a:t>Estados de una solicitud</a:t>
            </a:r>
            <a:endParaRPr lang="en-US" sz="1500" dirty="0"/>
          </a:p>
        </p:txBody>
      </p:sp>
      <p:sp>
        <p:nvSpPr>
          <p:cNvPr id="9" name="Shape 5"/>
          <p:cNvSpPr/>
          <p:nvPr/>
        </p:nvSpPr>
        <p:spPr>
          <a:xfrm>
            <a:off x="5613400" y="3327400"/>
            <a:ext cx="1301750" cy="289560"/>
          </a:xfrm>
          <a:prstGeom prst="roundRect">
            <a:avLst>
              <a:gd name="adj" fmla="val 157895"/>
            </a:avLst>
          </a:prstGeom>
          <a:solidFill>
            <a:srgbClr val="E6EAF0"/>
          </a:solidFill>
          <a:ln/>
        </p:spPr>
      </p:sp>
      <p:sp>
        <p:nvSpPr>
          <p:cNvPr id="10" name="Text 6"/>
          <p:cNvSpPr txBox="1"/>
          <p:nvPr/>
        </p:nvSpPr>
        <p:spPr>
          <a:xfrm>
            <a:off x="5613400" y="3327400"/>
            <a:ext cx="1301750" cy="289560"/>
          </a:xfrm>
          <a:prstGeom prst="rect">
            <a:avLst/>
          </a:prstGeom>
          <a:noFill/>
          <a:ln/>
        </p:spPr>
        <p:txBody>
          <a:bodyPr wrap="square" lIns="0" tIns="0" rIns="0" bIns="0" rtlCol="0" anchor="ctr"/>
          <a:lstStyle/>
          <a:p>
            <a:pPr algn="ctr" indent="0" marL="0">
              <a:buNone/>
            </a:pPr>
            <a:r>
              <a:rPr lang="en-US" sz="1200" b="1" dirty="0">
                <a:solidFill>
                  <a:srgbClr val="475569"/>
                </a:solidFill>
                <a:latin typeface="Arial" pitchFamily="34" charset="0"/>
                <a:ea typeface="Arial" pitchFamily="34" charset="-122"/>
                <a:cs typeface="Arial" pitchFamily="34" charset="-120"/>
              </a:rPr>
              <a:t>Preinscripto</a:t>
            </a:r>
            <a:endParaRPr lang="en-US" sz="1200" dirty="0"/>
          </a:p>
        </p:txBody>
      </p:sp>
      <p:sp>
        <p:nvSpPr>
          <p:cNvPr id="11" name="Shape 7"/>
          <p:cNvSpPr/>
          <p:nvPr/>
        </p:nvSpPr>
        <p:spPr>
          <a:xfrm>
            <a:off x="7016750" y="3397250"/>
            <a:ext cx="254000" cy="139700"/>
          </a:xfrm>
          <a:prstGeom prst="rightArrow">
            <a:avLst/>
          </a:prstGeom>
          <a:solidFill>
            <a:srgbClr val="9AAAC2"/>
          </a:solidFill>
          <a:ln/>
        </p:spPr>
      </p:sp>
      <p:sp>
        <p:nvSpPr>
          <p:cNvPr id="12" name="Shape 8"/>
          <p:cNvSpPr/>
          <p:nvPr/>
        </p:nvSpPr>
        <p:spPr>
          <a:xfrm>
            <a:off x="7372350" y="3327400"/>
            <a:ext cx="1219200" cy="289560"/>
          </a:xfrm>
          <a:prstGeom prst="roundRect">
            <a:avLst>
              <a:gd name="adj" fmla="val 157895"/>
            </a:avLst>
          </a:prstGeom>
          <a:solidFill>
            <a:srgbClr val="E1EBFB"/>
          </a:solidFill>
          <a:ln/>
        </p:spPr>
      </p:sp>
      <p:sp>
        <p:nvSpPr>
          <p:cNvPr id="13" name="Text 9"/>
          <p:cNvSpPr txBox="1"/>
          <p:nvPr/>
        </p:nvSpPr>
        <p:spPr>
          <a:xfrm>
            <a:off x="7372350" y="3327400"/>
            <a:ext cx="1219200" cy="289560"/>
          </a:xfrm>
          <a:prstGeom prst="rect">
            <a:avLst/>
          </a:prstGeom>
          <a:noFill/>
          <a:ln/>
        </p:spPr>
        <p:txBody>
          <a:bodyPr wrap="square" lIns="0" tIns="0" rIns="0" bIns="0" rtlCol="0" anchor="ctr"/>
          <a:lstStyle/>
          <a:p>
            <a:pPr algn="ctr" indent="0" marL="0">
              <a:buNone/>
            </a:pPr>
            <a:r>
              <a:rPr lang="en-US" sz="1200" b="1" dirty="0">
                <a:solidFill>
                  <a:srgbClr val="1F5FC4"/>
                </a:solidFill>
                <a:latin typeface="Arial" pitchFamily="34" charset="0"/>
                <a:ea typeface="Arial" pitchFamily="34" charset="-122"/>
                <a:cs typeface="Arial" pitchFamily="34" charset="-120"/>
              </a:rPr>
              <a:t>En revisión</a:t>
            </a:r>
            <a:endParaRPr lang="en-US" sz="1200" dirty="0"/>
          </a:p>
        </p:txBody>
      </p:sp>
      <p:sp>
        <p:nvSpPr>
          <p:cNvPr id="14" name="Shape 10"/>
          <p:cNvSpPr/>
          <p:nvPr/>
        </p:nvSpPr>
        <p:spPr>
          <a:xfrm>
            <a:off x="8693150" y="3397250"/>
            <a:ext cx="254000" cy="139700"/>
          </a:xfrm>
          <a:prstGeom prst="rightArrow">
            <a:avLst/>
          </a:prstGeom>
          <a:solidFill>
            <a:srgbClr val="9AAAC2"/>
          </a:solidFill>
          <a:ln/>
        </p:spPr>
      </p:sp>
      <p:sp>
        <p:nvSpPr>
          <p:cNvPr id="15" name="Shape 11"/>
          <p:cNvSpPr/>
          <p:nvPr/>
        </p:nvSpPr>
        <p:spPr>
          <a:xfrm>
            <a:off x="5613400" y="3810000"/>
            <a:ext cx="1130300" cy="289560"/>
          </a:xfrm>
          <a:prstGeom prst="roundRect">
            <a:avLst>
              <a:gd name="adj" fmla="val 157895"/>
            </a:avLst>
          </a:prstGeom>
          <a:solidFill>
            <a:srgbClr val="DFF1E7"/>
          </a:solidFill>
          <a:ln/>
        </p:spPr>
      </p:sp>
      <p:sp>
        <p:nvSpPr>
          <p:cNvPr id="16" name="Text 12"/>
          <p:cNvSpPr txBox="1"/>
          <p:nvPr/>
        </p:nvSpPr>
        <p:spPr>
          <a:xfrm>
            <a:off x="5613400" y="3810000"/>
            <a:ext cx="1130300" cy="289560"/>
          </a:xfrm>
          <a:prstGeom prst="rect">
            <a:avLst/>
          </a:prstGeom>
          <a:noFill/>
          <a:ln/>
        </p:spPr>
        <p:txBody>
          <a:bodyPr wrap="square" lIns="0" tIns="0" rIns="0" bIns="0" rtlCol="0" anchor="ctr"/>
          <a:lstStyle/>
          <a:p>
            <a:pPr algn="ctr" indent="0" marL="0">
              <a:buNone/>
            </a:pPr>
            <a:r>
              <a:rPr lang="en-US" sz="1200" b="1" dirty="0">
                <a:solidFill>
                  <a:srgbClr val="1D7A4C"/>
                </a:solidFill>
                <a:latin typeface="Arial" pitchFamily="34" charset="0"/>
                <a:ea typeface="Arial" pitchFamily="34" charset="-122"/>
                <a:cs typeface="Arial" pitchFamily="34" charset="-120"/>
              </a:rPr>
              <a:t>Confirmado</a:t>
            </a:r>
            <a:endParaRPr lang="en-US" sz="1200" dirty="0"/>
          </a:p>
        </p:txBody>
      </p:sp>
      <p:sp>
        <p:nvSpPr>
          <p:cNvPr id="17" name="Shape 13"/>
          <p:cNvSpPr/>
          <p:nvPr/>
        </p:nvSpPr>
        <p:spPr>
          <a:xfrm>
            <a:off x="6819900" y="3810000"/>
            <a:ext cx="1562100" cy="289560"/>
          </a:xfrm>
          <a:prstGeom prst="roundRect">
            <a:avLst>
              <a:gd name="adj" fmla="val 157895"/>
            </a:avLst>
          </a:prstGeom>
          <a:solidFill>
            <a:srgbClr val="ECE6FA"/>
          </a:solidFill>
          <a:ln/>
        </p:spPr>
      </p:sp>
      <p:sp>
        <p:nvSpPr>
          <p:cNvPr id="18" name="Text 14"/>
          <p:cNvSpPr txBox="1"/>
          <p:nvPr/>
        </p:nvSpPr>
        <p:spPr>
          <a:xfrm>
            <a:off x="6819900" y="3810000"/>
            <a:ext cx="1562100" cy="289560"/>
          </a:xfrm>
          <a:prstGeom prst="rect">
            <a:avLst/>
          </a:prstGeom>
          <a:noFill/>
          <a:ln/>
        </p:spPr>
        <p:txBody>
          <a:bodyPr wrap="square" lIns="0" tIns="0" rIns="0" bIns="0" rtlCol="0" anchor="ctr"/>
          <a:lstStyle/>
          <a:p>
            <a:pPr algn="ctr" indent="0" marL="0">
              <a:buNone/>
            </a:pPr>
            <a:r>
              <a:rPr lang="en-US" sz="1200" b="1" dirty="0">
                <a:solidFill>
                  <a:srgbClr val="6744BF"/>
                </a:solidFill>
                <a:latin typeface="Arial" pitchFamily="34" charset="0"/>
                <a:ea typeface="Arial" pitchFamily="34" charset="-122"/>
                <a:cs typeface="Arial" pitchFamily="34" charset="-120"/>
              </a:rPr>
              <a:t>Lista de espera</a:t>
            </a:r>
            <a:endParaRPr lang="en-US" sz="1200" dirty="0"/>
          </a:p>
        </p:txBody>
      </p:sp>
      <p:sp>
        <p:nvSpPr>
          <p:cNvPr id="19" name="Shape 15"/>
          <p:cNvSpPr/>
          <p:nvPr/>
        </p:nvSpPr>
        <p:spPr>
          <a:xfrm>
            <a:off x="8458200" y="3810000"/>
            <a:ext cx="1047750" cy="289560"/>
          </a:xfrm>
          <a:prstGeom prst="roundRect">
            <a:avLst>
              <a:gd name="adj" fmla="val 157895"/>
            </a:avLst>
          </a:prstGeom>
          <a:solidFill>
            <a:srgbClr val="FAE3E1"/>
          </a:solidFill>
          <a:ln/>
        </p:spPr>
      </p:sp>
      <p:sp>
        <p:nvSpPr>
          <p:cNvPr id="20" name="Text 16"/>
          <p:cNvSpPr txBox="1"/>
          <p:nvPr/>
        </p:nvSpPr>
        <p:spPr>
          <a:xfrm>
            <a:off x="8458200" y="3810000"/>
            <a:ext cx="1047750" cy="289560"/>
          </a:xfrm>
          <a:prstGeom prst="rect">
            <a:avLst/>
          </a:prstGeom>
          <a:noFill/>
          <a:ln/>
        </p:spPr>
        <p:txBody>
          <a:bodyPr wrap="square" lIns="0" tIns="0" rIns="0" bIns="0" rtlCol="0" anchor="ctr"/>
          <a:lstStyle/>
          <a:p>
            <a:pPr algn="ctr" indent="0" marL="0">
              <a:buNone/>
            </a:pPr>
            <a:r>
              <a:rPr lang="en-US" sz="1200" b="1" dirty="0">
                <a:solidFill>
                  <a:srgbClr val="BF3A30"/>
                </a:solidFill>
                <a:latin typeface="Arial" pitchFamily="34" charset="0"/>
                <a:ea typeface="Arial" pitchFamily="34" charset="-122"/>
                <a:cs typeface="Arial" pitchFamily="34" charset="-120"/>
              </a:rPr>
              <a:t>Rechazado</a:t>
            </a:r>
            <a:endParaRPr lang="en-US" sz="1200" dirty="0"/>
          </a:p>
        </p:txBody>
      </p:sp>
      <p:sp>
        <p:nvSpPr>
          <p:cNvPr id="21" name="Text 17"/>
          <p:cNvSpPr txBox="1"/>
          <p:nvPr/>
        </p:nvSpPr>
        <p:spPr>
          <a:xfrm>
            <a:off x="5613400" y="4381500"/>
            <a:ext cx="5715000" cy="1016000"/>
          </a:xfrm>
          <a:prstGeom prst="rect">
            <a:avLst/>
          </a:prstGeom>
          <a:noFill/>
          <a:ln/>
        </p:spPr>
        <p:txBody>
          <a:bodyPr wrap="square" lIns="0" tIns="0" rIns="0" bIns="0" rtlCol="0" anchor="t"/>
          <a:lstStyle/>
          <a:p>
            <a:pPr indent="0" marL="0">
              <a:lnSpc>
                <a:spcPct val="125000"/>
              </a:lnSpc>
              <a:buNone/>
            </a:pPr>
            <a:r>
              <a:rPr lang="en-US" sz="1300" dirty="0">
                <a:solidFill>
                  <a:srgbClr val="4A5A70"/>
                </a:solidFill>
                <a:latin typeface="Arial" pitchFamily="34" charset="0"/>
                <a:ea typeface="Arial" pitchFamily="34" charset="-122"/>
                <a:cs typeface="Arial" pitchFamily="34" charset="-120"/>
              </a:rPr>
              <a:t>Cada documento se aprueba u observa. Confirmar exige los cuatro aprobados, rechazar pide un motivo y cada cambio guarda quién y cuándo.</a:t>
            </a:r>
            <a:endParaRPr lang="en-US" sz="1300" dirty="0"/>
          </a:p>
        </p:txBody>
      </p:sp>
      <p:sp>
        <p:nvSpPr>
          <p:cNvPr id="22" name="Text 18"/>
          <p:cNvSpPr txBox="1"/>
          <p:nvPr/>
        </p:nvSpPr>
        <p:spPr>
          <a:xfrm>
            <a:off x="812800" y="6235700"/>
            <a:ext cx="6350000" cy="215900"/>
          </a:xfrm>
          <a:prstGeom prst="rect">
            <a:avLst/>
          </a:prstGeom>
          <a:noFill/>
          <a:ln/>
        </p:spPr>
        <p:txBody>
          <a:bodyPr wrap="square" lIns="0" tIns="0" rIns="0" bIns="0" rtlCol="0" anchor="t"/>
          <a:lstStyle/>
          <a:p>
            <a:pPr indent="0" marL="0">
              <a:buNone/>
            </a:pPr>
            <a:r>
              <a:rPr lang="en-US" sz="1200" dirty="0">
                <a:solidFill>
                  <a:srgbClr val="5A6A80"/>
                </a:solidFill>
                <a:latin typeface="Arial" pitchFamily="34" charset="0"/>
                <a:ea typeface="Arial" pitchFamily="34" charset="-122"/>
                <a:cs typeface="Arial" pitchFamily="34" charset="-120"/>
              </a:rPr>
              <a:t>SIGA · Primera cohorte · Circuito de ingreso</a:t>
            </a:r>
            <a:endParaRPr lang="en-US" sz="1200" dirty="0"/>
          </a:p>
        </p:txBody>
      </p:sp>
      <p:sp>
        <p:nvSpPr>
          <p:cNvPr id="23" name="Text 19"/>
          <p:cNvSpPr txBox="1"/>
          <p:nvPr/>
        </p:nvSpPr>
        <p:spPr>
          <a:xfrm>
            <a:off x="10109200" y="6235700"/>
            <a:ext cx="1270000" cy="215900"/>
          </a:xfrm>
          <a:prstGeom prst="rect">
            <a:avLst/>
          </a:prstGeom>
          <a:noFill/>
          <a:ln/>
        </p:spPr>
        <p:txBody>
          <a:bodyPr wrap="square" lIns="0" tIns="0" rIns="0" bIns="0" rtlCol="0" anchor="t"/>
          <a:lstStyle/>
          <a:p>
            <a:pPr algn="r" indent="0" marL="0">
              <a:buNone/>
            </a:pPr>
            <a:r>
              <a:rPr lang="en-US" sz="1200" dirty="0">
                <a:solidFill>
                  <a:srgbClr val="5A6A80"/>
                </a:solidFill>
                <a:latin typeface="Arial" pitchFamily="34" charset="0"/>
                <a:ea typeface="Arial" pitchFamily="34" charset="-122"/>
                <a:cs typeface="Arial"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5900"/>
          </a:xfrm>
          <a:prstGeom prst="rect">
            <a:avLst/>
          </a:prstGeom>
          <a:noFill/>
          <a:ln/>
        </p:spPr>
        <p:txBody>
          <a:bodyPr wrap="square" lIns="0" tIns="0" rIns="0" bIns="0" rtlCol="0" anchor="t"/>
          <a:lstStyle/>
          <a:p>
            <a:pPr indent="0" marL="0">
              <a:buNone/>
            </a:pPr>
            <a:r>
              <a:rPr lang="en-US" sz="1200" b="1" spc="150" kern="0" dirty="0">
                <a:solidFill>
                  <a:srgbClr val="2E5FC7"/>
                </a:solidFill>
                <a:latin typeface="Arial" pitchFamily="34" charset="0"/>
                <a:ea typeface="Arial" pitchFamily="34" charset="-122"/>
                <a:cs typeface="Arial" pitchFamily="34" charset="-120"/>
              </a:rPr>
              <a:t>PROYECTO</a:t>
            </a:r>
            <a:endParaRPr lang="en-US" sz="1200" dirty="0"/>
          </a:p>
        </p:txBody>
      </p:sp>
      <p:sp>
        <p:nvSpPr>
          <p:cNvPr id="3" name="Text 1"/>
          <p:cNvSpPr txBox="1"/>
          <p:nvPr/>
        </p:nvSpPr>
        <p:spPr>
          <a:xfrm>
            <a:off x="812800" y="1066800"/>
            <a:ext cx="10566400" cy="444500"/>
          </a:xfrm>
          <a:prstGeom prst="rect">
            <a:avLst/>
          </a:prstGeom>
          <a:noFill/>
          <a:ln/>
        </p:spPr>
        <p:txBody>
          <a:bodyPr wrap="square" lIns="0" tIns="0" rIns="0" bIns="0" rtlCol="0" anchor="t"/>
          <a:lstStyle/>
          <a:p>
            <a:pPr indent="0" marL="0">
              <a:lnSpc>
                <a:spcPct val="100000"/>
              </a:lnSpc>
              <a:buNone/>
            </a:pPr>
            <a:r>
              <a:rPr lang="en-US" sz="2800" b="1" dirty="0">
                <a:solidFill>
                  <a:srgbClr val="13213A"/>
                </a:solidFill>
                <a:latin typeface="Arial" pitchFamily="34" charset="0"/>
                <a:ea typeface="Arial" pitchFamily="34" charset="-122"/>
                <a:cs typeface="Arial" pitchFamily="34" charset="-120"/>
              </a:rPr>
              <a:t>Un proyecto Django, una app por rol</a:t>
            </a:r>
            <a:endParaRPr lang="en-US" sz="2800" dirty="0"/>
          </a:p>
        </p:txBody>
      </p:sp>
      <p:sp>
        <p:nvSpPr>
          <p:cNvPr id="4" name="Shape 2"/>
          <p:cNvSpPr/>
          <p:nvPr/>
        </p:nvSpPr>
        <p:spPr>
          <a:xfrm>
            <a:off x="812800" y="1778000"/>
            <a:ext cx="3556000" cy="3500120"/>
          </a:xfrm>
          <a:prstGeom prst="roundRect">
            <a:avLst>
              <a:gd name="adj" fmla="val 4354"/>
            </a:avLst>
          </a:prstGeom>
          <a:solidFill>
            <a:srgbClr val="13294B"/>
          </a:solidFill>
          <a:ln/>
        </p:spPr>
      </p:sp>
      <p:sp>
        <p:nvSpPr>
          <p:cNvPr id="5" name="Text 3"/>
          <p:cNvSpPr txBox="1"/>
          <p:nvPr/>
        </p:nvSpPr>
        <p:spPr>
          <a:xfrm>
            <a:off x="1066800" y="1981200"/>
            <a:ext cx="3048000" cy="3093720"/>
          </a:xfrm>
          <a:prstGeom prst="rect">
            <a:avLst/>
          </a:prstGeom>
          <a:noFill/>
          <a:ln/>
        </p:spPr>
        <p:txBody>
          <a:bodyPr wrap="square" lIns="0" tIns="0" rIns="0" bIns="0" rtlCol="0" anchor="t"/>
          <a:lstStyle/>
          <a:p>
            <a:pPr indent="0" marL="0">
              <a:lnSpc>
                <a:spcPct val="120000"/>
              </a:lnSpc>
              <a:buNone/>
            </a:pPr>
            <a:r>
              <a:rPr lang="en-US" sz="1200" dirty="0">
                <a:solidFill>
                  <a:srgbClr val="F4F6F9"/>
                </a:solidFill>
                <a:latin typeface="Consolas" pitchFamily="34" charset="0"/>
                <a:ea typeface="Consolas" pitchFamily="34" charset="-122"/>
                <a:cs typeface="Consolas" pitchFamily="34" charset="-120"/>
              </a:rPr>
              <a:t>siga/</a:t>
            </a:r>
            <a:endParaRPr lang="en-US" sz="1200" dirty="0"/>
          </a:p>
          <a:p>
            <a:pPr indent="0" marL="0">
              <a:lnSpc>
                <a:spcPct val="120000"/>
              </a:lnSpc>
              <a:buNone/>
            </a:pPr>
            <a:r>
              <a:rPr lang="en-US" sz="1200" dirty="0">
                <a:solidFill>
                  <a:srgbClr val="F4F6F9"/>
                </a:solidFill>
                <a:latin typeface="Consolas" pitchFamily="34" charset="0"/>
                <a:ea typeface="Consolas" pitchFamily="34" charset="-122"/>
                <a:cs typeface="Consolas" pitchFamily="34" charset="-120"/>
              </a:rPr>
              <a:t>├─ docker-compose.yml</a:t>
            </a:r>
            <a:endParaRPr lang="en-US" sz="1200" dirty="0"/>
          </a:p>
          <a:p>
            <a:pPr indent="0" marL="0">
              <a:lnSpc>
                <a:spcPct val="120000"/>
              </a:lnSpc>
              <a:buNone/>
            </a:pPr>
            <a:r>
              <a:rPr lang="en-US" sz="1200" dirty="0">
                <a:solidFill>
                  <a:srgbClr val="F4F6F9"/>
                </a:solidFill>
                <a:latin typeface="Consolas" pitchFamily="34" charset="0"/>
                <a:ea typeface="Consolas" pitchFamily="34" charset="-122"/>
                <a:cs typeface="Consolas" pitchFamily="34" charset="-120"/>
              </a:rPr>
              <a:t>├─ Dockerfile</a:t>
            </a:r>
            <a:endParaRPr lang="en-US" sz="1200" dirty="0"/>
          </a:p>
          <a:p>
            <a:pPr indent="0" marL="0">
              <a:lnSpc>
                <a:spcPct val="120000"/>
              </a:lnSpc>
              <a:buNone/>
            </a:pPr>
            <a:r>
              <a:rPr lang="en-US" sz="1200" dirty="0">
                <a:solidFill>
                  <a:srgbClr val="F4F6F9"/>
                </a:solidFill>
                <a:latin typeface="Consolas" pitchFamily="34" charset="0"/>
                <a:ea typeface="Consolas" pitchFamily="34" charset="-122"/>
                <a:cs typeface="Consolas" pitchFamily="34" charset="-120"/>
              </a:rPr>
              <a:t>├─ manage.py</a:t>
            </a:r>
            <a:endParaRPr lang="en-US" sz="1200" dirty="0"/>
          </a:p>
          <a:p>
            <a:pPr indent="0" marL="0">
              <a:lnSpc>
                <a:spcPct val="120000"/>
              </a:lnSpc>
              <a:buNone/>
            </a:pPr>
            <a:r>
              <a:rPr lang="en-US" sz="1200" dirty="0">
                <a:solidFill>
                  <a:srgbClr val="F4F6F9"/>
                </a:solidFill>
                <a:latin typeface="Consolas" pitchFamily="34" charset="0"/>
                <a:ea typeface="Consolas" pitchFamily="34" charset="-122"/>
                <a:cs typeface="Consolas" pitchFamily="34" charset="-120"/>
              </a:rPr>
              <a:t>├─ config/settings/</a:t>
            </a:r>
            <a:endParaRPr lang="en-US" sz="1200" dirty="0"/>
          </a:p>
          <a:p>
            <a:pPr indent="0" marL="0">
              <a:lnSpc>
                <a:spcPct val="120000"/>
              </a:lnSpc>
              <a:buNone/>
            </a:pPr>
            <a:r>
              <a:rPr lang="en-US" sz="1200" dirty="0">
                <a:solidFill>
                  <a:srgbClr val="F4F6F9"/>
                </a:solidFill>
                <a:latin typeface="Consolas" pitchFamily="34" charset="0"/>
                <a:ea typeface="Consolas" pitchFamily="34" charset="-122"/>
                <a:cs typeface="Consolas" pitchFamily="34" charset="-120"/>
              </a:rPr>
              <a:t>├─ apps/</a:t>
            </a:r>
            <a:endParaRPr lang="en-US" sz="1200" dirty="0"/>
          </a:p>
          <a:p>
            <a:pPr indent="0" marL="0">
              <a:lnSpc>
                <a:spcPct val="120000"/>
              </a:lnSpc>
              <a:buNone/>
            </a:pPr>
            <a:r>
              <a:rPr lang="en-US" sz="1200" dirty="0">
                <a:solidFill>
                  <a:srgbClr val="F4F6F9"/>
                </a:solidFill>
                <a:latin typeface="Consolas" pitchFamily="34" charset="0"/>
                <a:ea typeface="Consolas" pitchFamily="34" charset="-122"/>
                <a:cs typeface="Consolas" pitchFamily="34" charset="-120"/>
              </a:rPr>
              <a:t>│  ├─ core/</a:t>
            </a:r>
            <a:endParaRPr lang="en-US" sz="1200" dirty="0"/>
          </a:p>
          <a:p>
            <a:pPr indent="0" marL="0">
              <a:lnSpc>
                <a:spcPct val="120000"/>
              </a:lnSpc>
              <a:buNone/>
            </a:pPr>
            <a:r>
              <a:rPr lang="en-US" sz="1200" dirty="0">
                <a:solidFill>
                  <a:srgbClr val="F4F6F9"/>
                </a:solidFill>
                <a:latin typeface="Consolas" pitchFamily="34" charset="0"/>
                <a:ea typeface="Consolas" pitchFamily="34" charset="-122"/>
                <a:cs typeface="Consolas" pitchFamily="34" charset="-120"/>
              </a:rPr>
              <a:t>│  ├─ admisiones/</a:t>
            </a:r>
            <a:endParaRPr lang="en-US" sz="1200" dirty="0"/>
          </a:p>
          <a:p>
            <a:pPr indent="0" marL="0">
              <a:lnSpc>
                <a:spcPct val="120000"/>
              </a:lnSpc>
              <a:buNone/>
            </a:pPr>
            <a:r>
              <a:rPr lang="en-US" sz="1200" dirty="0">
                <a:solidFill>
                  <a:srgbClr val="F4F6F9"/>
                </a:solidFill>
                <a:latin typeface="Consolas" pitchFamily="34" charset="0"/>
                <a:ea typeface="Consolas" pitchFamily="34" charset="-122"/>
                <a:cs typeface="Consolas" pitchFamily="34" charset="-120"/>
              </a:rPr>
              <a:t>│  ├─ preinscripcion/</a:t>
            </a:r>
            <a:endParaRPr lang="en-US" sz="1200" dirty="0"/>
          </a:p>
          <a:p>
            <a:pPr indent="0" marL="0">
              <a:lnSpc>
                <a:spcPct val="120000"/>
              </a:lnSpc>
              <a:buNone/>
            </a:pPr>
            <a:r>
              <a:rPr lang="en-US" sz="1200" dirty="0">
                <a:solidFill>
                  <a:srgbClr val="F4F6F9"/>
                </a:solidFill>
                <a:latin typeface="Consolas" pitchFamily="34" charset="0"/>
                <a:ea typeface="Consolas" pitchFamily="34" charset="-122"/>
                <a:cs typeface="Consolas" pitchFamily="34" charset="-120"/>
              </a:rPr>
              <a:t>│  ├─ administracion/</a:t>
            </a:r>
            <a:endParaRPr lang="en-US" sz="1200" dirty="0"/>
          </a:p>
          <a:p>
            <a:pPr indent="0" marL="0">
              <a:lnSpc>
                <a:spcPct val="120000"/>
              </a:lnSpc>
              <a:buNone/>
            </a:pPr>
            <a:r>
              <a:rPr lang="en-US" sz="1200" dirty="0">
                <a:solidFill>
                  <a:srgbClr val="F4F6F9"/>
                </a:solidFill>
                <a:latin typeface="Consolas" pitchFamily="34" charset="0"/>
                <a:ea typeface="Consolas" pitchFamily="34" charset="-122"/>
                <a:cs typeface="Consolas" pitchFamily="34" charset="-120"/>
              </a:rPr>
              <a:t>│  ├─ estudiantes/</a:t>
            </a:r>
            <a:endParaRPr lang="en-US" sz="1200" dirty="0"/>
          </a:p>
          <a:p>
            <a:pPr indent="0" marL="0">
              <a:lnSpc>
                <a:spcPct val="120000"/>
              </a:lnSpc>
              <a:buNone/>
            </a:pPr>
            <a:r>
              <a:rPr lang="en-US" sz="1200" dirty="0">
                <a:solidFill>
                  <a:srgbClr val="F4F6F9"/>
                </a:solidFill>
                <a:latin typeface="Consolas" pitchFamily="34" charset="0"/>
                <a:ea typeface="Consolas" pitchFamily="34" charset="-122"/>
                <a:cs typeface="Consolas" pitchFamily="34" charset="-120"/>
              </a:rPr>
              <a:t>│  └─ docentes/</a:t>
            </a:r>
            <a:endParaRPr lang="en-US" sz="1200" dirty="0"/>
          </a:p>
          <a:p>
            <a:pPr indent="0" marL="0">
              <a:lnSpc>
                <a:spcPct val="120000"/>
              </a:lnSpc>
              <a:buNone/>
            </a:pPr>
            <a:r>
              <a:rPr lang="en-US" sz="1200" dirty="0">
                <a:solidFill>
                  <a:srgbClr val="F4F6F9"/>
                </a:solidFill>
                <a:latin typeface="Consolas" pitchFamily="34" charset="0"/>
                <a:ea typeface="Consolas" pitchFamily="34" charset="-122"/>
                <a:cs typeface="Consolas" pitchFamily="34" charset="-120"/>
              </a:rPr>
              <a:t>├─ templates/ · static/</a:t>
            </a:r>
            <a:endParaRPr lang="en-US" sz="1200" dirty="0"/>
          </a:p>
          <a:p>
            <a:pPr indent="0" marL="0">
              <a:lnSpc>
                <a:spcPct val="120000"/>
              </a:lnSpc>
              <a:buNone/>
            </a:pPr>
            <a:r>
              <a:rPr lang="en-US" sz="1200" dirty="0">
                <a:solidFill>
                  <a:srgbClr val="F4F6F9"/>
                </a:solidFill>
                <a:latin typeface="Consolas" pitchFamily="34" charset="0"/>
                <a:ea typeface="Consolas" pitchFamily="34" charset="-122"/>
                <a:cs typeface="Consolas" pitchFamily="34" charset="-120"/>
              </a:rPr>
              <a:t>└─ media/  (privado)</a:t>
            </a:r>
            <a:endParaRPr lang="en-US" sz="1200" dirty="0"/>
          </a:p>
        </p:txBody>
      </p:sp>
      <p:sp>
        <p:nvSpPr>
          <p:cNvPr id="6" name="Shape 4"/>
          <p:cNvSpPr/>
          <p:nvPr/>
        </p:nvSpPr>
        <p:spPr>
          <a:xfrm>
            <a:off x="4775200" y="1778000"/>
            <a:ext cx="6604000" cy="0"/>
          </a:xfrm>
          <a:prstGeom prst="line">
            <a:avLst/>
          </a:prstGeom>
          <a:noFill/>
          <a:ln w="12700">
            <a:solidFill>
              <a:srgbClr val="DCE2EB"/>
            </a:solidFill>
            <a:prstDash val="solid"/>
          </a:ln>
        </p:spPr>
      </p:sp>
      <p:sp>
        <p:nvSpPr>
          <p:cNvPr id="7" name="Text 5"/>
          <p:cNvSpPr txBox="1"/>
          <p:nvPr/>
        </p:nvSpPr>
        <p:spPr>
          <a:xfrm>
            <a:off x="4775200" y="1892300"/>
            <a:ext cx="4826000" cy="254000"/>
          </a:xfrm>
          <a:prstGeom prst="rect">
            <a:avLst/>
          </a:prstGeom>
          <a:noFill/>
          <a:ln/>
        </p:spPr>
        <p:txBody>
          <a:bodyPr wrap="square" lIns="0" tIns="0" rIns="0" bIns="0" rtlCol="0" anchor="t"/>
          <a:lstStyle/>
          <a:p>
            <a:pPr indent="0" marL="0">
              <a:buNone/>
            </a:pPr>
            <a:r>
              <a:rPr lang="en-US" sz="1400" b="1" dirty="0">
                <a:solidFill>
                  <a:srgbClr val="13213A"/>
                </a:solidFill>
                <a:latin typeface="Consolas" pitchFamily="34" charset="0"/>
                <a:ea typeface="Consolas" pitchFamily="34" charset="-122"/>
                <a:cs typeface="Consolas" pitchFamily="34" charset="-120"/>
              </a:rPr>
              <a:t>core</a:t>
            </a:r>
            <a:endParaRPr lang="en-US" sz="1400" dirty="0"/>
          </a:p>
        </p:txBody>
      </p:sp>
      <p:sp>
        <p:nvSpPr>
          <p:cNvPr id="8" name="Text 6"/>
          <p:cNvSpPr txBox="1"/>
          <p:nvPr/>
        </p:nvSpPr>
        <p:spPr>
          <a:xfrm>
            <a:off x="4775200" y="2171700"/>
            <a:ext cx="4826000" cy="254000"/>
          </a:xfrm>
          <a:prstGeom prst="rect">
            <a:avLst/>
          </a:prstGeom>
          <a:noFill/>
          <a:ln/>
        </p:spPr>
        <p:txBody>
          <a:bodyPr wrap="square" lIns="0" tIns="0" rIns="0" bIns="0" rtlCol="0" anchor="t"/>
          <a:lstStyle/>
          <a:p>
            <a:pPr indent="0" marL="0">
              <a:buNone/>
            </a:pPr>
            <a:r>
              <a:rPr lang="en-US" sz="1300" dirty="0">
                <a:solidFill>
                  <a:srgbClr val="4A5A70"/>
                </a:solidFill>
                <a:latin typeface="Arial" pitchFamily="34" charset="0"/>
                <a:ea typeface="Arial" pitchFamily="34" charset="-122"/>
                <a:cs typeface="Arial" pitchFamily="34" charset="-120"/>
              </a:rPr>
              <a:t>Usuarios, roles, carreras, planes y períodos.</a:t>
            </a:r>
            <a:endParaRPr lang="en-US" sz="1300" dirty="0"/>
          </a:p>
        </p:txBody>
      </p:sp>
      <p:sp>
        <p:nvSpPr>
          <p:cNvPr id="9" name="Shape 7"/>
          <p:cNvSpPr/>
          <p:nvPr/>
        </p:nvSpPr>
        <p:spPr>
          <a:xfrm>
            <a:off x="10756900" y="2019300"/>
            <a:ext cx="622300" cy="289560"/>
          </a:xfrm>
          <a:prstGeom prst="roundRect">
            <a:avLst>
              <a:gd name="adj" fmla="val 157895"/>
            </a:avLst>
          </a:prstGeom>
          <a:solidFill>
            <a:srgbClr val="E6EAF0"/>
          </a:solidFill>
          <a:ln/>
        </p:spPr>
      </p:sp>
      <p:sp>
        <p:nvSpPr>
          <p:cNvPr id="10" name="Text 8"/>
          <p:cNvSpPr txBox="1"/>
          <p:nvPr/>
        </p:nvSpPr>
        <p:spPr>
          <a:xfrm>
            <a:off x="10756900" y="2019300"/>
            <a:ext cx="622300" cy="289560"/>
          </a:xfrm>
          <a:prstGeom prst="rect">
            <a:avLst/>
          </a:prstGeom>
          <a:noFill/>
          <a:ln/>
        </p:spPr>
        <p:txBody>
          <a:bodyPr wrap="square" lIns="0" tIns="0" rIns="0" bIns="0" rtlCol="0" anchor="ctr"/>
          <a:lstStyle/>
          <a:p>
            <a:pPr algn="ctr" indent="0" marL="0">
              <a:buNone/>
            </a:pPr>
            <a:r>
              <a:rPr lang="en-US" sz="1200" b="1" dirty="0">
                <a:solidFill>
                  <a:srgbClr val="475569"/>
                </a:solidFill>
                <a:latin typeface="Arial" pitchFamily="34" charset="0"/>
                <a:ea typeface="Arial" pitchFamily="34" charset="-122"/>
                <a:cs typeface="Arial" pitchFamily="34" charset="-120"/>
              </a:rPr>
              <a:t>base</a:t>
            </a:r>
            <a:endParaRPr lang="en-US" sz="1200" dirty="0"/>
          </a:p>
        </p:txBody>
      </p:sp>
      <p:sp>
        <p:nvSpPr>
          <p:cNvPr id="11" name="Shape 9"/>
          <p:cNvSpPr/>
          <p:nvPr/>
        </p:nvSpPr>
        <p:spPr>
          <a:xfrm>
            <a:off x="4775200" y="2565400"/>
            <a:ext cx="6604000" cy="0"/>
          </a:xfrm>
          <a:prstGeom prst="line">
            <a:avLst/>
          </a:prstGeom>
          <a:noFill/>
          <a:ln w="12700">
            <a:solidFill>
              <a:srgbClr val="DCE2EB"/>
            </a:solidFill>
            <a:prstDash val="solid"/>
          </a:ln>
        </p:spPr>
      </p:sp>
      <p:sp>
        <p:nvSpPr>
          <p:cNvPr id="12" name="Text 10"/>
          <p:cNvSpPr txBox="1"/>
          <p:nvPr/>
        </p:nvSpPr>
        <p:spPr>
          <a:xfrm>
            <a:off x="4775200" y="2679700"/>
            <a:ext cx="4826000" cy="254000"/>
          </a:xfrm>
          <a:prstGeom prst="rect">
            <a:avLst/>
          </a:prstGeom>
          <a:noFill/>
          <a:ln/>
        </p:spPr>
        <p:txBody>
          <a:bodyPr wrap="square" lIns="0" tIns="0" rIns="0" bIns="0" rtlCol="0" anchor="t"/>
          <a:lstStyle/>
          <a:p>
            <a:pPr indent="0" marL="0">
              <a:buNone/>
            </a:pPr>
            <a:r>
              <a:rPr lang="en-US" sz="1400" b="1" dirty="0">
                <a:solidFill>
                  <a:srgbClr val="13213A"/>
                </a:solidFill>
                <a:latin typeface="Consolas" pitchFamily="34" charset="0"/>
                <a:ea typeface="Consolas" pitchFamily="34" charset="-122"/>
                <a:cs typeface="Consolas" pitchFamily="34" charset="-120"/>
              </a:rPr>
              <a:t>admisiones</a:t>
            </a:r>
            <a:endParaRPr lang="en-US" sz="1400" dirty="0"/>
          </a:p>
        </p:txBody>
      </p:sp>
      <p:sp>
        <p:nvSpPr>
          <p:cNvPr id="13" name="Text 11"/>
          <p:cNvSpPr txBox="1"/>
          <p:nvPr/>
        </p:nvSpPr>
        <p:spPr>
          <a:xfrm>
            <a:off x="4775200" y="2959100"/>
            <a:ext cx="4826000" cy="254000"/>
          </a:xfrm>
          <a:prstGeom prst="rect">
            <a:avLst/>
          </a:prstGeom>
          <a:noFill/>
          <a:ln/>
        </p:spPr>
        <p:txBody>
          <a:bodyPr wrap="square" lIns="0" tIns="0" rIns="0" bIns="0" rtlCol="0" anchor="t"/>
          <a:lstStyle/>
          <a:p>
            <a:pPr indent="0" marL="0">
              <a:buNone/>
            </a:pPr>
            <a:r>
              <a:rPr lang="en-US" sz="1300" dirty="0">
                <a:solidFill>
                  <a:srgbClr val="4A5A70"/>
                </a:solidFill>
                <a:latin typeface="Arial" pitchFamily="34" charset="0"/>
                <a:ea typeface="Arial" pitchFamily="34" charset="-122"/>
                <a:cs typeface="Arial" pitchFamily="34" charset="-120"/>
              </a:rPr>
              <a:t>Preinscripciones, documentos, estados e historial.</a:t>
            </a:r>
            <a:endParaRPr lang="en-US" sz="1300" dirty="0"/>
          </a:p>
        </p:txBody>
      </p:sp>
      <p:sp>
        <p:nvSpPr>
          <p:cNvPr id="14" name="Shape 12"/>
          <p:cNvSpPr/>
          <p:nvPr/>
        </p:nvSpPr>
        <p:spPr>
          <a:xfrm>
            <a:off x="10077450" y="2806700"/>
            <a:ext cx="1301750" cy="289560"/>
          </a:xfrm>
          <a:prstGeom prst="roundRect">
            <a:avLst>
              <a:gd name="adj" fmla="val 157895"/>
            </a:avLst>
          </a:prstGeom>
          <a:solidFill>
            <a:srgbClr val="E1EBFB"/>
          </a:solidFill>
          <a:ln/>
        </p:spPr>
      </p:sp>
      <p:sp>
        <p:nvSpPr>
          <p:cNvPr id="15" name="Text 13"/>
          <p:cNvSpPr txBox="1"/>
          <p:nvPr/>
        </p:nvSpPr>
        <p:spPr>
          <a:xfrm>
            <a:off x="10077450" y="2806700"/>
            <a:ext cx="1301750" cy="289560"/>
          </a:xfrm>
          <a:prstGeom prst="rect">
            <a:avLst/>
          </a:prstGeom>
          <a:noFill/>
          <a:ln/>
        </p:spPr>
        <p:txBody>
          <a:bodyPr wrap="square" lIns="0" tIns="0" rIns="0" bIns="0" rtlCol="0" anchor="ctr"/>
          <a:lstStyle/>
          <a:p>
            <a:pPr algn="ctr" indent="0" marL="0">
              <a:buNone/>
            </a:pPr>
            <a:r>
              <a:rPr lang="en-US" sz="1200" b="1" dirty="0">
                <a:solidFill>
                  <a:srgbClr val="1F5FC4"/>
                </a:solidFill>
                <a:latin typeface="Arial" pitchFamily="34" charset="0"/>
                <a:ea typeface="Arial" pitchFamily="34" charset="-122"/>
                <a:cs typeface="Arial" pitchFamily="34" charset="-120"/>
              </a:rPr>
              <a:t>esta cohorte</a:t>
            </a:r>
            <a:endParaRPr lang="en-US" sz="1200" dirty="0"/>
          </a:p>
        </p:txBody>
      </p:sp>
      <p:sp>
        <p:nvSpPr>
          <p:cNvPr id="16" name="Shape 14"/>
          <p:cNvSpPr/>
          <p:nvPr/>
        </p:nvSpPr>
        <p:spPr>
          <a:xfrm>
            <a:off x="4775200" y="3352800"/>
            <a:ext cx="6604000" cy="0"/>
          </a:xfrm>
          <a:prstGeom prst="line">
            <a:avLst/>
          </a:prstGeom>
          <a:noFill/>
          <a:ln w="12700">
            <a:solidFill>
              <a:srgbClr val="DCE2EB"/>
            </a:solidFill>
            <a:prstDash val="solid"/>
          </a:ln>
        </p:spPr>
      </p:sp>
      <p:sp>
        <p:nvSpPr>
          <p:cNvPr id="17" name="Text 15"/>
          <p:cNvSpPr txBox="1"/>
          <p:nvPr/>
        </p:nvSpPr>
        <p:spPr>
          <a:xfrm>
            <a:off x="4775200" y="3467100"/>
            <a:ext cx="4826000" cy="254000"/>
          </a:xfrm>
          <a:prstGeom prst="rect">
            <a:avLst/>
          </a:prstGeom>
          <a:noFill/>
          <a:ln/>
        </p:spPr>
        <p:txBody>
          <a:bodyPr wrap="square" lIns="0" tIns="0" rIns="0" bIns="0" rtlCol="0" anchor="t"/>
          <a:lstStyle/>
          <a:p>
            <a:pPr indent="0" marL="0">
              <a:buNone/>
            </a:pPr>
            <a:r>
              <a:rPr lang="en-US" sz="1400" b="1" dirty="0">
                <a:solidFill>
                  <a:srgbClr val="13213A"/>
                </a:solidFill>
                <a:latin typeface="Consolas" pitchFamily="34" charset="0"/>
                <a:ea typeface="Consolas" pitchFamily="34" charset="-122"/>
                <a:cs typeface="Consolas" pitchFamily="34" charset="-120"/>
              </a:rPr>
              <a:t>preinscripcion</a:t>
            </a:r>
            <a:endParaRPr lang="en-US" sz="1400" dirty="0"/>
          </a:p>
        </p:txBody>
      </p:sp>
      <p:sp>
        <p:nvSpPr>
          <p:cNvPr id="18" name="Text 16"/>
          <p:cNvSpPr txBox="1"/>
          <p:nvPr/>
        </p:nvSpPr>
        <p:spPr>
          <a:xfrm>
            <a:off x="4775200" y="3746500"/>
            <a:ext cx="4826000" cy="254000"/>
          </a:xfrm>
          <a:prstGeom prst="rect">
            <a:avLst/>
          </a:prstGeom>
          <a:noFill/>
          <a:ln/>
        </p:spPr>
        <p:txBody>
          <a:bodyPr wrap="square" lIns="0" tIns="0" rIns="0" bIns="0" rtlCol="0" anchor="t"/>
          <a:lstStyle/>
          <a:p>
            <a:pPr indent="0" marL="0">
              <a:buNone/>
            </a:pPr>
            <a:r>
              <a:rPr lang="en-US" sz="1300" dirty="0">
                <a:solidFill>
                  <a:srgbClr val="4A5A70"/>
                </a:solidFill>
                <a:latin typeface="Arial" pitchFamily="34" charset="0"/>
                <a:ea typeface="Arial" pitchFamily="34" charset="-122"/>
                <a:cs typeface="Arial" pitchFamily="34" charset="-120"/>
              </a:rPr>
              <a:t>Formulario público. Se puede quitar.</a:t>
            </a:r>
            <a:endParaRPr lang="en-US" sz="1300" dirty="0"/>
          </a:p>
        </p:txBody>
      </p:sp>
      <p:sp>
        <p:nvSpPr>
          <p:cNvPr id="19" name="Shape 17"/>
          <p:cNvSpPr/>
          <p:nvPr/>
        </p:nvSpPr>
        <p:spPr>
          <a:xfrm>
            <a:off x="10160000" y="3594100"/>
            <a:ext cx="1219200" cy="289560"/>
          </a:xfrm>
          <a:prstGeom prst="roundRect">
            <a:avLst>
              <a:gd name="adj" fmla="val 157895"/>
            </a:avLst>
          </a:prstGeom>
          <a:solidFill>
            <a:srgbClr val="ECE6FA"/>
          </a:solidFill>
          <a:ln/>
        </p:spPr>
      </p:sp>
      <p:sp>
        <p:nvSpPr>
          <p:cNvPr id="20" name="Text 18"/>
          <p:cNvSpPr txBox="1"/>
          <p:nvPr/>
        </p:nvSpPr>
        <p:spPr>
          <a:xfrm>
            <a:off x="10160000" y="3594100"/>
            <a:ext cx="1219200" cy="289560"/>
          </a:xfrm>
          <a:prstGeom prst="rect">
            <a:avLst/>
          </a:prstGeom>
          <a:noFill/>
          <a:ln/>
        </p:spPr>
        <p:txBody>
          <a:bodyPr wrap="square" lIns="0" tIns="0" rIns="0" bIns="0" rtlCol="0" anchor="ctr"/>
          <a:lstStyle/>
          <a:p>
            <a:pPr algn="ctr" indent="0" marL="0">
              <a:buNone/>
            </a:pPr>
            <a:r>
              <a:rPr lang="en-US" sz="1200" b="1" dirty="0">
                <a:solidFill>
                  <a:srgbClr val="6744BF"/>
                </a:solidFill>
                <a:latin typeface="Arial" pitchFamily="34" charset="0"/>
                <a:ea typeface="Arial" pitchFamily="34" charset="-122"/>
                <a:cs typeface="Arial" pitchFamily="34" charset="-120"/>
              </a:rPr>
              <a:t>desmontable</a:t>
            </a:r>
            <a:endParaRPr lang="en-US" sz="1200" dirty="0"/>
          </a:p>
        </p:txBody>
      </p:sp>
      <p:sp>
        <p:nvSpPr>
          <p:cNvPr id="21" name="Shape 19"/>
          <p:cNvSpPr/>
          <p:nvPr/>
        </p:nvSpPr>
        <p:spPr>
          <a:xfrm>
            <a:off x="4775200" y="4140200"/>
            <a:ext cx="6604000" cy="0"/>
          </a:xfrm>
          <a:prstGeom prst="line">
            <a:avLst/>
          </a:prstGeom>
          <a:noFill/>
          <a:ln w="12700">
            <a:solidFill>
              <a:srgbClr val="DCE2EB"/>
            </a:solidFill>
            <a:prstDash val="solid"/>
          </a:ln>
        </p:spPr>
      </p:sp>
      <p:sp>
        <p:nvSpPr>
          <p:cNvPr id="22" name="Text 20"/>
          <p:cNvSpPr txBox="1"/>
          <p:nvPr/>
        </p:nvSpPr>
        <p:spPr>
          <a:xfrm>
            <a:off x="4775200" y="4254500"/>
            <a:ext cx="4826000" cy="254000"/>
          </a:xfrm>
          <a:prstGeom prst="rect">
            <a:avLst/>
          </a:prstGeom>
          <a:noFill/>
          <a:ln/>
        </p:spPr>
        <p:txBody>
          <a:bodyPr wrap="square" lIns="0" tIns="0" rIns="0" bIns="0" rtlCol="0" anchor="t"/>
          <a:lstStyle/>
          <a:p>
            <a:pPr indent="0" marL="0">
              <a:buNone/>
            </a:pPr>
            <a:r>
              <a:rPr lang="en-US" sz="1400" b="1" dirty="0">
                <a:solidFill>
                  <a:srgbClr val="13213A"/>
                </a:solidFill>
                <a:latin typeface="Consolas" pitchFamily="34" charset="0"/>
                <a:ea typeface="Consolas" pitchFamily="34" charset="-122"/>
                <a:cs typeface="Consolas" pitchFamily="34" charset="-120"/>
              </a:rPr>
              <a:t>administracion</a:t>
            </a:r>
            <a:endParaRPr lang="en-US" sz="1400" dirty="0"/>
          </a:p>
        </p:txBody>
      </p:sp>
      <p:sp>
        <p:nvSpPr>
          <p:cNvPr id="23" name="Text 21"/>
          <p:cNvSpPr txBox="1"/>
          <p:nvPr/>
        </p:nvSpPr>
        <p:spPr>
          <a:xfrm>
            <a:off x="4775200" y="4533900"/>
            <a:ext cx="4826000" cy="254000"/>
          </a:xfrm>
          <a:prstGeom prst="rect">
            <a:avLst/>
          </a:prstGeom>
          <a:noFill/>
          <a:ln/>
        </p:spPr>
        <p:txBody>
          <a:bodyPr wrap="square" lIns="0" tIns="0" rIns="0" bIns="0" rtlCol="0" anchor="t"/>
          <a:lstStyle/>
          <a:p>
            <a:pPr indent="0" marL="0">
              <a:buNone/>
            </a:pPr>
            <a:r>
              <a:rPr lang="en-US" sz="1300" dirty="0">
                <a:solidFill>
                  <a:srgbClr val="4A5A70"/>
                </a:solidFill>
                <a:latin typeface="Arial" pitchFamily="34" charset="0"/>
                <a:ea typeface="Arial" pitchFamily="34" charset="-122"/>
                <a:cs typeface="Arial" pitchFamily="34" charset="-120"/>
              </a:rPr>
              <a:t>Rol administrativo: bandeja y ficha.</a:t>
            </a:r>
            <a:endParaRPr lang="en-US" sz="1300" dirty="0"/>
          </a:p>
        </p:txBody>
      </p:sp>
      <p:sp>
        <p:nvSpPr>
          <p:cNvPr id="24" name="Shape 22"/>
          <p:cNvSpPr/>
          <p:nvPr/>
        </p:nvSpPr>
        <p:spPr>
          <a:xfrm>
            <a:off x="10077450" y="4381500"/>
            <a:ext cx="1301750" cy="289560"/>
          </a:xfrm>
          <a:prstGeom prst="roundRect">
            <a:avLst>
              <a:gd name="adj" fmla="val 157895"/>
            </a:avLst>
          </a:prstGeom>
          <a:solidFill>
            <a:srgbClr val="E1EBFB"/>
          </a:solidFill>
          <a:ln/>
        </p:spPr>
      </p:sp>
      <p:sp>
        <p:nvSpPr>
          <p:cNvPr id="25" name="Text 23"/>
          <p:cNvSpPr txBox="1"/>
          <p:nvPr/>
        </p:nvSpPr>
        <p:spPr>
          <a:xfrm>
            <a:off x="10077450" y="4381500"/>
            <a:ext cx="1301750" cy="289560"/>
          </a:xfrm>
          <a:prstGeom prst="rect">
            <a:avLst/>
          </a:prstGeom>
          <a:noFill/>
          <a:ln/>
        </p:spPr>
        <p:txBody>
          <a:bodyPr wrap="square" lIns="0" tIns="0" rIns="0" bIns="0" rtlCol="0" anchor="ctr"/>
          <a:lstStyle/>
          <a:p>
            <a:pPr algn="ctr" indent="0" marL="0">
              <a:buNone/>
            </a:pPr>
            <a:r>
              <a:rPr lang="en-US" sz="1200" b="1" dirty="0">
                <a:solidFill>
                  <a:srgbClr val="1F5FC4"/>
                </a:solidFill>
                <a:latin typeface="Arial" pitchFamily="34" charset="0"/>
                <a:ea typeface="Arial" pitchFamily="34" charset="-122"/>
                <a:cs typeface="Arial" pitchFamily="34" charset="-120"/>
              </a:rPr>
              <a:t>esta cohorte</a:t>
            </a:r>
            <a:endParaRPr lang="en-US" sz="1200" dirty="0"/>
          </a:p>
        </p:txBody>
      </p:sp>
      <p:sp>
        <p:nvSpPr>
          <p:cNvPr id="26" name="Shape 24"/>
          <p:cNvSpPr/>
          <p:nvPr/>
        </p:nvSpPr>
        <p:spPr>
          <a:xfrm>
            <a:off x="4775200" y="4927600"/>
            <a:ext cx="6604000" cy="0"/>
          </a:xfrm>
          <a:prstGeom prst="line">
            <a:avLst/>
          </a:prstGeom>
          <a:noFill/>
          <a:ln w="12700">
            <a:solidFill>
              <a:srgbClr val="DCE2EB"/>
            </a:solidFill>
            <a:prstDash val="solid"/>
          </a:ln>
        </p:spPr>
      </p:sp>
      <p:sp>
        <p:nvSpPr>
          <p:cNvPr id="27" name="Text 25"/>
          <p:cNvSpPr txBox="1"/>
          <p:nvPr/>
        </p:nvSpPr>
        <p:spPr>
          <a:xfrm>
            <a:off x="4775200" y="5041900"/>
            <a:ext cx="4826000" cy="254000"/>
          </a:xfrm>
          <a:prstGeom prst="rect">
            <a:avLst/>
          </a:prstGeom>
          <a:noFill/>
          <a:ln/>
        </p:spPr>
        <p:txBody>
          <a:bodyPr wrap="square" lIns="0" tIns="0" rIns="0" bIns="0" rtlCol="0" anchor="t"/>
          <a:lstStyle/>
          <a:p>
            <a:pPr indent="0" marL="0">
              <a:buNone/>
            </a:pPr>
            <a:r>
              <a:rPr lang="en-US" sz="1400" b="1" dirty="0">
                <a:solidFill>
                  <a:srgbClr val="13213A"/>
                </a:solidFill>
                <a:latin typeface="Consolas" pitchFamily="34" charset="0"/>
                <a:ea typeface="Consolas" pitchFamily="34" charset="-122"/>
                <a:cs typeface="Consolas" pitchFamily="34" charset="-120"/>
              </a:rPr>
              <a:t>estudiantes · docentes</a:t>
            </a:r>
            <a:endParaRPr lang="en-US" sz="1400" dirty="0"/>
          </a:p>
        </p:txBody>
      </p:sp>
      <p:sp>
        <p:nvSpPr>
          <p:cNvPr id="28" name="Text 26"/>
          <p:cNvSpPr txBox="1"/>
          <p:nvPr/>
        </p:nvSpPr>
        <p:spPr>
          <a:xfrm>
            <a:off x="4775200" y="5321300"/>
            <a:ext cx="4826000" cy="254000"/>
          </a:xfrm>
          <a:prstGeom prst="rect">
            <a:avLst/>
          </a:prstGeom>
          <a:noFill/>
          <a:ln/>
        </p:spPr>
        <p:txBody>
          <a:bodyPr wrap="square" lIns="0" tIns="0" rIns="0" bIns="0" rtlCol="0" anchor="t"/>
          <a:lstStyle/>
          <a:p>
            <a:pPr indent="0" marL="0">
              <a:buNone/>
            </a:pPr>
            <a:r>
              <a:rPr lang="en-US" sz="1300" dirty="0">
                <a:solidFill>
                  <a:srgbClr val="4A5A70"/>
                </a:solidFill>
                <a:latin typeface="Arial" pitchFamily="34" charset="0"/>
                <a:ea typeface="Arial" pitchFamily="34" charset="-122"/>
                <a:cs typeface="Arial" pitchFamily="34" charset="-120"/>
              </a:rPr>
              <a:t>Roles de las cohortes que siguen.</a:t>
            </a:r>
            <a:endParaRPr lang="en-US" sz="1300" dirty="0"/>
          </a:p>
        </p:txBody>
      </p:sp>
      <p:sp>
        <p:nvSpPr>
          <p:cNvPr id="29" name="Shape 27"/>
          <p:cNvSpPr/>
          <p:nvPr/>
        </p:nvSpPr>
        <p:spPr>
          <a:xfrm>
            <a:off x="10414000" y="5168900"/>
            <a:ext cx="965200" cy="289560"/>
          </a:xfrm>
          <a:prstGeom prst="roundRect">
            <a:avLst>
              <a:gd name="adj" fmla="val 157895"/>
            </a:avLst>
          </a:prstGeom>
          <a:solidFill>
            <a:srgbClr val="DFF1E7"/>
          </a:solidFill>
          <a:ln/>
        </p:spPr>
      </p:sp>
      <p:sp>
        <p:nvSpPr>
          <p:cNvPr id="30" name="Text 28"/>
          <p:cNvSpPr txBox="1"/>
          <p:nvPr/>
        </p:nvSpPr>
        <p:spPr>
          <a:xfrm>
            <a:off x="10414000" y="5168900"/>
            <a:ext cx="965200" cy="289560"/>
          </a:xfrm>
          <a:prstGeom prst="rect">
            <a:avLst/>
          </a:prstGeom>
          <a:noFill/>
          <a:ln/>
        </p:spPr>
        <p:txBody>
          <a:bodyPr wrap="square" lIns="0" tIns="0" rIns="0" bIns="0" rtlCol="0" anchor="ctr"/>
          <a:lstStyle/>
          <a:p>
            <a:pPr algn="ctr" indent="0" marL="0">
              <a:buNone/>
            </a:pPr>
            <a:r>
              <a:rPr lang="en-US" sz="1200" b="1" dirty="0">
                <a:solidFill>
                  <a:srgbClr val="1D7A4C"/>
                </a:solidFill>
                <a:latin typeface="Arial" pitchFamily="34" charset="0"/>
                <a:ea typeface="Arial" pitchFamily="34" charset="-122"/>
                <a:cs typeface="Arial" pitchFamily="34" charset="-120"/>
              </a:rPr>
              <a:t>próximas</a:t>
            </a:r>
            <a:endParaRPr lang="en-US" sz="1200" dirty="0"/>
          </a:p>
        </p:txBody>
      </p:sp>
      <p:sp>
        <p:nvSpPr>
          <p:cNvPr id="31" name="Text 29"/>
          <p:cNvSpPr txBox="1"/>
          <p:nvPr/>
        </p:nvSpPr>
        <p:spPr>
          <a:xfrm>
            <a:off x="812800" y="6235700"/>
            <a:ext cx="6350000" cy="215900"/>
          </a:xfrm>
          <a:prstGeom prst="rect">
            <a:avLst/>
          </a:prstGeom>
          <a:noFill/>
          <a:ln/>
        </p:spPr>
        <p:txBody>
          <a:bodyPr wrap="square" lIns="0" tIns="0" rIns="0" bIns="0" rtlCol="0" anchor="t"/>
          <a:lstStyle/>
          <a:p>
            <a:pPr indent="0" marL="0">
              <a:buNone/>
            </a:pPr>
            <a:r>
              <a:rPr lang="en-US" sz="1200" dirty="0">
                <a:solidFill>
                  <a:srgbClr val="5A6A80"/>
                </a:solidFill>
                <a:latin typeface="Arial" pitchFamily="34" charset="0"/>
                <a:ea typeface="Arial" pitchFamily="34" charset="-122"/>
                <a:cs typeface="Arial" pitchFamily="34" charset="-120"/>
              </a:rPr>
              <a:t>SIGA · Primera cohorte · Circuito de ingreso</a:t>
            </a:r>
            <a:endParaRPr lang="en-US" sz="1200" dirty="0"/>
          </a:p>
        </p:txBody>
      </p:sp>
      <p:sp>
        <p:nvSpPr>
          <p:cNvPr id="32" name="Text 30"/>
          <p:cNvSpPr txBox="1"/>
          <p:nvPr/>
        </p:nvSpPr>
        <p:spPr>
          <a:xfrm>
            <a:off x="10109200" y="6235700"/>
            <a:ext cx="1270000" cy="215900"/>
          </a:xfrm>
          <a:prstGeom prst="rect">
            <a:avLst/>
          </a:prstGeom>
          <a:noFill/>
          <a:ln/>
        </p:spPr>
        <p:txBody>
          <a:bodyPr wrap="square" lIns="0" tIns="0" rIns="0" bIns="0" rtlCol="0" anchor="t"/>
          <a:lstStyle/>
          <a:p>
            <a:pPr algn="r" indent="0" marL="0">
              <a:buNone/>
            </a:pPr>
            <a:r>
              <a:rPr lang="en-US" sz="1200" dirty="0">
                <a:solidFill>
                  <a:srgbClr val="5A6A80"/>
                </a:solidFill>
                <a:latin typeface="Arial" pitchFamily="34" charset="0"/>
                <a:ea typeface="Arial" pitchFamily="34" charset="-122"/>
                <a:cs typeface="Arial"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5900"/>
          </a:xfrm>
          <a:prstGeom prst="rect">
            <a:avLst/>
          </a:prstGeom>
          <a:noFill/>
          <a:ln/>
        </p:spPr>
        <p:txBody>
          <a:bodyPr wrap="square" lIns="0" tIns="0" rIns="0" bIns="0" rtlCol="0" anchor="t"/>
          <a:lstStyle/>
          <a:p>
            <a:pPr indent="0" marL="0">
              <a:buNone/>
            </a:pPr>
            <a:r>
              <a:rPr lang="en-US" sz="1200" b="1" spc="150" kern="0" dirty="0">
                <a:solidFill>
                  <a:srgbClr val="2E5FC7"/>
                </a:solidFill>
                <a:latin typeface="Arial" pitchFamily="34" charset="0"/>
                <a:ea typeface="Arial" pitchFamily="34" charset="-122"/>
                <a:cs typeface="Arial" pitchFamily="34" charset="-120"/>
              </a:rPr>
              <a:t>DISEÑO</a:t>
            </a:r>
            <a:endParaRPr lang="en-US" sz="1200" dirty="0"/>
          </a:p>
        </p:txBody>
      </p:sp>
      <p:sp>
        <p:nvSpPr>
          <p:cNvPr id="3" name="Text 1"/>
          <p:cNvSpPr txBox="1"/>
          <p:nvPr/>
        </p:nvSpPr>
        <p:spPr>
          <a:xfrm>
            <a:off x="812800" y="1066800"/>
            <a:ext cx="10566400" cy="444500"/>
          </a:xfrm>
          <a:prstGeom prst="rect">
            <a:avLst/>
          </a:prstGeom>
          <a:noFill/>
          <a:ln/>
        </p:spPr>
        <p:txBody>
          <a:bodyPr wrap="square" lIns="0" tIns="0" rIns="0" bIns="0" rtlCol="0" anchor="t"/>
          <a:lstStyle/>
          <a:p>
            <a:pPr indent="0" marL="0">
              <a:lnSpc>
                <a:spcPct val="100000"/>
              </a:lnSpc>
              <a:buNone/>
            </a:pPr>
            <a:r>
              <a:rPr lang="en-US" sz="2800" b="1" dirty="0">
                <a:solidFill>
                  <a:srgbClr val="13213A"/>
                </a:solidFill>
                <a:latin typeface="Arial" pitchFamily="34" charset="0"/>
                <a:ea typeface="Arial" pitchFamily="34" charset="-122"/>
                <a:cs typeface="Arial" pitchFamily="34" charset="-120"/>
              </a:rPr>
              <a:t>El formulario es una app que se puede desenchufar</a:t>
            </a:r>
            <a:endParaRPr lang="en-US" sz="2800" dirty="0"/>
          </a:p>
        </p:txBody>
      </p:sp>
      <p:sp>
        <p:nvSpPr>
          <p:cNvPr id="4" name="Shape 2"/>
          <p:cNvSpPr/>
          <p:nvPr/>
        </p:nvSpPr>
        <p:spPr>
          <a:xfrm>
            <a:off x="812800" y="1841500"/>
            <a:ext cx="2159000" cy="698500"/>
          </a:xfrm>
          <a:prstGeom prst="roundRect">
            <a:avLst>
              <a:gd name="adj" fmla="val 16364"/>
            </a:avLst>
          </a:prstGeom>
          <a:solidFill>
            <a:srgbClr val="FFFFFF"/>
          </a:solidFill>
          <a:ln w="28575">
            <a:solidFill>
              <a:srgbClr val="2E5FC7"/>
            </a:solidFill>
            <a:prstDash val="dash"/>
          </a:ln>
        </p:spPr>
      </p:sp>
      <p:sp>
        <p:nvSpPr>
          <p:cNvPr id="5" name="Text 3"/>
          <p:cNvSpPr txBox="1"/>
          <p:nvPr/>
        </p:nvSpPr>
        <p:spPr>
          <a:xfrm>
            <a:off x="812800" y="1936750"/>
            <a:ext cx="2159000" cy="254000"/>
          </a:xfrm>
          <a:prstGeom prst="rect">
            <a:avLst/>
          </a:prstGeom>
          <a:noFill/>
          <a:ln/>
        </p:spPr>
        <p:txBody>
          <a:bodyPr wrap="square" lIns="0" tIns="0" rIns="0" bIns="0" rtlCol="0" anchor="t"/>
          <a:lstStyle/>
          <a:p>
            <a:pPr algn="ctr" indent="0" marL="0">
              <a:buNone/>
            </a:pPr>
            <a:r>
              <a:rPr lang="en-US" sz="1400" b="1" dirty="0">
                <a:solidFill>
                  <a:srgbClr val="13213A"/>
                </a:solidFill>
                <a:latin typeface="Consolas" pitchFamily="34" charset="0"/>
                <a:ea typeface="Consolas" pitchFamily="34" charset="-122"/>
                <a:cs typeface="Consolas" pitchFamily="34" charset="-120"/>
              </a:rPr>
              <a:t>preinscripcion</a:t>
            </a:r>
            <a:endParaRPr lang="en-US" sz="1400" dirty="0"/>
          </a:p>
        </p:txBody>
      </p:sp>
      <p:sp>
        <p:nvSpPr>
          <p:cNvPr id="6" name="Text 4"/>
          <p:cNvSpPr txBox="1"/>
          <p:nvPr/>
        </p:nvSpPr>
        <p:spPr>
          <a:xfrm>
            <a:off x="812800" y="2203450"/>
            <a:ext cx="2159000" cy="228600"/>
          </a:xfrm>
          <a:prstGeom prst="rect">
            <a:avLst/>
          </a:prstGeom>
          <a:noFill/>
          <a:ln/>
        </p:spPr>
        <p:txBody>
          <a:bodyPr wrap="square" lIns="0" tIns="0" rIns="0" bIns="0" rtlCol="0" anchor="t"/>
          <a:lstStyle/>
          <a:p>
            <a:pPr algn="ctr" indent="0" marL="0">
              <a:buNone/>
            </a:pPr>
            <a:r>
              <a:rPr lang="en-US" sz="1200" dirty="0">
                <a:solidFill>
                  <a:srgbClr val="4A5A70"/>
                </a:solidFill>
                <a:latin typeface="Arial" pitchFamily="34" charset="0"/>
                <a:ea typeface="Arial" pitchFamily="34" charset="-122"/>
                <a:cs typeface="Arial" pitchFamily="34" charset="-120"/>
              </a:rPr>
              <a:t>formulario público</a:t>
            </a:r>
            <a:endParaRPr lang="en-US" sz="1200" dirty="0"/>
          </a:p>
        </p:txBody>
      </p:sp>
      <p:sp>
        <p:nvSpPr>
          <p:cNvPr id="7" name="Shape 5"/>
          <p:cNvSpPr/>
          <p:nvPr/>
        </p:nvSpPr>
        <p:spPr>
          <a:xfrm>
            <a:off x="3479800" y="1841500"/>
            <a:ext cx="2159000" cy="698500"/>
          </a:xfrm>
          <a:prstGeom prst="roundRect">
            <a:avLst>
              <a:gd name="adj" fmla="val 16364"/>
            </a:avLst>
          </a:prstGeom>
          <a:solidFill>
            <a:srgbClr val="FFFFFF"/>
          </a:solidFill>
          <a:ln w="12700">
            <a:solidFill>
              <a:srgbClr val="DCE2EB"/>
            </a:solidFill>
            <a:prstDash val="solid"/>
          </a:ln>
        </p:spPr>
      </p:sp>
      <p:sp>
        <p:nvSpPr>
          <p:cNvPr id="8" name="Text 6"/>
          <p:cNvSpPr txBox="1"/>
          <p:nvPr/>
        </p:nvSpPr>
        <p:spPr>
          <a:xfrm>
            <a:off x="3479800" y="1936750"/>
            <a:ext cx="2159000" cy="254000"/>
          </a:xfrm>
          <a:prstGeom prst="rect">
            <a:avLst/>
          </a:prstGeom>
          <a:noFill/>
          <a:ln/>
        </p:spPr>
        <p:txBody>
          <a:bodyPr wrap="square" lIns="0" tIns="0" rIns="0" bIns="0" rtlCol="0" anchor="t"/>
          <a:lstStyle/>
          <a:p>
            <a:pPr algn="ctr" indent="0" marL="0">
              <a:buNone/>
            </a:pPr>
            <a:r>
              <a:rPr lang="en-US" sz="1400" b="1" dirty="0">
                <a:solidFill>
                  <a:srgbClr val="13213A"/>
                </a:solidFill>
                <a:latin typeface="Consolas" pitchFamily="34" charset="0"/>
                <a:ea typeface="Consolas" pitchFamily="34" charset="-122"/>
                <a:cs typeface="Consolas" pitchFamily="34" charset="-120"/>
              </a:rPr>
              <a:t>administracion</a:t>
            </a:r>
            <a:endParaRPr lang="en-US" sz="1400" dirty="0"/>
          </a:p>
        </p:txBody>
      </p:sp>
      <p:sp>
        <p:nvSpPr>
          <p:cNvPr id="9" name="Text 7"/>
          <p:cNvSpPr txBox="1"/>
          <p:nvPr/>
        </p:nvSpPr>
        <p:spPr>
          <a:xfrm>
            <a:off x="3479800" y="2203450"/>
            <a:ext cx="2159000" cy="228600"/>
          </a:xfrm>
          <a:prstGeom prst="rect">
            <a:avLst/>
          </a:prstGeom>
          <a:noFill/>
          <a:ln/>
        </p:spPr>
        <p:txBody>
          <a:bodyPr wrap="square" lIns="0" tIns="0" rIns="0" bIns="0" rtlCol="0" anchor="t"/>
          <a:lstStyle/>
          <a:p>
            <a:pPr algn="ctr" indent="0" marL="0">
              <a:buNone/>
            </a:pPr>
            <a:r>
              <a:rPr lang="en-US" sz="1200" dirty="0">
                <a:solidFill>
                  <a:srgbClr val="4A5A70"/>
                </a:solidFill>
                <a:latin typeface="Arial" pitchFamily="34" charset="0"/>
                <a:ea typeface="Arial" pitchFamily="34" charset="-122"/>
                <a:cs typeface="Arial" pitchFamily="34" charset="-120"/>
              </a:rPr>
              <a:t>bandeja y ficha</a:t>
            </a:r>
            <a:endParaRPr lang="en-US" sz="1200" dirty="0"/>
          </a:p>
        </p:txBody>
      </p:sp>
      <p:sp>
        <p:nvSpPr>
          <p:cNvPr id="10" name="Shape 8"/>
          <p:cNvSpPr/>
          <p:nvPr/>
        </p:nvSpPr>
        <p:spPr>
          <a:xfrm>
            <a:off x="2146300" y="3365500"/>
            <a:ext cx="2159000" cy="698500"/>
          </a:xfrm>
          <a:prstGeom prst="roundRect">
            <a:avLst>
              <a:gd name="adj" fmla="val 16364"/>
            </a:avLst>
          </a:prstGeom>
          <a:solidFill>
            <a:srgbClr val="FFFFFF"/>
          </a:solidFill>
          <a:ln w="12700">
            <a:solidFill>
              <a:srgbClr val="DCE2EB"/>
            </a:solidFill>
            <a:prstDash val="solid"/>
          </a:ln>
        </p:spPr>
      </p:sp>
      <p:sp>
        <p:nvSpPr>
          <p:cNvPr id="11" name="Text 9"/>
          <p:cNvSpPr txBox="1"/>
          <p:nvPr/>
        </p:nvSpPr>
        <p:spPr>
          <a:xfrm>
            <a:off x="2146300" y="3460750"/>
            <a:ext cx="2159000" cy="254000"/>
          </a:xfrm>
          <a:prstGeom prst="rect">
            <a:avLst/>
          </a:prstGeom>
          <a:noFill/>
          <a:ln/>
        </p:spPr>
        <p:txBody>
          <a:bodyPr wrap="square" lIns="0" tIns="0" rIns="0" bIns="0" rtlCol="0" anchor="t"/>
          <a:lstStyle/>
          <a:p>
            <a:pPr algn="ctr" indent="0" marL="0">
              <a:buNone/>
            </a:pPr>
            <a:r>
              <a:rPr lang="en-US" sz="1400" b="1" dirty="0">
                <a:solidFill>
                  <a:srgbClr val="13213A"/>
                </a:solidFill>
                <a:latin typeface="Consolas" pitchFamily="34" charset="0"/>
                <a:ea typeface="Consolas" pitchFamily="34" charset="-122"/>
                <a:cs typeface="Consolas" pitchFamily="34" charset="-120"/>
              </a:rPr>
              <a:t>admisiones</a:t>
            </a:r>
            <a:endParaRPr lang="en-US" sz="1400" dirty="0"/>
          </a:p>
        </p:txBody>
      </p:sp>
      <p:sp>
        <p:nvSpPr>
          <p:cNvPr id="12" name="Text 10"/>
          <p:cNvSpPr txBox="1"/>
          <p:nvPr/>
        </p:nvSpPr>
        <p:spPr>
          <a:xfrm>
            <a:off x="2146300" y="3727450"/>
            <a:ext cx="2159000" cy="228600"/>
          </a:xfrm>
          <a:prstGeom prst="rect">
            <a:avLst/>
          </a:prstGeom>
          <a:noFill/>
          <a:ln/>
        </p:spPr>
        <p:txBody>
          <a:bodyPr wrap="square" lIns="0" tIns="0" rIns="0" bIns="0" rtlCol="0" anchor="t"/>
          <a:lstStyle/>
          <a:p>
            <a:pPr algn="ctr" indent="0" marL="0">
              <a:buNone/>
            </a:pPr>
            <a:r>
              <a:rPr lang="en-US" sz="1200" dirty="0">
                <a:solidFill>
                  <a:srgbClr val="4A5A70"/>
                </a:solidFill>
                <a:latin typeface="Arial" pitchFamily="34" charset="0"/>
                <a:ea typeface="Arial" pitchFamily="34" charset="-122"/>
                <a:cs typeface="Arial" pitchFamily="34" charset="-120"/>
              </a:rPr>
              <a:t>datos del ingreso</a:t>
            </a:r>
            <a:endParaRPr lang="en-US" sz="1200" dirty="0"/>
          </a:p>
        </p:txBody>
      </p:sp>
      <p:sp>
        <p:nvSpPr>
          <p:cNvPr id="13" name="Shape 11"/>
          <p:cNvSpPr/>
          <p:nvPr/>
        </p:nvSpPr>
        <p:spPr>
          <a:xfrm>
            <a:off x="2146300" y="4889500"/>
            <a:ext cx="2159000" cy="698500"/>
          </a:xfrm>
          <a:prstGeom prst="roundRect">
            <a:avLst>
              <a:gd name="adj" fmla="val 16364"/>
            </a:avLst>
          </a:prstGeom>
          <a:solidFill>
            <a:srgbClr val="13294B"/>
          </a:solidFill>
          <a:ln/>
        </p:spPr>
      </p:sp>
      <p:sp>
        <p:nvSpPr>
          <p:cNvPr id="14" name="Text 12"/>
          <p:cNvSpPr txBox="1"/>
          <p:nvPr/>
        </p:nvSpPr>
        <p:spPr>
          <a:xfrm>
            <a:off x="2146300" y="4984750"/>
            <a:ext cx="2159000" cy="254000"/>
          </a:xfrm>
          <a:prstGeom prst="rect">
            <a:avLst/>
          </a:prstGeom>
          <a:noFill/>
          <a:ln/>
        </p:spPr>
        <p:txBody>
          <a:bodyPr wrap="square" lIns="0" tIns="0" rIns="0" bIns="0" rtlCol="0" anchor="t"/>
          <a:lstStyle/>
          <a:p>
            <a:pPr algn="ctr" indent="0" marL="0">
              <a:buNone/>
            </a:pPr>
            <a:r>
              <a:rPr lang="en-US" sz="1400" b="1" dirty="0">
                <a:solidFill>
                  <a:srgbClr val="F4F6F9"/>
                </a:solidFill>
                <a:latin typeface="Consolas" pitchFamily="34" charset="0"/>
                <a:ea typeface="Consolas" pitchFamily="34" charset="-122"/>
                <a:cs typeface="Consolas" pitchFamily="34" charset="-120"/>
              </a:rPr>
              <a:t>core</a:t>
            </a:r>
            <a:endParaRPr lang="en-US" sz="1400" dirty="0"/>
          </a:p>
        </p:txBody>
      </p:sp>
      <p:sp>
        <p:nvSpPr>
          <p:cNvPr id="15" name="Text 13"/>
          <p:cNvSpPr txBox="1"/>
          <p:nvPr/>
        </p:nvSpPr>
        <p:spPr>
          <a:xfrm>
            <a:off x="2146300" y="5251450"/>
            <a:ext cx="2159000" cy="228600"/>
          </a:xfrm>
          <a:prstGeom prst="rect">
            <a:avLst/>
          </a:prstGeom>
          <a:noFill/>
          <a:ln/>
        </p:spPr>
        <p:txBody>
          <a:bodyPr wrap="square" lIns="0" tIns="0" rIns="0" bIns="0" rtlCol="0" anchor="t"/>
          <a:lstStyle/>
          <a:p>
            <a:pPr algn="ctr" indent="0" marL="0">
              <a:buNone/>
            </a:pPr>
            <a:r>
              <a:rPr lang="en-US" sz="1200" dirty="0">
                <a:solidFill>
                  <a:srgbClr val="B9C6DA"/>
                </a:solidFill>
                <a:latin typeface="Arial" pitchFamily="34" charset="0"/>
                <a:ea typeface="Arial" pitchFamily="34" charset="-122"/>
                <a:cs typeface="Arial" pitchFamily="34" charset="-120"/>
              </a:rPr>
              <a:t>datos compartidos</a:t>
            </a:r>
            <a:endParaRPr lang="en-US" sz="1200" dirty="0"/>
          </a:p>
        </p:txBody>
      </p:sp>
      <p:sp>
        <p:nvSpPr>
          <p:cNvPr id="16" name="Shape 14"/>
          <p:cNvSpPr/>
          <p:nvPr/>
        </p:nvSpPr>
        <p:spPr>
          <a:xfrm>
            <a:off x="1892300" y="2540000"/>
            <a:ext cx="825500" cy="825500"/>
          </a:xfrm>
          <a:prstGeom prst="line">
            <a:avLst/>
          </a:prstGeom>
          <a:noFill/>
          <a:ln w="28575">
            <a:solidFill>
              <a:srgbClr val="7D8DA6"/>
            </a:solidFill>
            <a:prstDash val="solid"/>
            <a:tailEnd type="triangle"/>
          </a:ln>
        </p:spPr>
      </p:sp>
      <p:sp>
        <p:nvSpPr>
          <p:cNvPr id="17" name="Shape 15"/>
          <p:cNvSpPr/>
          <p:nvPr/>
        </p:nvSpPr>
        <p:spPr>
          <a:xfrm flipH="1">
            <a:off x="3733800" y="2540000"/>
            <a:ext cx="825500" cy="825500"/>
          </a:xfrm>
          <a:prstGeom prst="line">
            <a:avLst/>
          </a:prstGeom>
          <a:noFill/>
          <a:ln w="28575">
            <a:solidFill>
              <a:srgbClr val="7D8DA6"/>
            </a:solidFill>
            <a:prstDash val="solid"/>
            <a:tailEnd type="triangle"/>
          </a:ln>
        </p:spPr>
      </p:sp>
      <p:sp>
        <p:nvSpPr>
          <p:cNvPr id="18" name="Shape 16"/>
          <p:cNvSpPr/>
          <p:nvPr/>
        </p:nvSpPr>
        <p:spPr>
          <a:xfrm>
            <a:off x="3225800" y="4064000"/>
            <a:ext cx="64" cy="825500"/>
          </a:xfrm>
          <a:prstGeom prst="line">
            <a:avLst/>
          </a:prstGeom>
          <a:noFill/>
          <a:ln w="28575">
            <a:solidFill>
              <a:srgbClr val="7D8DA6"/>
            </a:solidFill>
            <a:prstDash val="solid"/>
            <a:tailEnd type="triangle"/>
          </a:ln>
        </p:spPr>
      </p:sp>
      <p:sp>
        <p:nvSpPr>
          <p:cNvPr id="19" name="Shape 17"/>
          <p:cNvSpPr/>
          <p:nvPr/>
        </p:nvSpPr>
        <p:spPr>
          <a:xfrm>
            <a:off x="6045200" y="1778000"/>
            <a:ext cx="5334000" cy="3242310"/>
          </a:xfrm>
          <a:prstGeom prst="roundRect">
            <a:avLst>
              <a:gd name="adj" fmla="val 4700"/>
            </a:avLst>
          </a:prstGeom>
          <a:solidFill>
            <a:srgbClr val="13294B"/>
          </a:solidFill>
          <a:ln/>
        </p:spPr>
      </p:sp>
      <p:sp>
        <p:nvSpPr>
          <p:cNvPr id="20" name="Text 18"/>
          <p:cNvSpPr txBox="1"/>
          <p:nvPr/>
        </p:nvSpPr>
        <p:spPr>
          <a:xfrm>
            <a:off x="6299200" y="1981200"/>
            <a:ext cx="4826000" cy="2835910"/>
          </a:xfrm>
          <a:prstGeom prst="rect">
            <a:avLst/>
          </a:prstGeom>
          <a:noFill/>
          <a:ln/>
        </p:spPr>
        <p:txBody>
          <a:bodyPr wrap="square" lIns="0" tIns="0" rIns="0" bIns="0" rtlCol="0" anchor="t"/>
          <a:lstStyle/>
          <a:p>
            <a:pPr indent="0" marL="0">
              <a:lnSpc>
                <a:spcPct val="120000"/>
              </a:lnSpc>
              <a:buNone/>
            </a:pPr>
            <a:r>
              <a:rPr lang="en-US" sz="1100" dirty="0">
                <a:solidFill>
                  <a:srgbClr val="8D9BB3"/>
                </a:solidFill>
                <a:latin typeface="Consolas" pitchFamily="34" charset="0"/>
                <a:ea typeface="Consolas" pitchFamily="34" charset="-122"/>
                <a:cs typeface="Consolas" pitchFamily="34" charset="-120"/>
              </a:rPr>
              <a:t># config/settings/base.py</a:t>
            </a:r>
            <a:endParaRPr lang="en-US" sz="1100" dirty="0"/>
          </a:p>
          <a:p>
            <a:pPr indent="0" marL="0">
              <a:lnSpc>
                <a:spcPct val="120000"/>
              </a:lnSpc>
              <a:buNone/>
            </a:pPr>
            <a:r>
              <a:rPr lang="en-US" sz="1100" dirty="0">
                <a:solidFill>
                  <a:srgbClr val="F4F6F9"/>
                </a:solidFill>
                <a:latin typeface="Consolas" pitchFamily="34" charset="0"/>
                <a:ea typeface="Consolas" pitchFamily="34" charset="-122"/>
                <a:cs typeface="Consolas" pitchFamily="34" charset="-120"/>
              </a:rPr>
              <a:t>INSTALLED_APPS = [</a:t>
            </a:r>
            <a:endParaRPr lang="en-US" sz="1100" dirty="0"/>
          </a:p>
          <a:p>
            <a:pPr indent="0" marL="0">
              <a:lnSpc>
                <a:spcPct val="120000"/>
              </a:lnSpc>
              <a:buNone/>
            </a:pPr>
            <a:r>
              <a:rPr lang="en-US" sz="1100" dirty="0">
                <a:solidFill>
                  <a:srgbClr val="F4F6F9"/>
                </a:solidFill>
                <a:latin typeface="Consolas" pitchFamily="34" charset="0"/>
                <a:ea typeface="Consolas" pitchFamily="34" charset="-122"/>
                <a:cs typeface="Consolas" pitchFamily="34" charset="-120"/>
              </a:rPr>
              <a:t>    ...</a:t>
            </a:r>
            <a:endParaRPr lang="en-US" sz="1100" dirty="0"/>
          </a:p>
          <a:p>
            <a:pPr indent="0" marL="0">
              <a:lnSpc>
                <a:spcPct val="120000"/>
              </a:lnSpc>
              <a:buNone/>
            </a:pPr>
            <a:r>
              <a:rPr lang="en-US" sz="1100" dirty="0">
                <a:solidFill>
                  <a:srgbClr val="F4F6F9"/>
                </a:solidFill>
                <a:latin typeface="Consolas" pitchFamily="34" charset="0"/>
                <a:ea typeface="Consolas" pitchFamily="34" charset="-122"/>
                <a:cs typeface="Consolas" pitchFamily="34" charset="-120"/>
              </a:rPr>
              <a:t>    "apps.core",</a:t>
            </a:r>
            <a:endParaRPr lang="en-US" sz="1100" dirty="0"/>
          </a:p>
          <a:p>
            <a:pPr indent="0" marL="0">
              <a:lnSpc>
                <a:spcPct val="120000"/>
              </a:lnSpc>
              <a:buNone/>
            </a:pPr>
            <a:r>
              <a:rPr lang="en-US" sz="1100" dirty="0">
                <a:solidFill>
                  <a:srgbClr val="F4F6F9"/>
                </a:solidFill>
                <a:latin typeface="Consolas" pitchFamily="34" charset="0"/>
                <a:ea typeface="Consolas" pitchFamily="34" charset="-122"/>
                <a:cs typeface="Consolas" pitchFamily="34" charset="-120"/>
              </a:rPr>
              <a:t>    "apps.admisiones",</a:t>
            </a:r>
            <a:endParaRPr lang="en-US" sz="1100" dirty="0"/>
          </a:p>
          <a:p>
            <a:pPr indent="0" marL="0">
              <a:lnSpc>
                <a:spcPct val="120000"/>
              </a:lnSpc>
              <a:buNone/>
            </a:pPr>
            <a:r>
              <a:rPr lang="en-US" sz="1100" dirty="0">
                <a:solidFill>
                  <a:srgbClr val="F4F6F9"/>
                </a:solidFill>
                <a:latin typeface="Consolas" pitchFamily="34" charset="0"/>
                <a:ea typeface="Consolas" pitchFamily="34" charset="-122"/>
                <a:cs typeface="Consolas" pitchFamily="34" charset="-120"/>
              </a:rPr>
              <a:t>    "apps.administracion",</a:t>
            </a:r>
            <a:endParaRPr lang="en-US" sz="1100" dirty="0"/>
          </a:p>
          <a:p>
            <a:pPr indent="0" marL="0">
              <a:lnSpc>
                <a:spcPct val="120000"/>
              </a:lnSpc>
              <a:buNone/>
            </a:pPr>
            <a:r>
              <a:rPr lang="en-US" sz="1100" dirty="0">
                <a:solidFill>
                  <a:srgbClr val="F4F6F9"/>
                </a:solidFill>
                <a:latin typeface="Consolas" pitchFamily="34" charset="0"/>
                <a:ea typeface="Consolas" pitchFamily="34" charset="-122"/>
                <a:cs typeface="Consolas" pitchFamily="34" charset="-120"/>
              </a:rPr>
              <a:t>    "apps.preinscripcion",</a:t>
            </a:r>
            <a:endParaRPr lang="en-US" sz="1100" dirty="0"/>
          </a:p>
          <a:p>
            <a:pPr indent="0" marL="0">
              <a:lnSpc>
                <a:spcPct val="120000"/>
              </a:lnSpc>
              <a:buNone/>
            </a:pPr>
            <a:r>
              <a:rPr lang="en-US" sz="1100" dirty="0">
                <a:solidFill>
                  <a:srgbClr val="9DBBFF"/>
                </a:solidFill>
                <a:latin typeface="Consolas" pitchFamily="34" charset="0"/>
                <a:ea typeface="Consolas" pitchFamily="34" charset="-122"/>
                <a:cs typeface="Consolas" pitchFamily="34" charset="-120"/>
              </a:rPr>
              <a:t>    # ↑ se puede sacar</a:t>
            </a:r>
            <a:endParaRPr lang="en-US" sz="1100" dirty="0"/>
          </a:p>
          <a:p>
            <a:pPr indent="0" marL="0">
              <a:lnSpc>
                <a:spcPct val="120000"/>
              </a:lnSpc>
              <a:buNone/>
            </a:pPr>
            <a:r>
              <a:rPr lang="en-US" sz="1100" dirty="0">
                <a:solidFill>
                  <a:srgbClr val="F4F6F9"/>
                </a:solidFill>
                <a:latin typeface="Consolas" pitchFamily="34" charset="0"/>
                <a:ea typeface="Consolas" pitchFamily="34" charset="-122"/>
                <a:cs typeface="Consolas" pitchFamily="34" charset="-120"/>
              </a:rPr>
              <a:t>]</a:t>
            </a:r>
            <a:endParaRPr lang="en-US" sz="1100" dirty="0"/>
          </a:p>
          <a:p>
            <a:pPr indent="0" marL="0">
              <a:lnSpc>
                <a:spcPct val="120000"/>
              </a:lnSpc>
              <a:buNone/>
            </a:pPr>
            <a:r>
              <a:rPr lang="en-US" sz="1100" dirty="0">
                <a:solidFill>
                  <a:srgbClr val="F4F6F9"/>
                </a:solidFill>
                <a:latin typeface="Consolas" pitchFamily="34" charset="0"/>
                <a:ea typeface="Consolas" pitchFamily="34" charset="-122"/>
                <a:cs typeface="Consolas" pitchFamily="34" charset="-120"/>
              </a:rPr>
              <a:t> </a:t>
            </a:r>
            <a:endParaRPr lang="en-US" sz="1100" dirty="0"/>
          </a:p>
          <a:p>
            <a:pPr indent="0" marL="0">
              <a:lnSpc>
                <a:spcPct val="120000"/>
              </a:lnSpc>
              <a:buNone/>
            </a:pPr>
            <a:r>
              <a:rPr lang="en-US" sz="1100" dirty="0">
                <a:solidFill>
                  <a:srgbClr val="8D9BB3"/>
                </a:solidFill>
                <a:latin typeface="Consolas" pitchFamily="34" charset="0"/>
                <a:ea typeface="Consolas" pitchFamily="34" charset="-122"/>
                <a:cs typeface="Consolas" pitchFamily="34" charset="-120"/>
              </a:rPr>
              <a:t># config/urls.py</a:t>
            </a:r>
            <a:endParaRPr lang="en-US" sz="1100" dirty="0"/>
          </a:p>
          <a:p>
            <a:pPr indent="0" marL="0">
              <a:lnSpc>
                <a:spcPct val="120000"/>
              </a:lnSpc>
              <a:buNone/>
            </a:pPr>
            <a:r>
              <a:rPr lang="en-US" sz="1100" dirty="0">
                <a:solidFill>
                  <a:srgbClr val="F4F6F9"/>
                </a:solidFill>
                <a:latin typeface="Consolas" pitchFamily="34" charset="0"/>
                <a:ea typeface="Consolas" pitchFamily="34" charset="-122"/>
                <a:cs typeface="Consolas" pitchFamily="34" charset="-120"/>
              </a:rPr>
              <a:t>if "apps.preinscripcion" in \</a:t>
            </a:r>
            <a:endParaRPr lang="en-US" sz="1100" dirty="0"/>
          </a:p>
          <a:p>
            <a:pPr indent="0" marL="0">
              <a:lnSpc>
                <a:spcPct val="120000"/>
              </a:lnSpc>
              <a:buNone/>
            </a:pPr>
            <a:r>
              <a:rPr lang="en-US" sz="1100" dirty="0">
                <a:solidFill>
                  <a:srgbClr val="F4F6F9"/>
                </a:solidFill>
                <a:latin typeface="Consolas" pitchFamily="34" charset="0"/>
                <a:ea typeface="Consolas" pitchFamily="34" charset="-122"/>
                <a:cs typeface="Consolas" pitchFamily="34" charset="-120"/>
              </a:rPr>
              <a:t>       settings.INSTALLED_APPS:</a:t>
            </a:r>
            <a:endParaRPr lang="en-US" sz="1100" dirty="0"/>
          </a:p>
          <a:p>
            <a:pPr indent="0" marL="0">
              <a:lnSpc>
                <a:spcPct val="120000"/>
              </a:lnSpc>
              <a:buNone/>
            </a:pPr>
            <a:r>
              <a:rPr lang="en-US" sz="1100" dirty="0">
                <a:solidFill>
                  <a:srgbClr val="F4F6F9"/>
                </a:solidFill>
                <a:latin typeface="Consolas" pitchFamily="34" charset="0"/>
                <a:ea typeface="Consolas" pitchFamily="34" charset="-122"/>
                <a:cs typeface="Consolas" pitchFamily="34" charset="-120"/>
              </a:rPr>
              <a:t>    urlpatterns += [...]</a:t>
            </a:r>
            <a:endParaRPr lang="en-US" sz="1100" dirty="0"/>
          </a:p>
        </p:txBody>
      </p:sp>
      <p:sp>
        <p:nvSpPr>
          <p:cNvPr id="21" name="Text 19"/>
          <p:cNvSpPr txBox="1"/>
          <p:nvPr/>
        </p:nvSpPr>
        <p:spPr>
          <a:xfrm>
            <a:off x="6045200" y="5172710"/>
            <a:ext cx="5334000" cy="762000"/>
          </a:xfrm>
          <a:prstGeom prst="rect">
            <a:avLst/>
          </a:prstGeom>
          <a:noFill/>
          <a:ln/>
        </p:spPr>
        <p:txBody>
          <a:bodyPr wrap="square" lIns="0" tIns="0" rIns="0" bIns="0" rtlCol="0" anchor="t"/>
          <a:lstStyle/>
          <a:p>
            <a:pPr indent="0" marL="0">
              <a:lnSpc>
                <a:spcPct val="120000"/>
              </a:lnSpc>
              <a:buNone/>
            </a:pPr>
            <a:r>
              <a:rPr lang="en-US" sz="1300" b="1" dirty="0">
                <a:solidFill>
                  <a:srgbClr val="13213A"/>
                </a:solidFill>
                <a:latin typeface="Arial" pitchFamily="34" charset="0"/>
                <a:ea typeface="Arial" pitchFamily="34" charset="-122"/>
                <a:cs typeface="Arial" pitchFamily="34" charset="-120"/>
              </a:rPr>
              <a:t>La regla: </a:t>
            </a:r>
            <a:pPr indent="0" marL="0">
              <a:lnSpc>
                <a:spcPct val="120000"/>
              </a:lnSpc>
              <a:buNone/>
            </a:pPr>
            <a:r>
              <a:rPr lang="en-US" sz="1300" dirty="0">
                <a:solidFill>
                  <a:srgbClr val="4A5A70"/>
                </a:solidFill>
                <a:latin typeface="Arial" pitchFamily="34" charset="0"/>
                <a:ea typeface="Arial" pitchFamily="34" charset="-122"/>
                <a:cs typeface="Arial" pitchFamily="34" charset="-120"/>
              </a:rPr>
              <a:t>ninguna app importa de preinscripcion. Si se quita, la bandeja sigue funcionando con los datos de admisiones.</a:t>
            </a:r>
            <a:endParaRPr lang="en-US" sz="1300" dirty="0"/>
          </a:p>
        </p:txBody>
      </p:sp>
      <p:sp>
        <p:nvSpPr>
          <p:cNvPr id="22" name="Text 20"/>
          <p:cNvSpPr txBox="1"/>
          <p:nvPr/>
        </p:nvSpPr>
        <p:spPr>
          <a:xfrm>
            <a:off x="812800" y="6235700"/>
            <a:ext cx="6350000" cy="215900"/>
          </a:xfrm>
          <a:prstGeom prst="rect">
            <a:avLst/>
          </a:prstGeom>
          <a:noFill/>
          <a:ln/>
        </p:spPr>
        <p:txBody>
          <a:bodyPr wrap="square" lIns="0" tIns="0" rIns="0" bIns="0" rtlCol="0" anchor="t"/>
          <a:lstStyle/>
          <a:p>
            <a:pPr indent="0" marL="0">
              <a:buNone/>
            </a:pPr>
            <a:r>
              <a:rPr lang="en-US" sz="1200" dirty="0">
                <a:solidFill>
                  <a:srgbClr val="5A6A80"/>
                </a:solidFill>
                <a:latin typeface="Arial" pitchFamily="34" charset="0"/>
                <a:ea typeface="Arial" pitchFamily="34" charset="-122"/>
                <a:cs typeface="Arial" pitchFamily="34" charset="-120"/>
              </a:rPr>
              <a:t>SIGA · Primera cohorte · Circuito de ingreso</a:t>
            </a:r>
            <a:endParaRPr lang="en-US" sz="1200" dirty="0"/>
          </a:p>
        </p:txBody>
      </p:sp>
      <p:sp>
        <p:nvSpPr>
          <p:cNvPr id="23" name="Text 21"/>
          <p:cNvSpPr txBox="1"/>
          <p:nvPr/>
        </p:nvSpPr>
        <p:spPr>
          <a:xfrm>
            <a:off x="10109200" y="6235700"/>
            <a:ext cx="1270000" cy="215900"/>
          </a:xfrm>
          <a:prstGeom prst="rect">
            <a:avLst/>
          </a:prstGeom>
          <a:noFill/>
          <a:ln/>
        </p:spPr>
        <p:txBody>
          <a:bodyPr wrap="square" lIns="0" tIns="0" rIns="0" bIns="0" rtlCol="0" anchor="t"/>
          <a:lstStyle/>
          <a:p>
            <a:pPr algn="r" indent="0" marL="0">
              <a:buNone/>
            </a:pPr>
            <a:r>
              <a:rPr lang="en-US" sz="1200" dirty="0">
                <a:solidFill>
                  <a:srgbClr val="5A6A80"/>
                </a:solidFill>
                <a:latin typeface="Arial" pitchFamily="34" charset="0"/>
                <a:ea typeface="Arial" pitchFamily="34" charset="-122"/>
                <a:cs typeface="Arial"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5900"/>
          </a:xfrm>
          <a:prstGeom prst="rect">
            <a:avLst/>
          </a:prstGeom>
          <a:noFill/>
          <a:ln/>
        </p:spPr>
        <p:txBody>
          <a:bodyPr wrap="square" lIns="0" tIns="0" rIns="0" bIns="0" rtlCol="0" anchor="t"/>
          <a:lstStyle/>
          <a:p>
            <a:pPr indent="0" marL="0">
              <a:buNone/>
            </a:pPr>
            <a:r>
              <a:rPr lang="en-US" sz="1200" b="1" spc="150" kern="0" dirty="0">
                <a:solidFill>
                  <a:srgbClr val="2E5FC7"/>
                </a:solidFill>
                <a:latin typeface="Arial" pitchFamily="34" charset="0"/>
                <a:ea typeface="Arial" pitchFamily="34" charset="-122"/>
                <a:cs typeface="Arial" pitchFamily="34" charset="-120"/>
              </a:rPr>
              <a:t>ENTORNO</a:t>
            </a:r>
            <a:endParaRPr lang="en-US" sz="1200" dirty="0"/>
          </a:p>
        </p:txBody>
      </p:sp>
      <p:sp>
        <p:nvSpPr>
          <p:cNvPr id="3" name="Text 1"/>
          <p:cNvSpPr txBox="1"/>
          <p:nvPr/>
        </p:nvSpPr>
        <p:spPr>
          <a:xfrm>
            <a:off x="812800" y="1066800"/>
            <a:ext cx="10566400" cy="444500"/>
          </a:xfrm>
          <a:prstGeom prst="rect">
            <a:avLst/>
          </a:prstGeom>
          <a:noFill/>
          <a:ln/>
        </p:spPr>
        <p:txBody>
          <a:bodyPr wrap="square" lIns="0" tIns="0" rIns="0" bIns="0" rtlCol="0" anchor="t"/>
          <a:lstStyle/>
          <a:p>
            <a:pPr indent="0" marL="0">
              <a:lnSpc>
                <a:spcPct val="100000"/>
              </a:lnSpc>
              <a:buNone/>
            </a:pPr>
            <a:r>
              <a:rPr lang="en-US" sz="2800" b="1" dirty="0">
                <a:solidFill>
                  <a:srgbClr val="13213A"/>
                </a:solidFill>
                <a:latin typeface="Arial" pitchFamily="34" charset="0"/>
                <a:ea typeface="Arial" pitchFamily="34" charset="-122"/>
                <a:cs typeface="Arial" pitchFamily="34" charset="-120"/>
              </a:rPr>
              <a:t>Todo el proyecto corre en Docker</a:t>
            </a:r>
            <a:endParaRPr lang="en-US" sz="2800" dirty="0"/>
          </a:p>
        </p:txBody>
      </p:sp>
      <p:sp>
        <p:nvSpPr>
          <p:cNvPr id="4" name="Shape 2"/>
          <p:cNvSpPr/>
          <p:nvPr/>
        </p:nvSpPr>
        <p:spPr>
          <a:xfrm>
            <a:off x="812800" y="1841500"/>
            <a:ext cx="2413000" cy="698500"/>
          </a:xfrm>
          <a:prstGeom prst="roundRect">
            <a:avLst>
              <a:gd name="adj" fmla="val 16364"/>
            </a:avLst>
          </a:prstGeom>
          <a:solidFill>
            <a:srgbClr val="FFFFFF"/>
          </a:solidFill>
          <a:ln w="12700">
            <a:solidFill>
              <a:srgbClr val="DCE2EB"/>
            </a:solidFill>
            <a:prstDash val="solid"/>
          </a:ln>
        </p:spPr>
      </p:sp>
      <p:sp>
        <p:nvSpPr>
          <p:cNvPr id="5" name="Text 3"/>
          <p:cNvSpPr txBox="1"/>
          <p:nvPr/>
        </p:nvSpPr>
        <p:spPr>
          <a:xfrm>
            <a:off x="812800" y="1936750"/>
            <a:ext cx="2413000" cy="254000"/>
          </a:xfrm>
          <a:prstGeom prst="rect">
            <a:avLst/>
          </a:prstGeom>
          <a:noFill/>
          <a:ln/>
        </p:spPr>
        <p:txBody>
          <a:bodyPr wrap="square" lIns="0" tIns="0" rIns="0" bIns="0" rtlCol="0" anchor="t"/>
          <a:lstStyle/>
          <a:p>
            <a:pPr algn="ctr" indent="0" marL="0">
              <a:buNone/>
            </a:pPr>
            <a:r>
              <a:rPr lang="en-US" sz="1400" b="1" dirty="0">
                <a:solidFill>
                  <a:srgbClr val="13213A"/>
                </a:solidFill>
                <a:latin typeface="Consolas" pitchFamily="34" charset="0"/>
                <a:ea typeface="Consolas" pitchFamily="34" charset="-122"/>
                <a:cs typeface="Consolas" pitchFamily="34" charset="-120"/>
              </a:rPr>
              <a:t>navegador</a:t>
            </a:r>
            <a:endParaRPr lang="en-US" sz="1400" dirty="0"/>
          </a:p>
        </p:txBody>
      </p:sp>
      <p:sp>
        <p:nvSpPr>
          <p:cNvPr id="6" name="Text 4"/>
          <p:cNvSpPr txBox="1"/>
          <p:nvPr/>
        </p:nvSpPr>
        <p:spPr>
          <a:xfrm>
            <a:off x="812800" y="2203450"/>
            <a:ext cx="2413000" cy="228600"/>
          </a:xfrm>
          <a:prstGeom prst="rect">
            <a:avLst/>
          </a:prstGeom>
          <a:noFill/>
          <a:ln/>
        </p:spPr>
        <p:txBody>
          <a:bodyPr wrap="square" lIns="0" tIns="0" rIns="0" bIns="0" rtlCol="0" anchor="t"/>
          <a:lstStyle/>
          <a:p>
            <a:pPr algn="ctr" indent="0" marL="0">
              <a:buNone/>
            </a:pPr>
            <a:r>
              <a:rPr lang="en-US" sz="1200" dirty="0">
                <a:solidFill>
                  <a:srgbClr val="4A5A70"/>
                </a:solidFill>
                <a:latin typeface="Arial" pitchFamily="34" charset="0"/>
                <a:ea typeface="Arial" pitchFamily="34" charset="-122"/>
                <a:cs typeface="Arial" pitchFamily="34" charset="-120"/>
              </a:rPr>
              <a:t>aspirante o secretaría</a:t>
            </a:r>
            <a:endParaRPr lang="en-US" sz="1200" dirty="0"/>
          </a:p>
        </p:txBody>
      </p:sp>
      <p:sp>
        <p:nvSpPr>
          <p:cNvPr id="7" name="Shape 5"/>
          <p:cNvSpPr/>
          <p:nvPr/>
        </p:nvSpPr>
        <p:spPr>
          <a:xfrm>
            <a:off x="812800" y="3302000"/>
            <a:ext cx="2413000" cy="762000"/>
          </a:xfrm>
          <a:prstGeom prst="roundRect">
            <a:avLst>
              <a:gd name="adj" fmla="val 15000"/>
            </a:avLst>
          </a:prstGeom>
          <a:solidFill>
            <a:srgbClr val="13294B"/>
          </a:solidFill>
          <a:ln/>
        </p:spPr>
      </p:sp>
      <p:sp>
        <p:nvSpPr>
          <p:cNvPr id="8" name="Text 6"/>
          <p:cNvSpPr txBox="1"/>
          <p:nvPr/>
        </p:nvSpPr>
        <p:spPr>
          <a:xfrm>
            <a:off x="812800" y="3429000"/>
            <a:ext cx="2413000" cy="254000"/>
          </a:xfrm>
          <a:prstGeom prst="rect">
            <a:avLst/>
          </a:prstGeom>
          <a:noFill/>
          <a:ln/>
        </p:spPr>
        <p:txBody>
          <a:bodyPr wrap="square" lIns="0" tIns="0" rIns="0" bIns="0" rtlCol="0" anchor="t"/>
          <a:lstStyle/>
          <a:p>
            <a:pPr algn="ctr" indent="0" marL="0">
              <a:buNone/>
            </a:pPr>
            <a:r>
              <a:rPr lang="en-US" sz="1400" b="1" dirty="0">
                <a:solidFill>
                  <a:srgbClr val="F4F6F9"/>
                </a:solidFill>
                <a:latin typeface="Consolas" pitchFamily="34" charset="0"/>
                <a:ea typeface="Consolas" pitchFamily="34" charset="-122"/>
                <a:cs typeface="Consolas" pitchFamily="34" charset="-120"/>
              </a:rPr>
              <a:t>web</a:t>
            </a:r>
            <a:endParaRPr lang="en-US" sz="1400" dirty="0"/>
          </a:p>
        </p:txBody>
      </p:sp>
      <p:sp>
        <p:nvSpPr>
          <p:cNvPr id="9" name="Text 7"/>
          <p:cNvSpPr txBox="1"/>
          <p:nvPr/>
        </p:nvSpPr>
        <p:spPr>
          <a:xfrm>
            <a:off x="812800" y="3695700"/>
            <a:ext cx="2413000" cy="228600"/>
          </a:xfrm>
          <a:prstGeom prst="rect">
            <a:avLst/>
          </a:prstGeom>
          <a:noFill/>
          <a:ln/>
        </p:spPr>
        <p:txBody>
          <a:bodyPr wrap="square" lIns="0" tIns="0" rIns="0" bIns="0" rtlCol="0" anchor="t"/>
          <a:lstStyle/>
          <a:p>
            <a:pPr algn="ctr" indent="0" marL="0">
              <a:buNone/>
            </a:pPr>
            <a:r>
              <a:rPr lang="en-US" sz="1200" dirty="0">
                <a:solidFill>
                  <a:srgbClr val="B9C6DA"/>
                </a:solidFill>
                <a:latin typeface="Arial" pitchFamily="34" charset="0"/>
                <a:ea typeface="Arial" pitchFamily="34" charset="-122"/>
                <a:cs typeface="Arial" pitchFamily="34" charset="-120"/>
              </a:rPr>
              <a:t>Django + Gunicorn</a:t>
            </a:r>
            <a:endParaRPr lang="en-US" sz="1200" dirty="0"/>
          </a:p>
        </p:txBody>
      </p:sp>
      <p:sp>
        <p:nvSpPr>
          <p:cNvPr id="10" name="Shape 8"/>
          <p:cNvSpPr/>
          <p:nvPr/>
        </p:nvSpPr>
        <p:spPr>
          <a:xfrm>
            <a:off x="812800" y="4826000"/>
            <a:ext cx="2413000" cy="762000"/>
          </a:xfrm>
          <a:prstGeom prst="roundRect">
            <a:avLst>
              <a:gd name="adj" fmla="val 15000"/>
            </a:avLst>
          </a:prstGeom>
          <a:solidFill>
            <a:srgbClr val="13294B"/>
          </a:solidFill>
          <a:ln/>
        </p:spPr>
      </p:sp>
      <p:sp>
        <p:nvSpPr>
          <p:cNvPr id="11" name="Text 9"/>
          <p:cNvSpPr txBox="1"/>
          <p:nvPr/>
        </p:nvSpPr>
        <p:spPr>
          <a:xfrm>
            <a:off x="812800" y="4953000"/>
            <a:ext cx="2413000" cy="254000"/>
          </a:xfrm>
          <a:prstGeom prst="rect">
            <a:avLst/>
          </a:prstGeom>
          <a:noFill/>
          <a:ln/>
        </p:spPr>
        <p:txBody>
          <a:bodyPr wrap="square" lIns="0" tIns="0" rIns="0" bIns="0" rtlCol="0" anchor="t"/>
          <a:lstStyle/>
          <a:p>
            <a:pPr algn="ctr" indent="0" marL="0">
              <a:buNone/>
            </a:pPr>
            <a:r>
              <a:rPr lang="en-US" sz="1400" b="1" dirty="0">
                <a:solidFill>
                  <a:srgbClr val="F4F6F9"/>
                </a:solidFill>
                <a:latin typeface="Consolas" pitchFamily="34" charset="0"/>
                <a:ea typeface="Consolas" pitchFamily="34" charset="-122"/>
                <a:cs typeface="Consolas" pitchFamily="34" charset="-120"/>
              </a:rPr>
              <a:t>db</a:t>
            </a:r>
            <a:endParaRPr lang="en-US" sz="1400" dirty="0"/>
          </a:p>
        </p:txBody>
      </p:sp>
      <p:sp>
        <p:nvSpPr>
          <p:cNvPr id="12" name="Text 10"/>
          <p:cNvSpPr txBox="1"/>
          <p:nvPr/>
        </p:nvSpPr>
        <p:spPr>
          <a:xfrm>
            <a:off x="812800" y="5219700"/>
            <a:ext cx="2413000" cy="228600"/>
          </a:xfrm>
          <a:prstGeom prst="rect">
            <a:avLst/>
          </a:prstGeom>
          <a:noFill/>
          <a:ln/>
        </p:spPr>
        <p:txBody>
          <a:bodyPr wrap="square" lIns="0" tIns="0" rIns="0" bIns="0" rtlCol="0" anchor="t"/>
          <a:lstStyle/>
          <a:p>
            <a:pPr algn="ctr" indent="0" marL="0">
              <a:buNone/>
            </a:pPr>
            <a:r>
              <a:rPr lang="en-US" sz="1200" dirty="0">
                <a:solidFill>
                  <a:srgbClr val="B9C6DA"/>
                </a:solidFill>
                <a:latin typeface="Arial" pitchFamily="34" charset="0"/>
                <a:ea typeface="Arial" pitchFamily="34" charset="-122"/>
                <a:cs typeface="Arial" pitchFamily="34" charset="-120"/>
              </a:rPr>
              <a:t>PostgreSQL</a:t>
            </a:r>
            <a:endParaRPr lang="en-US" sz="1200" dirty="0"/>
          </a:p>
        </p:txBody>
      </p:sp>
      <p:sp>
        <p:nvSpPr>
          <p:cNvPr id="13" name="Shape 11"/>
          <p:cNvSpPr/>
          <p:nvPr/>
        </p:nvSpPr>
        <p:spPr>
          <a:xfrm>
            <a:off x="3797300" y="3365500"/>
            <a:ext cx="1968500" cy="635000"/>
          </a:xfrm>
          <a:prstGeom prst="roundRect">
            <a:avLst>
              <a:gd name="adj" fmla="val 18000"/>
            </a:avLst>
          </a:prstGeom>
          <a:solidFill>
            <a:srgbClr val="FFFFFF"/>
          </a:solidFill>
          <a:ln w="28575">
            <a:solidFill>
              <a:srgbClr val="2E5FC7"/>
            </a:solidFill>
            <a:prstDash val="dash"/>
          </a:ln>
        </p:spPr>
      </p:sp>
      <p:sp>
        <p:nvSpPr>
          <p:cNvPr id="14" name="Text 12"/>
          <p:cNvSpPr txBox="1"/>
          <p:nvPr/>
        </p:nvSpPr>
        <p:spPr>
          <a:xfrm>
            <a:off x="3797300" y="3429000"/>
            <a:ext cx="1968500" cy="254000"/>
          </a:xfrm>
          <a:prstGeom prst="rect">
            <a:avLst/>
          </a:prstGeom>
          <a:noFill/>
          <a:ln/>
        </p:spPr>
        <p:txBody>
          <a:bodyPr wrap="square" lIns="0" tIns="0" rIns="0" bIns="0" rtlCol="0" anchor="t"/>
          <a:lstStyle/>
          <a:p>
            <a:pPr algn="ctr" indent="0" marL="0">
              <a:buNone/>
            </a:pPr>
            <a:r>
              <a:rPr lang="en-US" sz="1400" b="1" dirty="0">
                <a:solidFill>
                  <a:srgbClr val="13213A"/>
                </a:solidFill>
                <a:latin typeface="Consolas" pitchFamily="34" charset="0"/>
                <a:ea typeface="Consolas" pitchFamily="34" charset="-122"/>
                <a:cs typeface="Consolas" pitchFamily="34" charset="-120"/>
              </a:rPr>
              <a:t>media/</a:t>
            </a:r>
            <a:endParaRPr lang="en-US" sz="1400" dirty="0"/>
          </a:p>
        </p:txBody>
      </p:sp>
      <p:sp>
        <p:nvSpPr>
          <p:cNvPr id="15" name="Text 13"/>
          <p:cNvSpPr txBox="1"/>
          <p:nvPr/>
        </p:nvSpPr>
        <p:spPr>
          <a:xfrm>
            <a:off x="3797300" y="3695700"/>
            <a:ext cx="1968500" cy="228600"/>
          </a:xfrm>
          <a:prstGeom prst="rect">
            <a:avLst/>
          </a:prstGeom>
          <a:noFill/>
          <a:ln/>
        </p:spPr>
        <p:txBody>
          <a:bodyPr wrap="square" lIns="0" tIns="0" rIns="0" bIns="0" rtlCol="0" anchor="t"/>
          <a:lstStyle/>
          <a:p>
            <a:pPr algn="ctr" indent="0" marL="0">
              <a:buNone/>
            </a:pPr>
            <a:r>
              <a:rPr lang="en-US" sz="1200" dirty="0">
                <a:solidFill>
                  <a:srgbClr val="4A5A70"/>
                </a:solidFill>
                <a:latin typeface="Arial" pitchFamily="34" charset="0"/>
                <a:ea typeface="Arial" pitchFamily="34" charset="-122"/>
                <a:cs typeface="Arial" pitchFamily="34" charset="-120"/>
              </a:rPr>
              <a:t>documentos privados</a:t>
            </a:r>
            <a:endParaRPr lang="en-US" sz="1200" dirty="0"/>
          </a:p>
        </p:txBody>
      </p:sp>
      <p:sp>
        <p:nvSpPr>
          <p:cNvPr id="16" name="Shape 14"/>
          <p:cNvSpPr/>
          <p:nvPr/>
        </p:nvSpPr>
        <p:spPr>
          <a:xfrm>
            <a:off x="3797300" y="4889500"/>
            <a:ext cx="1968500" cy="635000"/>
          </a:xfrm>
          <a:prstGeom prst="roundRect">
            <a:avLst>
              <a:gd name="adj" fmla="val 18000"/>
            </a:avLst>
          </a:prstGeom>
          <a:solidFill>
            <a:srgbClr val="FFFFFF"/>
          </a:solidFill>
          <a:ln w="28575">
            <a:solidFill>
              <a:srgbClr val="2E5FC7"/>
            </a:solidFill>
            <a:prstDash val="dash"/>
          </a:ln>
        </p:spPr>
      </p:sp>
      <p:sp>
        <p:nvSpPr>
          <p:cNvPr id="17" name="Text 15"/>
          <p:cNvSpPr txBox="1"/>
          <p:nvPr/>
        </p:nvSpPr>
        <p:spPr>
          <a:xfrm>
            <a:off x="3797300" y="4953000"/>
            <a:ext cx="1968500" cy="254000"/>
          </a:xfrm>
          <a:prstGeom prst="rect">
            <a:avLst/>
          </a:prstGeom>
          <a:noFill/>
          <a:ln/>
        </p:spPr>
        <p:txBody>
          <a:bodyPr wrap="square" lIns="0" tIns="0" rIns="0" bIns="0" rtlCol="0" anchor="t"/>
          <a:lstStyle/>
          <a:p>
            <a:pPr algn="ctr" indent="0" marL="0">
              <a:buNone/>
            </a:pPr>
            <a:r>
              <a:rPr lang="en-US" sz="1400" b="1" dirty="0">
                <a:solidFill>
                  <a:srgbClr val="13213A"/>
                </a:solidFill>
                <a:latin typeface="Consolas" pitchFamily="34" charset="0"/>
                <a:ea typeface="Consolas" pitchFamily="34" charset="-122"/>
                <a:cs typeface="Consolas" pitchFamily="34" charset="-120"/>
              </a:rPr>
              <a:t>pgdata</a:t>
            </a:r>
            <a:endParaRPr lang="en-US" sz="1400" dirty="0"/>
          </a:p>
        </p:txBody>
      </p:sp>
      <p:sp>
        <p:nvSpPr>
          <p:cNvPr id="18" name="Text 16"/>
          <p:cNvSpPr txBox="1"/>
          <p:nvPr/>
        </p:nvSpPr>
        <p:spPr>
          <a:xfrm>
            <a:off x="3797300" y="5219700"/>
            <a:ext cx="1968500" cy="228600"/>
          </a:xfrm>
          <a:prstGeom prst="rect">
            <a:avLst/>
          </a:prstGeom>
          <a:noFill/>
          <a:ln/>
        </p:spPr>
        <p:txBody>
          <a:bodyPr wrap="square" lIns="0" tIns="0" rIns="0" bIns="0" rtlCol="0" anchor="t"/>
          <a:lstStyle/>
          <a:p>
            <a:pPr algn="ctr" indent="0" marL="0">
              <a:buNone/>
            </a:pPr>
            <a:r>
              <a:rPr lang="en-US" sz="1200" dirty="0">
                <a:solidFill>
                  <a:srgbClr val="4A5A70"/>
                </a:solidFill>
                <a:latin typeface="Arial" pitchFamily="34" charset="0"/>
                <a:ea typeface="Arial" pitchFamily="34" charset="-122"/>
                <a:cs typeface="Arial" pitchFamily="34" charset="-120"/>
              </a:rPr>
              <a:t>datos de la base</a:t>
            </a:r>
            <a:endParaRPr lang="en-US" sz="1200" dirty="0"/>
          </a:p>
        </p:txBody>
      </p:sp>
      <p:sp>
        <p:nvSpPr>
          <p:cNvPr id="19" name="Shape 17"/>
          <p:cNvSpPr/>
          <p:nvPr/>
        </p:nvSpPr>
        <p:spPr>
          <a:xfrm>
            <a:off x="2019300" y="2540000"/>
            <a:ext cx="64" cy="762000"/>
          </a:xfrm>
          <a:prstGeom prst="line">
            <a:avLst/>
          </a:prstGeom>
          <a:noFill/>
          <a:ln w="28575">
            <a:solidFill>
              <a:srgbClr val="7D8DA6"/>
            </a:solidFill>
            <a:prstDash val="solid"/>
            <a:tailEnd type="triangle"/>
          </a:ln>
        </p:spPr>
      </p:sp>
      <p:sp>
        <p:nvSpPr>
          <p:cNvPr id="20" name="Shape 18"/>
          <p:cNvSpPr/>
          <p:nvPr/>
        </p:nvSpPr>
        <p:spPr>
          <a:xfrm>
            <a:off x="2019300" y="4064000"/>
            <a:ext cx="64" cy="762000"/>
          </a:xfrm>
          <a:prstGeom prst="line">
            <a:avLst/>
          </a:prstGeom>
          <a:noFill/>
          <a:ln w="28575">
            <a:solidFill>
              <a:srgbClr val="7D8DA6"/>
            </a:solidFill>
            <a:prstDash val="solid"/>
            <a:tailEnd type="triangle"/>
          </a:ln>
        </p:spPr>
      </p:sp>
      <p:sp>
        <p:nvSpPr>
          <p:cNvPr id="21" name="Shape 19"/>
          <p:cNvSpPr/>
          <p:nvPr/>
        </p:nvSpPr>
        <p:spPr>
          <a:xfrm>
            <a:off x="3225800" y="3683000"/>
            <a:ext cx="571500" cy="64"/>
          </a:xfrm>
          <a:prstGeom prst="line">
            <a:avLst/>
          </a:prstGeom>
          <a:noFill/>
          <a:ln w="28575">
            <a:solidFill>
              <a:srgbClr val="7D8DA6"/>
            </a:solidFill>
            <a:prstDash val="dash"/>
          </a:ln>
        </p:spPr>
      </p:sp>
      <p:sp>
        <p:nvSpPr>
          <p:cNvPr id="22" name="Shape 20"/>
          <p:cNvSpPr/>
          <p:nvPr/>
        </p:nvSpPr>
        <p:spPr>
          <a:xfrm>
            <a:off x="3225800" y="5207000"/>
            <a:ext cx="571500" cy="64"/>
          </a:xfrm>
          <a:prstGeom prst="line">
            <a:avLst/>
          </a:prstGeom>
          <a:noFill/>
          <a:ln w="28575">
            <a:solidFill>
              <a:srgbClr val="7D8DA6"/>
            </a:solidFill>
            <a:prstDash val="dash"/>
          </a:ln>
        </p:spPr>
      </p:sp>
      <p:sp>
        <p:nvSpPr>
          <p:cNvPr id="23" name="Shape 21"/>
          <p:cNvSpPr/>
          <p:nvPr/>
        </p:nvSpPr>
        <p:spPr>
          <a:xfrm>
            <a:off x="6172200" y="1778000"/>
            <a:ext cx="5207000" cy="1953260"/>
          </a:xfrm>
          <a:prstGeom prst="roundRect">
            <a:avLst>
              <a:gd name="adj" fmla="val 7802"/>
            </a:avLst>
          </a:prstGeom>
          <a:solidFill>
            <a:srgbClr val="13294B"/>
          </a:solidFill>
          <a:ln/>
        </p:spPr>
      </p:sp>
      <p:sp>
        <p:nvSpPr>
          <p:cNvPr id="24" name="Text 22"/>
          <p:cNvSpPr txBox="1"/>
          <p:nvPr/>
        </p:nvSpPr>
        <p:spPr>
          <a:xfrm>
            <a:off x="6426200" y="1981200"/>
            <a:ext cx="4699000" cy="1546860"/>
          </a:xfrm>
          <a:prstGeom prst="rect">
            <a:avLst/>
          </a:prstGeom>
          <a:noFill/>
          <a:ln/>
        </p:spPr>
        <p:txBody>
          <a:bodyPr wrap="square" lIns="0" tIns="0" rIns="0" bIns="0" rtlCol="0" anchor="t"/>
          <a:lstStyle/>
          <a:p>
            <a:pPr indent="0" marL="0">
              <a:lnSpc>
                <a:spcPct val="120000"/>
              </a:lnSpc>
              <a:buNone/>
            </a:pPr>
            <a:r>
              <a:rPr lang="en-US" sz="1200" dirty="0">
                <a:solidFill>
                  <a:srgbClr val="8D9BB3"/>
                </a:solidFill>
                <a:latin typeface="Consolas" pitchFamily="34" charset="0"/>
                <a:ea typeface="Consolas" pitchFamily="34" charset="-122"/>
                <a:cs typeface="Consolas" pitchFamily="34" charset="-120"/>
              </a:rPr>
              <a:t># la primera vez</a:t>
            </a:r>
            <a:endParaRPr lang="en-US" sz="1200" dirty="0"/>
          </a:p>
          <a:p>
            <a:pPr indent="0" marL="0">
              <a:lnSpc>
                <a:spcPct val="120000"/>
              </a:lnSpc>
              <a:buNone/>
            </a:pPr>
            <a:r>
              <a:rPr lang="en-US" sz="1200" dirty="0">
                <a:solidFill>
                  <a:srgbClr val="F4F6F9"/>
                </a:solidFill>
                <a:latin typeface="Consolas" pitchFamily="34" charset="0"/>
                <a:ea typeface="Consolas" pitchFamily="34" charset="-122"/>
                <a:cs typeface="Consolas" pitchFamily="34" charset="-120"/>
              </a:rPr>
              <a:t>cp .env.example .env</a:t>
            </a:r>
            <a:endParaRPr lang="en-US" sz="1200" dirty="0"/>
          </a:p>
          <a:p>
            <a:pPr indent="0" marL="0">
              <a:lnSpc>
                <a:spcPct val="120000"/>
              </a:lnSpc>
              <a:buNone/>
            </a:pPr>
            <a:r>
              <a:rPr lang="en-US" sz="1200" dirty="0">
                <a:solidFill>
                  <a:srgbClr val="F4F6F9"/>
                </a:solidFill>
                <a:latin typeface="Consolas" pitchFamily="34" charset="0"/>
                <a:ea typeface="Consolas" pitchFamily="34" charset="-122"/>
                <a:cs typeface="Consolas" pitchFamily="34" charset="-120"/>
              </a:rPr>
              <a:t>docker compose up -d --build</a:t>
            </a:r>
            <a:endParaRPr lang="en-US" sz="1200" dirty="0"/>
          </a:p>
          <a:p>
            <a:pPr indent="0" marL="0">
              <a:lnSpc>
                <a:spcPct val="120000"/>
              </a:lnSpc>
              <a:buNone/>
            </a:pPr>
            <a:r>
              <a:rPr lang="en-US" sz="1200" dirty="0">
                <a:solidFill>
                  <a:srgbClr val="F4F6F9"/>
                </a:solidFill>
                <a:latin typeface="Consolas" pitchFamily="34" charset="0"/>
                <a:ea typeface="Consolas" pitchFamily="34" charset="-122"/>
                <a:cs typeface="Consolas" pitchFamily="34" charset="-120"/>
              </a:rPr>
              <a:t>docker compose exec web \</a:t>
            </a:r>
            <a:endParaRPr lang="en-US" sz="1200" dirty="0"/>
          </a:p>
          <a:p>
            <a:pPr indent="0" marL="0">
              <a:lnSpc>
                <a:spcPct val="120000"/>
              </a:lnSpc>
              <a:buNone/>
            </a:pPr>
            <a:r>
              <a:rPr lang="en-US" sz="1200" dirty="0">
                <a:solidFill>
                  <a:srgbClr val="F4F6F9"/>
                </a:solidFill>
                <a:latin typeface="Consolas" pitchFamily="34" charset="0"/>
                <a:ea typeface="Consolas" pitchFamily="34" charset="-122"/>
                <a:cs typeface="Consolas" pitchFamily="34" charset="-120"/>
              </a:rPr>
              <a:t>  python manage.py migrate</a:t>
            </a:r>
            <a:endParaRPr lang="en-US" sz="1200" dirty="0"/>
          </a:p>
          <a:p>
            <a:pPr indent="0" marL="0">
              <a:lnSpc>
                <a:spcPct val="120000"/>
              </a:lnSpc>
              <a:buNone/>
            </a:pPr>
            <a:r>
              <a:rPr lang="en-US" sz="1200" dirty="0">
                <a:solidFill>
                  <a:srgbClr val="F4F6F9"/>
                </a:solidFill>
                <a:latin typeface="Consolas" pitchFamily="34" charset="0"/>
                <a:ea typeface="Consolas" pitchFamily="34" charset="-122"/>
                <a:cs typeface="Consolas" pitchFamily="34" charset="-120"/>
              </a:rPr>
              <a:t>docker compose exec web \</a:t>
            </a:r>
            <a:endParaRPr lang="en-US" sz="1200" dirty="0"/>
          </a:p>
          <a:p>
            <a:pPr indent="0" marL="0">
              <a:lnSpc>
                <a:spcPct val="120000"/>
              </a:lnSpc>
              <a:buNone/>
            </a:pPr>
            <a:r>
              <a:rPr lang="en-US" sz="1200" dirty="0">
                <a:solidFill>
                  <a:srgbClr val="F4F6F9"/>
                </a:solidFill>
                <a:latin typeface="Consolas" pitchFamily="34" charset="0"/>
                <a:ea typeface="Consolas" pitchFamily="34" charset="-122"/>
                <a:cs typeface="Consolas" pitchFamily="34" charset="-120"/>
              </a:rPr>
              <a:t>  python manage.py createsuperuser</a:t>
            </a:r>
            <a:endParaRPr lang="en-US" sz="1200" dirty="0"/>
          </a:p>
        </p:txBody>
      </p:sp>
      <p:sp>
        <p:nvSpPr>
          <p:cNvPr id="25" name="Text 23"/>
          <p:cNvSpPr txBox="1"/>
          <p:nvPr/>
        </p:nvSpPr>
        <p:spPr>
          <a:xfrm>
            <a:off x="6172200" y="3934460"/>
            <a:ext cx="5207000" cy="1905000"/>
          </a:xfrm>
          <a:prstGeom prst="rect">
            <a:avLst/>
          </a:prstGeom>
          <a:noFill/>
          <a:ln/>
        </p:spPr>
        <p:txBody>
          <a:bodyPr wrap="square" lIns="0" tIns="0" rIns="0" bIns="0" rtlCol="0" anchor="t"/>
          <a:lstStyle/>
          <a:p>
            <a:pPr marL="228600" indent="-228600">
              <a:lnSpc>
                <a:spcPct val="115000"/>
              </a:lnSpc>
              <a:spcAft>
                <a:spcPts val="715"/>
              </a:spcAft>
              <a:buSzPct val="100000"/>
              <a:buChar char="•"/>
            </a:pPr>
            <a:r>
              <a:rPr lang="en-US" sz="1300" dirty="0">
                <a:solidFill>
                  <a:srgbClr val="4A5A70"/>
                </a:solidFill>
                <a:latin typeface="Arial" pitchFamily="34" charset="0"/>
                <a:ea typeface="Arial" pitchFamily="34" charset="-122"/>
                <a:cs typeface="Arial" pitchFamily="34" charset="-120"/>
              </a:rPr>
              <a:t>El mismo entorno para todo el equipo y para la cohorte que sigue</a:t>
            </a:r>
            <a:endParaRPr lang="en-US" sz="1300" dirty="0"/>
          </a:p>
          <a:p>
            <a:pPr marL="228600" indent="-228600">
              <a:lnSpc>
                <a:spcPct val="115000"/>
              </a:lnSpc>
              <a:spcAft>
                <a:spcPts val="715"/>
              </a:spcAft>
              <a:buSzPct val="100000"/>
              <a:buChar char="•"/>
            </a:pPr>
            <a:r>
              <a:rPr lang="en-US" sz="1300" dirty="0">
                <a:solidFill>
                  <a:srgbClr val="4A5A70"/>
                </a:solidFill>
                <a:latin typeface="Arial" pitchFamily="34" charset="0"/>
                <a:ea typeface="Arial" pitchFamily="34" charset="-122"/>
                <a:cs typeface="Arial" pitchFamily="34" charset="-120"/>
              </a:rPr>
              <a:t>Los documentos quedan en un volumen y sólo se ven a través de la app</a:t>
            </a:r>
            <a:endParaRPr lang="en-US" sz="1300" dirty="0"/>
          </a:p>
          <a:p>
            <a:pPr marL="228600" indent="-228600">
              <a:lnSpc>
                <a:spcPct val="115000"/>
              </a:lnSpc>
              <a:spcAft>
                <a:spcPts val="715"/>
              </a:spcAft>
              <a:buSzPct val="100000"/>
              <a:buChar char="•"/>
            </a:pPr>
            <a:r>
              <a:rPr lang="en-US" sz="1300" dirty="0">
                <a:solidFill>
                  <a:srgbClr val="4A5A70"/>
                </a:solidFill>
                <a:latin typeface="Arial" pitchFamily="34" charset="0"/>
                <a:ea typeface="Arial" pitchFamily="34" charset="-122"/>
                <a:cs typeface="Arial" pitchFamily="34" charset="-120"/>
              </a:rPr>
              <a:t>Alojamiento y dominio del despliegue: a definir con el instituto</a:t>
            </a:r>
            <a:endParaRPr lang="en-US" sz="1300" dirty="0"/>
          </a:p>
        </p:txBody>
      </p:sp>
      <p:sp>
        <p:nvSpPr>
          <p:cNvPr id="26" name="Text 24"/>
          <p:cNvSpPr txBox="1"/>
          <p:nvPr/>
        </p:nvSpPr>
        <p:spPr>
          <a:xfrm>
            <a:off x="812800" y="6235700"/>
            <a:ext cx="6350000" cy="215900"/>
          </a:xfrm>
          <a:prstGeom prst="rect">
            <a:avLst/>
          </a:prstGeom>
          <a:noFill/>
          <a:ln/>
        </p:spPr>
        <p:txBody>
          <a:bodyPr wrap="square" lIns="0" tIns="0" rIns="0" bIns="0" rtlCol="0" anchor="t"/>
          <a:lstStyle/>
          <a:p>
            <a:pPr indent="0" marL="0">
              <a:buNone/>
            </a:pPr>
            <a:r>
              <a:rPr lang="en-US" sz="1200" dirty="0">
                <a:solidFill>
                  <a:srgbClr val="5A6A80"/>
                </a:solidFill>
                <a:latin typeface="Arial" pitchFamily="34" charset="0"/>
                <a:ea typeface="Arial" pitchFamily="34" charset="-122"/>
                <a:cs typeface="Arial" pitchFamily="34" charset="-120"/>
              </a:rPr>
              <a:t>SIGA · Primera cohorte · Circuito de ingreso</a:t>
            </a:r>
            <a:endParaRPr lang="en-US" sz="1200" dirty="0"/>
          </a:p>
        </p:txBody>
      </p:sp>
      <p:sp>
        <p:nvSpPr>
          <p:cNvPr id="27" name="Text 25"/>
          <p:cNvSpPr txBox="1"/>
          <p:nvPr/>
        </p:nvSpPr>
        <p:spPr>
          <a:xfrm>
            <a:off x="10109200" y="6235700"/>
            <a:ext cx="1270000" cy="215900"/>
          </a:xfrm>
          <a:prstGeom prst="rect">
            <a:avLst/>
          </a:prstGeom>
          <a:noFill/>
          <a:ln/>
        </p:spPr>
        <p:txBody>
          <a:bodyPr wrap="square" lIns="0" tIns="0" rIns="0" bIns="0" rtlCol="0" anchor="t"/>
          <a:lstStyle/>
          <a:p>
            <a:pPr algn="r" indent="0" marL="0">
              <a:buNone/>
            </a:pPr>
            <a:r>
              <a:rPr lang="en-US" sz="1200" dirty="0">
                <a:solidFill>
                  <a:srgbClr val="5A6A80"/>
                </a:solidFill>
                <a:latin typeface="Arial" pitchFamily="34" charset="0"/>
                <a:ea typeface="Arial" pitchFamily="34" charset="-122"/>
                <a:cs typeface="Arial"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5900"/>
          </a:xfrm>
          <a:prstGeom prst="rect">
            <a:avLst/>
          </a:prstGeom>
          <a:noFill/>
          <a:ln/>
        </p:spPr>
        <p:txBody>
          <a:bodyPr wrap="square" lIns="0" tIns="0" rIns="0" bIns="0" rtlCol="0" anchor="t"/>
          <a:lstStyle/>
          <a:p>
            <a:pPr indent="0" marL="0">
              <a:buNone/>
            </a:pPr>
            <a:r>
              <a:rPr lang="en-US" sz="1200" b="1" spc="150" kern="0" dirty="0">
                <a:solidFill>
                  <a:srgbClr val="2E5FC7"/>
                </a:solidFill>
                <a:latin typeface="Arial" pitchFamily="34" charset="0"/>
                <a:ea typeface="Arial" pitchFamily="34" charset="-122"/>
                <a:cs typeface="Arial" pitchFamily="34" charset="-120"/>
              </a:rPr>
              <a:t>DISEÑO VISUAL</a:t>
            </a:r>
            <a:endParaRPr lang="en-US" sz="1200" dirty="0"/>
          </a:p>
        </p:txBody>
      </p:sp>
      <p:sp>
        <p:nvSpPr>
          <p:cNvPr id="3" name="Text 1"/>
          <p:cNvSpPr txBox="1"/>
          <p:nvPr/>
        </p:nvSpPr>
        <p:spPr>
          <a:xfrm>
            <a:off x="812800" y="1066800"/>
            <a:ext cx="10566400" cy="444500"/>
          </a:xfrm>
          <a:prstGeom prst="rect">
            <a:avLst/>
          </a:prstGeom>
          <a:noFill/>
          <a:ln/>
        </p:spPr>
        <p:txBody>
          <a:bodyPr wrap="square" lIns="0" tIns="0" rIns="0" bIns="0" rtlCol="0" anchor="t"/>
          <a:lstStyle/>
          <a:p>
            <a:pPr indent="0" marL="0">
              <a:lnSpc>
                <a:spcPct val="100000"/>
              </a:lnSpc>
              <a:buNone/>
            </a:pPr>
            <a:r>
              <a:rPr lang="en-US" sz="2800" b="1" dirty="0">
                <a:solidFill>
                  <a:srgbClr val="13213A"/>
                </a:solidFill>
                <a:latin typeface="Arial" pitchFamily="34" charset="0"/>
                <a:ea typeface="Arial" pitchFamily="34" charset="-122"/>
                <a:cs typeface="Arial" pitchFamily="34" charset="-120"/>
              </a:rPr>
              <a:t>Sobrio, institucional y fácil de leer</a:t>
            </a:r>
            <a:endParaRPr lang="en-US" sz="2800" dirty="0"/>
          </a:p>
        </p:txBody>
      </p:sp>
      <p:sp>
        <p:nvSpPr>
          <p:cNvPr id="4" name="Shape 2"/>
          <p:cNvSpPr/>
          <p:nvPr/>
        </p:nvSpPr>
        <p:spPr>
          <a:xfrm>
            <a:off x="812800" y="1841500"/>
            <a:ext cx="1295400" cy="1270000"/>
          </a:xfrm>
          <a:prstGeom prst="roundRect">
            <a:avLst>
              <a:gd name="adj" fmla="val 10000"/>
            </a:avLst>
          </a:prstGeom>
          <a:solidFill>
            <a:srgbClr val="13294B"/>
          </a:solidFill>
          <a:ln w="12700">
            <a:solidFill>
              <a:srgbClr val="DCE2EB"/>
            </a:solidFill>
            <a:prstDash val="solid"/>
          </a:ln>
        </p:spPr>
      </p:sp>
      <p:sp>
        <p:nvSpPr>
          <p:cNvPr id="5" name="Text 3"/>
          <p:cNvSpPr txBox="1"/>
          <p:nvPr/>
        </p:nvSpPr>
        <p:spPr>
          <a:xfrm>
            <a:off x="965200" y="2540000"/>
            <a:ext cx="1079500" cy="228600"/>
          </a:xfrm>
          <a:prstGeom prst="rect">
            <a:avLst/>
          </a:prstGeom>
          <a:noFill/>
          <a:ln/>
        </p:spPr>
        <p:txBody>
          <a:bodyPr wrap="square" lIns="0" tIns="0" rIns="0" bIns="0" rtlCol="0" anchor="t"/>
          <a:lstStyle/>
          <a:p>
            <a:pPr indent="0" marL="0">
              <a:buNone/>
            </a:pPr>
            <a:r>
              <a:rPr lang="en-US" sz="1300" b="1" dirty="0">
                <a:solidFill>
                  <a:srgbClr val="F4F6F9"/>
                </a:solidFill>
                <a:latin typeface="Arial" pitchFamily="34" charset="0"/>
                <a:ea typeface="Arial" pitchFamily="34" charset="-122"/>
                <a:cs typeface="Arial" pitchFamily="34" charset="-120"/>
              </a:rPr>
              <a:t>Azul</a:t>
            </a:r>
            <a:endParaRPr lang="en-US" sz="1300" dirty="0"/>
          </a:p>
        </p:txBody>
      </p:sp>
      <p:sp>
        <p:nvSpPr>
          <p:cNvPr id="6" name="Text 4"/>
          <p:cNvSpPr txBox="1"/>
          <p:nvPr/>
        </p:nvSpPr>
        <p:spPr>
          <a:xfrm>
            <a:off x="965200" y="2781300"/>
            <a:ext cx="1079500" cy="203200"/>
          </a:xfrm>
          <a:prstGeom prst="rect">
            <a:avLst/>
          </a:prstGeom>
          <a:noFill/>
          <a:ln/>
        </p:spPr>
        <p:txBody>
          <a:bodyPr wrap="square" lIns="0" tIns="0" rIns="0" bIns="0" rtlCol="0" anchor="t"/>
          <a:lstStyle/>
          <a:p>
            <a:pPr indent="0" marL="0">
              <a:buNone/>
            </a:pPr>
            <a:r>
              <a:rPr lang="en-US" sz="1200" dirty="0">
                <a:solidFill>
                  <a:srgbClr val="F4F6F9"/>
                </a:solidFill>
                <a:latin typeface="Consolas" pitchFamily="34" charset="0"/>
                <a:ea typeface="Consolas" pitchFamily="34" charset="-122"/>
                <a:cs typeface="Consolas" pitchFamily="34" charset="-120"/>
              </a:rPr>
              <a:t>#13294B</a:t>
            </a:r>
            <a:endParaRPr lang="en-US" sz="1200" dirty="0"/>
          </a:p>
        </p:txBody>
      </p:sp>
      <p:sp>
        <p:nvSpPr>
          <p:cNvPr id="7" name="Shape 5"/>
          <p:cNvSpPr/>
          <p:nvPr/>
        </p:nvSpPr>
        <p:spPr>
          <a:xfrm>
            <a:off x="2209800" y="1841500"/>
            <a:ext cx="1295400" cy="1270000"/>
          </a:xfrm>
          <a:prstGeom prst="roundRect">
            <a:avLst>
              <a:gd name="adj" fmla="val 10000"/>
            </a:avLst>
          </a:prstGeom>
          <a:solidFill>
            <a:srgbClr val="F4F6F9"/>
          </a:solidFill>
          <a:ln w="12700">
            <a:solidFill>
              <a:srgbClr val="DCE2EB"/>
            </a:solidFill>
            <a:prstDash val="solid"/>
          </a:ln>
        </p:spPr>
      </p:sp>
      <p:sp>
        <p:nvSpPr>
          <p:cNvPr id="8" name="Text 6"/>
          <p:cNvSpPr txBox="1"/>
          <p:nvPr/>
        </p:nvSpPr>
        <p:spPr>
          <a:xfrm>
            <a:off x="2362200" y="2540000"/>
            <a:ext cx="1079500" cy="228600"/>
          </a:xfrm>
          <a:prstGeom prst="rect">
            <a:avLst/>
          </a:prstGeom>
          <a:noFill/>
          <a:ln/>
        </p:spPr>
        <p:txBody>
          <a:bodyPr wrap="square" lIns="0" tIns="0" rIns="0" bIns="0" rtlCol="0" anchor="t"/>
          <a:lstStyle/>
          <a:p>
            <a:pPr indent="0" marL="0">
              <a:buNone/>
            </a:pPr>
            <a:r>
              <a:rPr lang="en-US" sz="1300" b="1" dirty="0">
                <a:solidFill>
                  <a:srgbClr val="13213A"/>
                </a:solidFill>
                <a:latin typeface="Arial" pitchFamily="34" charset="0"/>
                <a:ea typeface="Arial" pitchFamily="34" charset="-122"/>
                <a:cs typeface="Arial" pitchFamily="34" charset="-120"/>
              </a:rPr>
              <a:t>Fondo</a:t>
            </a:r>
            <a:endParaRPr lang="en-US" sz="1300" dirty="0"/>
          </a:p>
        </p:txBody>
      </p:sp>
      <p:sp>
        <p:nvSpPr>
          <p:cNvPr id="9" name="Text 7"/>
          <p:cNvSpPr txBox="1"/>
          <p:nvPr/>
        </p:nvSpPr>
        <p:spPr>
          <a:xfrm>
            <a:off x="2362200" y="2781300"/>
            <a:ext cx="1079500" cy="203200"/>
          </a:xfrm>
          <a:prstGeom prst="rect">
            <a:avLst/>
          </a:prstGeom>
          <a:noFill/>
          <a:ln/>
        </p:spPr>
        <p:txBody>
          <a:bodyPr wrap="square" lIns="0" tIns="0" rIns="0" bIns="0" rtlCol="0" anchor="t"/>
          <a:lstStyle/>
          <a:p>
            <a:pPr indent="0" marL="0">
              <a:buNone/>
            </a:pPr>
            <a:r>
              <a:rPr lang="en-US" sz="1200" dirty="0">
                <a:solidFill>
                  <a:srgbClr val="13213A"/>
                </a:solidFill>
                <a:latin typeface="Consolas" pitchFamily="34" charset="0"/>
                <a:ea typeface="Consolas" pitchFamily="34" charset="-122"/>
                <a:cs typeface="Consolas" pitchFamily="34" charset="-120"/>
              </a:rPr>
              <a:t>#F4F6F9</a:t>
            </a:r>
            <a:endParaRPr lang="en-US" sz="1200" dirty="0"/>
          </a:p>
        </p:txBody>
      </p:sp>
      <p:sp>
        <p:nvSpPr>
          <p:cNvPr id="10" name="Shape 8"/>
          <p:cNvSpPr/>
          <p:nvPr/>
        </p:nvSpPr>
        <p:spPr>
          <a:xfrm>
            <a:off x="3606800" y="1841500"/>
            <a:ext cx="1295400" cy="1270000"/>
          </a:xfrm>
          <a:prstGeom prst="roundRect">
            <a:avLst>
              <a:gd name="adj" fmla="val 10000"/>
            </a:avLst>
          </a:prstGeom>
          <a:solidFill>
            <a:srgbClr val="FFFFFF"/>
          </a:solidFill>
          <a:ln w="12700">
            <a:solidFill>
              <a:srgbClr val="DCE2EB"/>
            </a:solidFill>
            <a:prstDash val="solid"/>
          </a:ln>
        </p:spPr>
      </p:sp>
      <p:sp>
        <p:nvSpPr>
          <p:cNvPr id="11" name="Text 9"/>
          <p:cNvSpPr txBox="1"/>
          <p:nvPr/>
        </p:nvSpPr>
        <p:spPr>
          <a:xfrm>
            <a:off x="3759200" y="2540000"/>
            <a:ext cx="1079500" cy="228600"/>
          </a:xfrm>
          <a:prstGeom prst="rect">
            <a:avLst/>
          </a:prstGeom>
          <a:noFill/>
          <a:ln/>
        </p:spPr>
        <p:txBody>
          <a:bodyPr wrap="square" lIns="0" tIns="0" rIns="0" bIns="0" rtlCol="0" anchor="t"/>
          <a:lstStyle/>
          <a:p>
            <a:pPr indent="0" marL="0">
              <a:buNone/>
            </a:pPr>
            <a:r>
              <a:rPr lang="en-US" sz="1300" b="1" dirty="0">
                <a:solidFill>
                  <a:srgbClr val="13213A"/>
                </a:solidFill>
                <a:latin typeface="Arial" pitchFamily="34" charset="0"/>
                <a:ea typeface="Arial" pitchFamily="34" charset="-122"/>
                <a:cs typeface="Arial" pitchFamily="34" charset="-120"/>
              </a:rPr>
              <a:t>Tarjetas</a:t>
            </a:r>
            <a:endParaRPr lang="en-US" sz="1300" dirty="0"/>
          </a:p>
        </p:txBody>
      </p:sp>
      <p:sp>
        <p:nvSpPr>
          <p:cNvPr id="12" name="Text 10"/>
          <p:cNvSpPr txBox="1"/>
          <p:nvPr/>
        </p:nvSpPr>
        <p:spPr>
          <a:xfrm>
            <a:off x="3759200" y="2781300"/>
            <a:ext cx="1079500" cy="203200"/>
          </a:xfrm>
          <a:prstGeom prst="rect">
            <a:avLst/>
          </a:prstGeom>
          <a:noFill/>
          <a:ln/>
        </p:spPr>
        <p:txBody>
          <a:bodyPr wrap="square" lIns="0" tIns="0" rIns="0" bIns="0" rtlCol="0" anchor="t"/>
          <a:lstStyle/>
          <a:p>
            <a:pPr indent="0" marL="0">
              <a:buNone/>
            </a:pPr>
            <a:r>
              <a:rPr lang="en-US" sz="1200" dirty="0">
                <a:solidFill>
                  <a:srgbClr val="13213A"/>
                </a:solidFill>
                <a:latin typeface="Consolas" pitchFamily="34" charset="0"/>
                <a:ea typeface="Consolas" pitchFamily="34" charset="-122"/>
                <a:cs typeface="Consolas" pitchFamily="34" charset="-120"/>
              </a:rPr>
              <a:t>#FFFFFF</a:t>
            </a:r>
            <a:endParaRPr lang="en-US" sz="1200" dirty="0"/>
          </a:p>
        </p:txBody>
      </p:sp>
      <p:sp>
        <p:nvSpPr>
          <p:cNvPr id="13" name="Shape 11"/>
          <p:cNvSpPr/>
          <p:nvPr/>
        </p:nvSpPr>
        <p:spPr>
          <a:xfrm>
            <a:off x="5003800" y="1841500"/>
            <a:ext cx="1295400" cy="1270000"/>
          </a:xfrm>
          <a:prstGeom prst="roundRect">
            <a:avLst>
              <a:gd name="adj" fmla="val 10000"/>
            </a:avLst>
          </a:prstGeom>
          <a:solidFill>
            <a:srgbClr val="13213A"/>
          </a:solidFill>
          <a:ln w="12700">
            <a:solidFill>
              <a:srgbClr val="DCE2EB"/>
            </a:solidFill>
            <a:prstDash val="solid"/>
          </a:ln>
        </p:spPr>
      </p:sp>
      <p:sp>
        <p:nvSpPr>
          <p:cNvPr id="14" name="Text 12"/>
          <p:cNvSpPr txBox="1"/>
          <p:nvPr/>
        </p:nvSpPr>
        <p:spPr>
          <a:xfrm>
            <a:off x="5156200" y="2540000"/>
            <a:ext cx="1079500" cy="228600"/>
          </a:xfrm>
          <a:prstGeom prst="rect">
            <a:avLst/>
          </a:prstGeom>
          <a:noFill/>
          <a:ln/>
        </p:spPr>
        <p:txBody>
          <a:bodyPr wrap="square" lIns="0" tIns="0" rIns="0" bIns="0" rtlCol="0" anchor="t"/>
          <a:lstStyle/>
          <a:p>
            <a:pPr indent="0" marL="0">
              <a:buNone/>
            </a:pPr>
            <a:r>
              <a:rPr lang="en-US" sz="1300" b="1" dirty="0">
                <a:solidFill>
                  <a:srgbClr val="F4F6F9"/>
                </a:solidFill>
                <a:latin typeface="Arial" pitchFamily="34" charset="0"/>
                <a:ea typeface="Arial" pitchFamily="34" charset="-122"/>
                <a:cs typeface="Arial" pitchFamily="34" charset="-120"/>
              </a:rPr>
              <a:t>Texto</a:t>
            </a:r>
            <a:endParaRPr lang="en-US" sz="1300" dirty="0"/>
          </a:p>
        </p:txBody>
      </p:sp>
      <p:sp>
        <p:nvSpPr>
          <p:cNvPr id="15" name="Text 13"/>
          <p:cNvSpPr txBox="1"/>
          <p:nvPr/>
        </p:nvSpPr>
        <p:spPr>
          <a:xfrm>
            <a:off x="5156200" y="2781300"/>
            <a:ext cx="1079500" cy="203200"/>
          </a:xfrm>
          <a:prstGeom prst="rect">
            <a:avLst/>
          </a:prstGeom>
          <a:noFill/>
          <a:ln/>
        </p:spPr>
        <p:txBody>
          <a:bodyPr wrap="square" lIns="0" tIns="0" rIns="0" bIns="0" rtlCol="0" anchor="t"/>
          <a:lstStyle/>
          <a:p>
            <a:pPr indent="0" marL="0">
              <a:buNone/>
            </a:pPr>
            <a:r>
              <a:rPr lang="en-US" sz="1200" dirty="0">
                <a:solidFill>
                  <a:srgbClr val="F4F6F9"/>
                </a:solidFill>
                <a:latin typeface="Consolas" pitchFamily="34" charset="0"/>
                <a:ea typeface="Consolas" pitchFamily="34" charset="-122"/>
                <a:cs typeface="Consolas" pitchFamily="34" charset="-120"/>
              </a:rPr>
              <a:t>#13213A</a:t>
            </a:r>
            <a:endParaRPr lang="en-US" sz="1200" dirty="0"/>
          </a:p>
        </p:txBody>
      </p:sp>
      <p:sp>
        <p:nvSpPr>
          <p:cNvPr id="16" name="Text 14"/>
          <p:cNvSpPr txBox="1"/>
          <p:nvPr/>
        </p:nvSpPr>
        <p:spPr>
          <a:xfrm>
            <a:off x="812800" y="3365500"/>
            <a:ext cx="5588000" cy="215900"/>
          </a:xfrm>
          <a:prstGeom prst="rect">
            <a:avLst/>
          </a:prstGeom>
          <a:noFill/>
          <a:ln/>
        </p:spPr>
        <p:txBody>
          <a:bodyPr wrap="square" lIns="0" tIns="0" rIns="0" bIns="0" rtlCol="0" anchor="t"/>
          <a:lstStyle/>
          <a:p>
            <a:pPr indent="0" marL="0">
              <a:buNone/>
            </a:pPr>
            <a:r>
              <a:rPr lang="en-US" sz="1200" b="1" spc="100" kern="0" dirty="0">
                <a:solidFill>
                  <a:srgbClr val="5A6A80"/>
                </a:solidFill>
                <a:latin typeface="Arial" pitchFamily="34" charset="0"/>
                <a:ea typeface="Arial" pitchFamily="34" charset="-122"/>
                <a:cs typeface="Arial" pitchFamily="34" charset="-120"/>
              </a:rPr>
              <a:t>ESTADOS: SIEMPRE COLOR Y TEXTO</a:t>
            </a:r>
            <a:endParaRPr lang="en-US" sz="1200" dirty="0"/>
          </a:p>
        </p:txBody>
      </p:sp>
      <p:sp>
        <p:nvSpPr>
          <p:cNvPr id="17" name="Shape 15"/>
          <p:cNvSpPr/>
          <p:nvPr/>
        </p:nvSpPr>
        <p:spPr>
          <a:xfrm>
            <a:off x="812800" y="3683000"/>
            <a:ext cx="1301750" cy="289560"/>
          </a:xfrm>
          <a:prstGeom prst="roundRect">
            <a:avLst>
              <a:gd name="adj" fmla="val 157895"/>
            </a:avLst>
          </a:prstGeom>
          <a:solidFill>
            <a:srgbClr val="E6EAF0"/>
          </a:solidFill>
          <a:ln/>
        </p:spPr>
      </p:sp>
      <p:sp>
        <p:nvSpPr>
          <p:cNvPr id="18" name="Text 16"/>
          <p:cNvSpPr txBox="1"/>
          <p:nvPr/>
        </p:nvSpPr>
        <p:spPr>
          <a:xfrm>
            <a:off x="812800" y="3683000"/>
            <a:ext cx="1301750" cy="289560"/>
          </a:xfrm>
          <a:prstGeom prst="rect">
            <a:avLst/>
          </a:prstGeom>
          <a:noFill/>
          <a:ln/>
        </p:spPr>
        <p:txBody>
          <a:bodyPr wrap="square" lIns="0" tIns="0" rIns="0" bIns="0" rtlCol="0" anchor="ctr"/>
          <a:lstStyle/>
          <a:p>
            <a:pPr algn="ctr" indent="0" marL="0">
              <a:buNone/>
            </a:pPr>
            <a:r>
              <a:rPr lang="en-US" sz="1200" b="1" dirty="0">
                <a:solidFill>
                  <a:srgbClr val="475569"/>
                </a:solidFill>
                <a:latin typeface="Arial" pitchFamily="34" charset="0"/>
                <a:ea typeface="Arial" pitchFamily="34" charset="-122"/>
                <a:cs typeface="Arial" pitchFamily="34" charset="-120"/>
              </a:rPr>
              <a:t>Preinscripto</a:t>
            </a:r>
            <a:endParaRPr lang="en-US" sz="1200" dirty="0"/>
          </a:p>
        </p:txBody>
      </p:sp>
      <p:sp>
        <p:nvSpPr>
          <p:cNvPr id="19" name="Shape 17"/>
          <p:cNvSpPr/>
          <p:nvPr/>
        </p:nvSpPr>
        <p:spPr>
          <a:xfrm>
            <a:off x="2190750" y="3683000"/>
            <a:ext cx="1219200" cy="289560"/>
          </a:xfrm>
          <a:prstGeom prst="roundRect">
            <a:avLst>
              <a:gd name="adj" fmla="val 157895"/>
            </a:avLst>
          </a:prstGeom>
          <a:solidFill>
            <a:srgbClr val="E1EBFB"/>
          </a:solidFill>
          <a:ln/>
        </p:spPr>
      </p:sp>
      <p:sp>
        <p:nvSpPr>
          <p:cNvPr id="20" name="Text 18"/>
          <p:cNvSpPr txBox="1"/>
          <p:nvPr/>
        </p:nvSpPr>
        <p:spPr>
          <a:xfrm>
            <a:off x="2190750" y="3683000"/>
            <a:ext cx="1219200" cy="289560"/>
          </a:xfrm>
          <a:prstGeom prst="rect">
            <a:avLst/>
          </a:prstGeom>
          <a:noFill/>
          <a:ln/>
        </p:spPr>
        <p:txBody>
          <a:bodyPr wrap="square" lIns="0" tIns="0" rIns="0" bIns="0" rtlCol="0" anchor="ctr"/>
          <a:lstStyle/>
          <a:p>
            <a:pPr algn="ctr" indent="0" marL="0">
              <a:buNone/>
            </a:pPr>
            <a:r>
              <a:rPr lang="en-US" sz="1200" b="1" dirty="0">
                <a:solidFill>
                  <a:srgbClr val="1F5FC4"/>
                </a:solidFill>
                <a:latin typeface="Arial" pitchFamily="34" charset="0"/>
                <a:ea typeface="Arial" pitchFamily="34" charset="-122"/>
                <a:cs typeface="Arial" pitchFamily="34" charset="-120"/>
              </a:rPr>
              <a:t>En revisión</a:t>
            </a:r>
            <a:endParaRPr lang="en-US" sz="1200" dirty="0"/>
          </a:p>
        </p:txBody>
      </p:sp>
      <p:sp>
        <p:nvSpPr>
          <p:cNvPr id="21" name="Shape 19"/>
          <p:cNvSpPr/>
          <p:nvPr/>
        </p:nvSpPr>
        <p:spPr>
          <a:xfrm>
            <a:off x="3486150" y="3683000"/>
            <a:ext cx="1562100" cy="289560"/>
          </a:xfrm>
          <a:prstGeom prst="roundRect">
            <a:avLst>
              <a:gd name="adj" fmla="val 157895"/>
            </a:avLst>
          </a:prstGeom>
          <a:solidFill>
            <a:srgbClr val="ECE6FA"/>
          </a:solidFill>
          <a:ln/>
        </p:spPr>
      </p:sp>
      <p:sp>
        <p:nvSpPr>
          <p:cNvPr id="22" name="Text 20"/>
          <p:cNvSpPr txBox="1"/>
          <p:nvPr/>
        </p:nvSpPr>
        <p:spPr>
          <a:xfrm>
            <a:off x="3486150" y="3683000"/>
            <a:ext cx="1562100" cy="289560"/>
          </a:xfrm>
          <a:prstGeom prst="rect">
            <a:avLst/>
          </a:prstGeom>
          <a:noFill/>
          <a:ln/>
        </p:spPr>
        <p:txBody>
          <a:bodyPr wrap="square" lIns="0" tIns="0" rIns="0" bIns="0" rtlCol="0" anchor="ctr"/>
          <a:lstStyle/>
          <a:p>
            <a:pPr algn="ctr" indent="0" marL="0">
              <a:buNone/>
            </a:pPr>
            <a:r>
              <a:rPr lang="en-US" sz="1200" b="1" dirty="0">
                <a:solidFill>
                  <a:srgbClr val="6744BF"/>
                </a:solidFill>
                <a:latin typeface="Arial" pitchFamily="34" charset="0"/>
                <a:ea typeface="Arial" pitchFamily="34" charset="-122"/>
                <a:cs typeface="Arial" pitchFamily="34" charset="-120"/>
              </a:rPr>
              <a:t>Lista de espera</a:t>
            </a:r>
            <a:endParaRPr lang="en-US" sz="1200" dirty="0"/>
          </a:p>
        </p:txBody>
      </p:sp>
      <p:sp>
        <p:nvSpPr>
          <p:cNvPr id="23" name="Shape 21"/>
          <p:cNvSpPr/>
          <p:nvPr/>
        </p:nvSpPr>
        <p:spPr>
          <a:xfrm>
            <a:off x="812800" y="4102100"/>
            <a:ext cx="1130300" cy="289560"/>
          </a:xfrm>
          <a:prstGeom prst="roundRect">
            <a:avLst>
              <a:gd name="adj" fmla="val 157895"/>
            </a:avLst>
          </a:prstGeom>
          <a:solidFill>
            <a:srgbClr val="DFF1E7"/>
          </a:solidFill>
          <a:ln/>
        </p:spPr>
      </p:sp>
      <p:sp>
        <p:nvSpPr>
          <p:cNvPr id="24" name="Text 22"/>
          <p:cNvSpPr txBox="1"/>
          <p:nvPr/>
        </p:nvSpPr>
        <p:spPr>
          <a:xfrm>
            <a:off x="812800" y="4102100"/>
            <a:ext cx="1130300" cy="289560"/>
          </a:xfrm>
          <a:prstGeom prst="rect">
            <a:avLst/>
          </a:prstGeom>
          <a:noFill/>
          <a:ln/>
        </p:spPr>
        <p:txBody>
          <a:bodyPr wrap="square" lIns="0" tIns="0" rIns="0" bIns="0" rtlCol="0" anchor="ctr"/>
          <a:lstStyle/>
          <a:p>
            <a:pPr algn="ctr" indent="0" marL="0">
              <a:buNone/>
            </a:pPr>
            <a:r>
              <a:rPr lang="en-US" sz="1200" b="1" dirty="0">
                <a:solidFill>
                  <a:srgbClr val="1D7A4C"/>
                </a:solidFill>
                <a:latin typeface="Arial" pitchFamily="34" charset="0"/>
                <a:ea typeface="Arial" pitchFamily="34" charset="-122"/>
                <a:cs typeface="Arial" pitchFamily="34" charset="-120"/>
              </a:rPr>
              <a:t>Confirmado</a:t>
            </a:r>
            <a:endParaRPr lang="en-US" sz="1200" dirty="0"/>
          </a:p>
        </p:txBody>
      </p:sp>
      <p:sp>
        <p:nvSpPr>
          <p:cNvPr id="25" name="Shape 23"/>
          <p:cNvSpPr/>
          <p:nvPr/>
        </p:nvSpPr>
        <p:spPr>
          <a:xfrm>
            <a:off x="2019300" y="4102100"/>
            <a:ext cx="1047750" cy="289560"/>
          </a:xfrm>
          <a:prstGeom prst="roundRect">
            <a:avLst>
              <a:gd name="adj" fmla="val 157895"/>
            </a:avLst>
          </a:prstGeom>
          <a:solidFill>
            <a:srgbClr val="FAE3E1"/>
          </a:solidFill>
          <a:ln/>
        </p:spPr>
      </p:sp>
      <p:sp>
        <p:nvSpPr>
          <p:cNvPr id="26" name="Text 24"/>
          <p:cNvSpPr txBox="1"/>
          <p:nvPr/>
        </p:nvSpPr>
        <p:spPr>
          <a:xfrm>
            <a:off x="2019300" y="4102100"/>
            <a:ext cx="1047750" cy="289560"/>
          </a:xfrm>
          <a:prstGeom prst="rect">
            <a:avLst/>
          </a:prstGeom>
          <a:noFill/>
          <a:ln/>
        </p:spPr>
        <p:txBody>
          <a:bodyPr wrap="square" lIns="0" tIns="0" rIns="0" bIns="0" rtlCol="0" anchor="ctr"/>
          <a:lstStyle/>
          <a:p>
            <a:pPr algn="ctr" indent="0" marL="0">
              <a:buNone/>
            </a:pPr>
            <a:r>
              <a:rPr lang="en-US" sz="1200" b="1" dirty="0">
                <a:solidFill>
                  <a:srgbClr val="BF3A30"/>
                </a:solidFill>
                <a:latin typeface="Arial" pitchFamily="34" charset="0"/>
                <a:ea typeface="Arial" pitchFamily="34" charset="-122"/>
                <a:cs typeface="Arial" pitchFamily="34" charset="-120"/>
              </a:rPr>
              <a:t>Rechazado</a:t>
            </a:r>
            <a:endParaRPr lang="en-US" sz="1200" dirty="0"/>
          </a:p>
        </p:txBody>
      </p:sp>
      <p:sp>
        <p:nvSpPr>
          <p:cNvPr id="27" name="Shape 25"/>
          <p:cNvSpPr/>
          <p:nvPr/>
        </p:nvSpPr>
        <p:spPr>
          <a:xfrm>
            <a:off x="6807200" y="1841500"/>
            <a:ext cx="4572000" cy="3810000"/>
          </a:xfrm>
          <a:prstGeom prst="roundRect">
            <a:avLst>
              <a:gd name="adj" fmla="val 4000"/>
            </a:avLst>
          </a:prstGeom>
          <a:solidFill>
            <a:srgbClr val="FFFFFF"/>
          </a:solidFill>
          <a:ln w="12700">
            <a:solidFill>
              <a:srgbClr val="DCE2EB"/>
            </a:solidFill>
            <a:prstDash val="solid"/>
          </a:ln>
        </p:spPr>
      </p:sp>
      <p:sp>
        <p:nvSpPr>
          <p:cNvPr id="28" name="Text 26"/>
          <p:cNvSpPr txBox="1"/>
          <p:nvPr/>
        </p:nvSpPr>
        <p:spPr>
          <a:xfrm>
            <a:off x="7061200" y="2032000"/>
            <a:ext cx="1524000" cy="1016000"/>
          </a:xfrm>
          <a:prstGeom prst="rect">
            <a:avLst/>
          </a:prstGeom>
          <a:noFill/>
          <a:ln/>
        </p:spPr>
        <p:txBody>
          <a:bodyPr wrap="square" lIns="0" tIns="0" rIns="0" bIns="0" rtlCol="0" anchor="t"/>
          <a:lstStyle/>
          <a:p>
            <a:pPr indent="0" marL="0">
              <a:buNone/>
            </a:pPr>
            <a:r>
              <a:rPr lang="en-US" sz="7000" b="1" dirty="0">
                <a:solidFill>
                  <a:srgbClr val="13294B"/>
                </a:solidFill>
                <a:latin typeface="Arial" pitchFamily="34" charset="0"/>
                <a:ea typeface="Arial" pitchFamily="34" charset="-122"/>
                <a:cs typeface="Arial" pitchFamily="34" charset="-120"/>
              </a:rPr>
              <a:t>Aa</a:t>
            </a:r>
            <a:endParaRPr lang="en-US" sz="7000" dirty="0"/>
          </a:p>
        </p:txBody>
      </p:sp>
      <p:sp>
        <p:nvSpPr>
          <p:cNvPr id="29" name="Text 27"/>
          <p:cNvSpPr txBox="1"/>
          <p:nvPr/>
        </p:nvSpPr>
        <p:spPr>
          <a:xfrm>
            <a:off x="8636000" y="2413000"/>
            <a:ext cx="2413000" cy="317500"/>
          </a:xfrm>
          <a:prstGeom prst="rect">
            <a:avLst/>
          </a:prstGeom>
          <a:noFill/>
          <a:ln/>
        </p:spPr>
        <p:txBody>
          <a:bodyPr wrap="square" lIns="0" tIns="0" rIns="0" bIns="0" rtlCol="0" anchor="t"/>
          <a:lstStyle/>
          <a:p>
            <a:pPr indent="0" marL="0">
              <a:buNone/>
            </a:pPr>
            <a:r>
              <a:rPr lang="en-US" sz="1800" b="1" dirty="0">
                <a:solidFill>
                  <a:srgbClr val="13213A"/>
                </a:solidFill>
                <a:latin typeface="Arial" pitchFamily="34" charset="0"/>
                <a:ea typeface="Arial" pitchFamily="34" charset="-122"/>
                <a:cs typeface="Arial" pitchFamily="34" charset="-120"/>
              </a:rPr>
              <a:t>Inter</a:t>
            </a:r>
            <a:endParaRPr lang="en-US" sz="1800" dirty="0"/>
          </a:p>
        </p:txBody>
      </p:sp>
      <p:sp>
        <p:nvSpPr>
          <p:cNvPr id="30" name="Text 28"/>
          <p:cNvSpPr txBox="1"/>
          <p:nvPr/>
        </p:nvSpPr>
        <p:spPr>
          <a:xfrm>
            <a:off x="8636000" y="2743200"/>
            <a:ext cx="2413000" cy="228600"/>
          </a:xfrm>
          <a:prstGeom prst="rect">
            <a:avLst/>
          </a:prstGeom>
          <a:noFill/>
          <a:ln/>
        </p:spPr>
        <p:txBody>
          <a:bodyPr wrap="square" lIns="0" tIns="0" rIns="0" bIns="0" rtlCol="0" anchor="t"/>
          <a:lstStyle/>
          <a:p>
            <a:pPr indent="0" marL="0">
              <a:buNone/>
            </a:pPr>
            <a:r>
              <a:rPr lang="en-US" sz="1200" dirty="0">
                <a:solidFill>
                  <a:srgbClr val="4A5A70"/>
                </a:solidFill>
                <a:latin typeface="Arial" pitchFamily="34" charset="0"/>
                <a:ea typeface="Arial" pitchFamily="34" charset="-122"/>
                <a:cs typeface="Arial" pitchFamily="34" charset="-120"/>
              </a:rPr>
              <a:t>pesos 400 a 800</a:t>
            </a:r>
            <a:endParaRPr lang="en-US" sz="1200" dirty="0"/>
          </a:p>
        </p:txBody>
      </p:sp>
      <p:sp>
        <p:nvSpPr>
          <p:cNvPr id="31" name="Text 29"/>
          <p:cNvSpPr txBox="1"/>
          <p:nvPr/>
        </p:nvSpPr>
        <p:spPr>
          <a:xfrm>
            <a:off x="7061200" y="3302000"/>
            <a:ext cx="4064000" cy="2159000"/>
          </a:xfrm>
          <a:prstGeom prst="rect">
            <a:avLst/>
          </a:prstGeom>
          <a:noFill/>
          <a:ln/>
        </p:spPr>
        <p:txBody>
          <a:bodyPr wrap="square" lIns="0" tIns="0" rIns="0" bIns="0" rtlCol="0" anchor="t"/>
          <a:lstStyle/>
          <a:p>
            <a:pPr marL="228600" indent="-228600">
              <a:lnSpc>
                <a:spcPct val="115000"/>
              </a:lnSpc>
              <a:spcAft>
                <a:spcPts val="715"/>
              </a:spcAft>
              <a:buSzPct val="100000"/>
              <a:buChar char="•"/>
            </a:pPr>
            <a:r>
              <a:rPr lang="en-US" sz="1300" dirty="0">
                <a:solidFill>
                  <a:srgbClr val="4A5A70"/>
                </a:solidFill>
                <a:latin typeface="Arial" pitchFamily="34" charset="0"/>
                <a:ea typeface="Arial" pitchFamily="34" charset="-122"/>
                <a:cs typeface="Arial" pitchFamily="34" charset="-120"/>
              </a:rPr>
              <a:t>Tarjetas blancas sobre gris frío</a:t>
            </a:r>
            <a:endParaRPr lang="en-US" sz="1300" dirty="0"/>
          </a:p>
          <a:p>
            <a:pPr marL="228600" indent="-228600">
              <a:lnSpc>
                <a:spcPct val="115000"/>
              </a:lnSpc>
              <a:spcAft>
                <a:spcPts val="715"/>
              </a:spcAft>
              <a:buSzPct val="100000"/>
              <a:buChar char="•"/>
            </a:pPr>
            <a:r>
              <a:rPr lang="en-US" sz="1300" dirty="0">
                <a:solidFill>
                  <a:srgbClr val="4A5A70"/>
                </a:solidFill>
                <a:latin typeface="Arial" pitchFamily="34" charset="0"/>
                <a:ea typeface="Arial" pitchFamily="34" charset="-122"/>
                <a:cs typeface="Arial" pitchFamily="34" charset="-120"/>
              </a:rPr>
              <a:t>Formulario pensado primero para el celular</a:t>
            </a:r>
            <a:endParaRPr lang="en-US" sz="1300" dirty="0"/>
          </a:p>
          <a:p>
            <a:pPr marL="228600" indent="-228600">
              <a:lnSpc>
                <a:spcPct val="115000"/>
              </a:lnSpc>
              <a:spcAft>
                <a:spcPts val="715"/>
              </a:spcAft>
              <a:buSzPct val="100000"/>
              <a:buChar char="•"/>
            </a:pPr>
            <a:r>
              <a:rPr lang="en-US" sz="1300" dirty="0">
                <a:solidFill>
                  <a:srgbClr val="4A5A70"/>
                </a:solidFill>
                <a:latin typeface="Arial" pitchFamily="34" charset="0"/>
                <a:ea typeface="Arial" pitchFamily="34" charset="-122"/>
                <a:cs typeface="Arial" pitchFamily="34" charset="-120"/>
              </a:rPr>
              <a:t>Íconos Lucide, de código abierto</a:t>
            </a:r>
            <a:endParaRPr lang="en-US" sz="1300" dirty="0"/>
          </a:p>
          <a:p>
            <a:pPr marL="228600" indent="-228600">
              <a:lnSpc>
                <a:spcPct val="115000"/>
              </a:lnSpc>
              <a:spcAft>
                <a:spcPts val="715"/>
              </a:spcAft>
              <a:buSzPct val="100000"/>
              <a:buChar char="•"/>
            </a:pPr>
            <a:r>
              <a:rPr lang="en-US" sz="1300" dirty="0">
                <a:solidFill>
                  <a:srgbClr val="4A5A70"/>
                </a:solidFill>
                <a:latin typeface="Arial" pitchFamily="34" charset="0"/>
                <a:ea typeface="Arial" pitchFamily="34" charset="-122"/>
                <a:cs typeface="Arial" pitchFamily="34" charset="-120"/>
              </a:rPr>
              <a:t>Tomado de los mockups de referencia del equipo</a:t>
            </a:r>
            <a:endParaRPr lang="en-US" sz="1300" dirty="0"/>
          </a:p>
        </p:txBody>
      </p:sp>
      <p:sp>
        <p:nvSpPr>
          <p:cNvPr id="32" name="Text 30"/>
          <p:cNvSpPr txBox="1"/>
          <p:nvPr/>
        </p:nvSpPr>
        <p:spPr>
          <a:xfrm>
            <a:off x="812800" y="6235700"/>
            <a:ext cx="6350000" cy="215900"/>
          </a:xfrm>
          <a:prstGeom prst="rect">
            <a:avLst/>
          </a:prstGeom>
          <a:noFill/>
          <a:ln/>
        </p:spPr>
        <p:txBody>
          <a:bodyPr wrap="square" lIns="0" tIns="0" rIns="0" bIns="0" rtlCol="0" anchor="t"/>
          <a:lstStyle/>
          <a:p>
            <a:pPr indent="0" marL="0">
              <a:buNone/>
            </a:pPr>
            <a:r>
              <a:rPr lang="en-US" sz="1200" dirty="0">
                <a:solidFill>
                  <a:srgbClr val="5A6A80"/>
                </a:solidFill>
                <a:latin typeface="Arial" pitchFamily="34" charset="0"/>
                <a:ea typeface="Arial" pitchFamily="34" charset="-122"/>
                <a:cs typeface="Arial" pitchFamily="34" charset="-120"/>
              </a:rPr>
              <a:t>SIGA · Primera cohorte · Circuito de ingreso</a:t>
            </a:r>
            <a:endParaRPr lang="en-US" sz="1200" dirty="0"/>
          </a:p>
        </p:txBody>
      </p:sp>
      <p:sp>
        <p:nvSpPr>
          <p:cNvPr id="33" name="Text 31"/>
          <p:cNvSpPr txBox="1"/>
          <p:nvPr/>
        </p:nvSpPr>
        <p:spPr>
          <a:xfrm>
            <a:off x="10109200" y="6235700"/>
            <a:ext cx="1270000" cy="215900"/>
          </a:xfrm>
          <a:prstGeom prst="rect">
            <a:avLst/>
          </a:prstGeom>
          <a:noFill/>
          <a:ln/>
        </p:spPr>
        <p:txBody>
          <a:bodyPr wrap="square" lIns="0" tIns="0" rIns="0" bIns="0" rtlCol="0" anchor="t"/>
          <a:lstStyle/>
          <a:p>
            <a:pPr algn="r" indent="0" marL="0">
              <a:buNone/>
            </a:pPr>
            <a:r>
              <a:rPr lang="en-US" sz="1200" dirty="0">
                <a:solidFill>
                  <a:srgbClr val="5A6A80"/>
                </a:solidFill>
                <a:latin typeface="Arial" pitchFamily="34" charset="0"/>
                <a:ea typeface="Arial" pitchFamily="34" charset="-122"/>
                <a:cs typeface="Arial"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5900"/>
          </a:xfrm>
          <a:prstGeom prst="rect">
            <a:avLst/>
          </a:prstGeom>
          <a:noFill/>
          <a:ln/>
        </p:spPr>
        <p:txBody>
          <a:bodyPr wrap="square" lIns="0" tIns="0" rIns="0" bIns="0" rtlCol="0" anchor="t"/>
          <a:lstStyle/>
          <a:p>
            <a:pPr indent="0" marL="0">
              <a:buNone/>
            </a:pPr>
            <a:r>
              <a:rPr lang="en-US" sz="1200" b="1" spc="150" kern="0" dirty="0">
                <a:solidFill>
                  <a:srgbClr val="2E5FC7"/>
                </a:solidFill>
                <a:latin typeface="Arial" pitchFamily="34" charset="0"/>
                <a:ea typeface="Arial" pitchFamily="34" charset="-122"/>
                <a:cs typeface="Arial" pitchFamily="34" charset="-120"/>
              </a:rPr>
              <a:t>MODELO DE DATOS</a:t>
            </a:r>
            <a:endParaRPr lang="en-US" sz="1200" dirty="0"/>
          </a:p>
        </p:txBody>
      </p:sp>
      <p:sp>
        <p:nvSpPr>
          <p:cNvPr id="3" name="Text 1"/>
          <p:cNvSpPr txBox="1"/>
          <p:nvPr/>
        </p:nvSpPr>
        <p:spPr>
          <a:xfrm>
            <a:off x="812800" y="1066800"/>
            <a:ext cx="10566400" cy="444500"/>
          </a:xfrm>
          <a:prstGeom prst="rect">
            <a:avLst/>
          </a:prstGeom>
          <a:noFill/>
          <a:ln/>
        </p:spPr>
        <p:txBody>
          <a:bodyPr wrap="square" lIns="0" tIns="0" rIns="0" bIns="0" rtlCol="0" anchor="t"/>
          <a:lstStyle/>
          <a:p>
            <a:pPr indent="0" marL="0">
              <a:lnSpc>
                <a:spcPct val="100000"/>
              </a:lnSpc>
              <a:buNone/>
            </a:pPr>
            <a:r>
              <a:rPr lang="en-US" sz="2800" b="1" dirty="0">
                <a:solidFill>
                  <a:srgbClr val="13213A"/>
                </a:solidFill>
                <a:latin typeface="Arial" pitchFamily="34" charset="0"/>
                <a:ea typeface="Arial" pitchFamily="34" charset="-122"/>
                <a:cs typeface="Arial" pitchFamily="34" charset="-120"/>
              </a:rPr>
              <a:t>Ya está pensado el modelo de todo el SIGA</a:t>
            </a:r>
            <a:endParaRPr lang="en-US" sz="2800" dirty="0"/>
          </a:p>
        </p:txBody>
      </p:sp>
      <p:sp>
        <p:nvSpPr>
          <p:cNvPr id="4" name="Text 2"/>
          <p:cNvSpPr txBox="1"/>
          <p:nvPr/>
        </p:nvSpPr>
        <p:spPr>
          <a:xfrm>
            <a:off x="812800" y="1778000"/>
            <a:ext cx="1397000" cy="508000"/>
          </a:xfrm>
          <a:prstGeom prst="rect">
            <a:avLst/>
          </a:prstGeom>
          <a:noFill/>
          <a:ln/>
        </p:spPr>
        <p:txBody>
          <a:bodyPr wrap="square" lIns="0" tIns="0" rIns="0" bIns="0" rtlCol="0" anchor="t"/>
          <a:lstStyle/>
          <a:p>
            <a:pPr indent="0" marL="0">
              <a:buNone/>
            </a:pPr>
            <a:r>
              <a:rPr lang="en-US" sz="3600" b="1" dirty="0">
                <a:solidFill>
                  <a:srgbClr val="13294B"/>
                </a:solidFill>
                <a:latin typeface="Arial" pitchFamily="34" charset="0"/>
                <a:ea typeface="Arial" pitchFamily="34" charset="-122"/>
                <a:cs typeface="Arial" pitchFamily="34" charset="-120"/>
              </a:rPr>
              <a:t>29</a:t>
            </a:r>
            <a:endParaRPr lang="en-US" sz="3600" dirty="0"/>
          </a:p>
        </p:txBody>
      </p:sp>
      <p:sp>
        <p:nvSpPr>
          <p:cNvPr id="5" name="Text 3"/>
          <p:cNvSpPr txBox="1"/>
          <p:nvPr/>
        </p:nvSpPr>
        <p:spPr>
          <a:xfrm>
            <a:off x="812800" y="2298700"/>
            <a:ext cx="1397000" cy="215900"/>
          </a:xfrm>
          <a:prstGeom prst="rect">
            <a:avLst/>
          </a:prstGeom>
          <a:noFill/>
          <a:ln/>
        </p:spPr>
        <p:txBody>
          <a:bodyPr wrap="square" lIns="0" tIns="0" rIns="0" bIns="0" rtlCol="0" anchor="t"/>
          <a:lstStyle/>
          <a:p>
            <a:pPr indent="0" marL="0">
              <a:buNone/>
            </a:pPr>
            <a:r>
              <a:rPr lang="en-US" sz="1200" dirty="0">
                <a:solidFill>
                  <a:srgbClr val="4A5A70"/>
                </a:solidFill>
                <a:latin typeface="Arial" pitchFamily="34" charset="0"/>
                <a:ea typeface="Arial" pitchFamily="34" charset="-122"/>
                <a:cs typeface="Arial" pitchFamily="34" charset="-120"/>
              </a:rPr>
              <a:t>tablas</a:t>
            </a:r>
            <a:endParaRPr lang="en-US" sz="1200" dirty="0"/>
          </a:p>
        </p:txBody>
      </p:sp>
      <p:sp>
        <p:nvSpPr>
          <p:cNvPr id="6" name="Text 4"/>
          <p:cNvSpPr txBox="1"/>
          <p:nvPr/>
        </p:nvSpPr>
        <p:spPr>
          <a:xfrm>
            <a:off x="2273300" y="1778000"/>
            <a:ext cx="1397000" cy="508000"/>
          </a:xfrm>
          <a:prstGeom prst="rect">
            <a:avLst/>
          </a:prstGeom>
          <a:noFill/>
          <a:ln/>
        </p:spPr>
        <p:txBody>
          <a:bodyPr wrap="square" lIns="0" tIns="0" rIns="0" bIns="0" rtlCol="0" anchor="t"/>
          <a:lstStyle/>
          <a:p>
            <a:pPr indent="0" marL="0">
              <a:buNone/>
            </a:pPr>
            <a:r>
              <a:rPr lang="en-US" sz="3600" b="1" dirty="0">
                <a:solidFill>
                  <a:srgbClr val="13294B"/>
                </a:solidFill>
                <a:latin typeface="Arial" pitchFamily="34" charset="0"/>
                <a:ea typeface="Arial" pitchFamily="34" charset="-122"/>
                <a:cs typeface="Arial" pitchFamily="34" charset="-120"/>
              </a:rPr>
              <a:t>58</a:t>
            </a:r>
            <a:endParaRPr lang="en-US" sz="3600" dirty="0"/>
          </a:p>
        </p:txBody>
      </p:sp>
      <p:sp>
        <p:nvSpPr>
          <p:cNvPr id="7" name="Text 5"/>
          <p:cNvSpPr txBox="1"/>
          <p:nvPr/>
        </p:nvSpPr>
        <p:spPr>
          <a:xfrm>
            <a:off x="2273300" y="2298700"/>
            <a:ext cx="1397000" cy="215900"/>
          </a:xfrm>
          <a:prstGeom prst="rect">
            <a:avLst/>
          </a:prstGeom>
          <a:noFill/>
          <a:ln/>
        </p:spPr>
        <p:txBody>
          <a:bodyPr wrap="square" lIns="0" tIns="0" rIns="0" bIns="0" rtlCol="0" anchor="t"/>
          <a:lstStyle/>
          <a:p>
            <a:pPr indent="0" marL="0">
              <a:buNone/>
            </a:pPr>
            <a:r>
              <a:rPr lang="en-US" sz="1200" dirty="0">
                <a:solidFill>
                  <a:srgbClr val="4A5A70"/>
                </a:solidFill>
                <a:latin typeface="Arial" pitchFamily="34" charset="0"/>
                <a:ea typeface="Arial" pitchFamily="34" charset="-122"/>
                <a:cs typeface="Arial" pitchFamily="34" charset="-120"/>
              </a:rPr>
              <a:t>relaciones</a:t>
            </a:r>
            <a:endParaRPr lang="en-US" sz="1200" dirty="0"/>
          </a:p>
        </p:txBody>
      </p:sp>
      <p:sp>
        <p:nvSpPr>
          <p:cNvPr id="8" name="Text 6"/>
          <p:cNvSpPr txBox="1"/>
          <p:nvPr/>
        </p:nvSpPr>
        <p:spPr>
          <a:xfrm>
            <a:off x="3733800" y="1778000"/>
            <a:ext cx="1397000" cy="508000"/>
          </a:xfrm>
          <a:prstGeom prst="rect">
            <a:avLst/>
          </a:prstGeom>
          <a:noFill/>
          <a:ln/>
        </p:spPr>
        <p:txBody>
          <a:bodyPr wrap="square" lIns="0" tIns="0" rIns="0" bIns="0" rtlCol="0" anchor="t"/>
          <a:lstStyle/>
          <a:p>
            <a:pPr indent="0" marL="0">
              <a:buNone/>
            </a:pPr>
            <a:r>
              <a:rPr lang="en-US" sz="3600" b="1" dirty="0">
                <a:solidFill>
                  <a:srgbClr val="13294B"/>
                </a:solidFill>
                <a:latin typeface="Arial" pitchFamily="34" charset="0"/>
                <a:ea typeface="Arial" pitchFamily="34" charset="-122"/>
                <a:cs typeface="Arial" pitchFamily="34" charset="-120"/>
              </a:rPr>
              <a:t>7</a:t>
            </a:r>
            <a:endParaRPr lang="en-US" sz="3600" dirty="0"/>
          </a:p>
        </p:txBody>
      </p:sp>
      <p:sp>
        <p:nvSpPr>
          <p:cNvPr id="9" name="Text 7"/>
          <p:cNvSpPr txBox="1"/>
          <p:nvPr/>
        </p:nvSpPr>
        <p:spPr>
          <a:xfrm>
            <a:off x="3733800" y="2298700"/>
            <a:ext cx="1397000" cy="215900"/>
          </a:xfrm>
          <a:prstGeom prst="rect">
            <a:avLst/>
          </a:prstGeom>
          <a:noFill/>
          <a:ln/>
        </p:spPr>
        <p:txBody>
          <a:bodyPr wrap="square" lIns="0" tIns="0" rIns="0" bIns="0" rtlCol="0" anchor="t"/>
          <a:lstStyle/>
          <a:p>
            <a:pPr indent="0" marL="0">
              <a:buNone/>
            </a:pPr>
            <a:r>
              <a:rPr lang="en-US" sz="1200" dirty="0">
                <a:solidFill>
                  <a:srgbClr val="4A5A70"/>
                </a:solidFill>
                <a:latin typeface="Arial" pitchFamily="34" charset="0"/>
                <a:ea typeface="Arial" pitchFamily="34" charset="-122"/>
                <a:cs typeface="Arial" pitchFamily="34" charset="-120"/>
              </a:rPr>
              <a:t>módulos</a:t>
            </a:r>
            <a:endParaRPr lang="en-US" sz="1200" dirty="0"/>
          </a:p>
        </p:txBody>
      </p:sp>
      <p:sp>
        <p:nvSpPr>
          <p:cNvPr id="10" name="Shape 8"/>
          <p:cNvSpPr/>
          <p:nvPr/>
        </p:nvSpPr>
        <p:spPr>
          <a:xfrm>
            <a:off x="812800" y="2667000"/>
            <a:ext cx="5715000" cy="0"/>
          </a:xfrm>
          <a:prstGeom prst="line">
            <a:avLst/>
          </a:prstGeom>
          <a:noFill/>
          <a:ln w="12700">
            <a:solidFill>
              <a:srgbClr val="DCE2EB"/>
            </a:solidFill>
            <a:prstDash val="solid"/>
          </a:ln>
        </p:spPr>
      </p:sp>
      <p:sp>
        <p:nvSpPr>
          <p:cNvPr id="11" name="Text 9"/>
          <p:cNvSpPr txBox="1"/>
          <p:nvPr/>
        </p:nvSpPr>
        <p:spPr>
          <a:xfrm>
            <a:off x="812800" y="2730500"/>
            <a:ext cx="2794000" cy="241300"/>
          </a:xfrm>
          <a:prstGeom prst="rect">
            <a:avLst/>
          </a:prstGeom>
          <a:noFill/>
          <a:ln/>
        </p:spPr>
        <p:txBody>
          <a:bodyPr wrap="square" lIns="0" tIns="0" rIns="0" bIns="0" rtlCol="0" anchor="ctr"/>
          <a:lstStyle/>
          <a:p>
            <a:pPr indent="0" marL="0">
              <a:buNone/>
            </a:pPr>
            <a:r>
              <a:rPr lang="en-US" sz="1300" b="1" dirty="0">
                <a:solidFill>
                  <a:srgbClr val="13213A"/>
                </a:solidFill>
                <a:latin typeface="Arial" pitchFamily="34" charset="0"/>
                <a:ea typeface="Arial" pitchFamily="34" charset="-122"/>
                <a:cs typeface="Arial" pitchFamily="34" charset="-120"/>
              </a:rPr>
              <a:t>Autenticación y roles</a:t>
            </a:r>
            <a:endParaRPr lang="en-US" sz="1300" dirty="0"/>
          </a:p>
        </p:txBody>
      </p:sp>
      <p:sp>
        <p:nvSpPr>
          <p:cNvPr id="12" name="Shape 10"/>
          <p:cNvSpPr/>
          <p:nvPr/>
        </p:nvSpPr>
        <p:spPr>
          <a:xfrm>
            <a:off x="3759200" y="2755900"/>
            <a:ext cx="190500" cy="190500"/>
          </a:xfrm>
          <a:prstGeom prst="roundRect">
            <a:avLst>
              <a:gd name="adj" fmla="val 96000"/>
            </a:avLst>
          </a:prstGeom>
          <a:solidFill>
            <a:srgbClr val="13294B"/>
          </a:solidFill>
          <a:ln/>
        </p:spPr>
      </p:sp>
      <p:sp>
        <p:nvSpPr>
          <p:cNvPr id="13" name="Shape 11"/>
          <p:cNvSpPr/>
          <p:nvPr/>
        </p:nvSpPr>
        <p:spPr>
          <a:xfrm>
            <a:off x="3987800" y="2755900"/>
            <a:ext cx="190500" cy="190500"/>
          </a:xfrm>
          <a:prstGeom prst="roundRect">
            <a:avLst>
              <a:gd name="adj" fmla="val 96000"/>
            </a:avLst>
          </a:prstGeom>
          <a:solidFill>
            <a:srgbClr val="13294B"/>
          </a:solidFill>
          <a:ln/>
        </p:spPr>
      </p:sp>
      <p:sp>
        <p:nvSpPr>
          <p:cNvPr id="14" name="Shape 12"/>
          <p:cNvSpPr/>
          <p:nvPr/>
        </p:nvSpPr>
        <p:spPr>
          <a:xfrm>
            <a:off x="4216400" y="2755900"/>
            <a:ext cx="190500" cy="190500"/>
          </a:xfrm>
          <a:prstGeom prst="roundRect">
            <a:avLst>
              <a:gd name="adj" fmla="val 96000"/>
            </a:avLst>
          </a:prstGeom>
          <a:solidFill>
            <a:srgbClr val="D5DCE6"/>
          </a:solidFill>
          <a:ln/>
        </p:spPr>
      </p:sp>
      <p:sp>
        <p:nvSpPr>
          <p:cNvPr id="15" name="Text 13"/>
          <p:cNvSpPr txBox="1"/>
          <p:nvPr/>
        </p:nvSpPr>
        <p:spPr>
          <a:xfrm>
            <a:off x="5283200" y="2730500"/>
            <a:ext cx="1270000" cy="241300"/>
          </a:xfrm>
          <a:prstGeom prst="rect">
            <a:avLst/>
          </a:prstGeom>
          <a:noFill/>
          <a:ln/>
        </p:spPr>
        <p:txBody>
          <a:bodyPr wrap="square" lIns="0" tIns="0" rIns="0" bIns="0" rtlCol="0" anchor="ctr"/>
          <a:lstStyle/>
          <a:p>
            <a:pPr indent="0" marL="0">
              <a:buNone/>
            </a:pPr>
            <a:r>
              <a:rPr lang="en-US" sz="1200" dirty="0">
                <a:solidFill>
                  <a:srgbClr val="4A5A70"/>
                </a:solidFill>
                <a:latin typeface="Arial" pitchFamily="34" charset="0"/>
                <a:ea typeface="Arial" pitchFamily="34" charset="-122"/>
                <a:cs typeface="Arial" pitchFamily="34" charset="-120"/>
              </a:rPr>
              <a:t>2 de 3</a:t>
            </a:r>
            <a:endParaRPr lang="en-US" sz="1200" dirty="0"/>
          </a:p>
        </p:txBody>
      </p:sp>
      <p:sp>
        <p:nvSpPr>
          <p:cNvPr id="16" name="Shape 14"/>
          <p:cNvSpPr/>
          <p:nvPr/>
        </p:nvSpPr>
        <p:spPr>
          <a:xfrm>
            <a:off x="812800" y="3035300"/>
            <a:ext cx="5715000" cy="0"/>
          </a:xfrm>
          <a:prstGeom prst="line">
            <a:avLst/>
          </a:prstGeom>
          <a:noFill/>
          <a:ln w="12700">
            <a:solidFill>
              <a:srgbClr val="DCE2EB"/>
            </a:solidFill>
            <a:prstDash val="solid"/>
          </a:ln>
        </p:spPr>
      </p:sp>
      <p:sp>
        <p:nvSpPr>
          <p:cNvPr id="17" name="Text 15"/>
          <p:cNvSpPr txBox="1"/>
          <p:nvPr/>
        </p:nvSpPr>
        <p:spPr>
          <a:xfrm>
            <a:off x="812800" y="3098800"/>
            <a:ext cx="2794000" cy="241300"/>
          </a:xfrm>
          <a:prstGeom prst="rect">
            <a:avLst/>
          </a:prstGeom>
          <a:noFill/>
          <a:ln/>
        </p:spPr>
        <p:txBody>
          <a:bodyPr wrap="square" lIns="0" tIns="0" rIns="0" bIns="0" rtlCol="0" anchor="ctr"/>
          <a:lstStyle/>
          <a:p>
            <a:pPr indent="0" marL="0">
              <a:buNone/>
            </a:pPr>
            <a:r>
              <a:rPr lang="en-US" sz="1300" b="1" dirty="0">
                <a:solidFill>
                  <a:srgbClr val="13213A"/>
                </a:solidFill>
                <a:latin typeface="Arial" pitchFamily="34" charset="0"/>
                <a:ea typeface="Arial" pitchFamily="34" charset="-122"/>
                <a:cs typeface="Arial" pitchFamily="34" charset="-120"/>
              </a:rPr>
              <a:t>Estructura académica</a:t>
            </a:r>
            <a:endParaRPr lang="en-US" sz="1300" dirty="0"/>
          </a:p>
        </p:txBody>
      </p:sp>
      <p:sp>
        <p:nvSpPr>
          <p:cNvPr id="18" name="Shape 16"/>
          <p:cNvSpPr/>
          <p:nvPr/>
        </p:nvSpPr>
        <p:spPr>
          <a:xfrm>
            <a:off x="3759200" y="3124200"/>
            <a:ext cx="190500" cy="190500"/>
          </a:xfrm>
          <a:prstGeom prst="roundRect">
            <a:avLst>
              <a:gd name="adj" fmla="val 96000"/>
            </a:avLst>
          </a:prstGeom>
          <a:solidFill>
            <a:srgbClr val="13294B"/>
          </a:solidFill>
          <a:ln/>
        </p:spPr>
      </p:sp>
      <p:sp>
        <p:nvSpPr>
          <p:cNvPr id="19" name="Shape 17"/>
          <p:cNvSpPr/>
          <p:nvPr/>
        </p:nvSpPr>
        <p:spPr>
          <a:xfrm>
            <a:off x="3987800" y="3124200"/>
            <a:ext cx="190500" cy="190500"/>
          </a:xfrm>
          <a:prstGeom prst="roundRect">
            <a:avLst>
              <a:gd name="adj" fmla="val 96000"/>
            </a:avLst>
          </a:prstGeom>
          <a:solidFill>
            <a:srgbClr val="13294B"/>
          </a:solidFill>
          <a:ln/>
        </p:spPr>
      </p:sp>
      <p:sp>
        <p:nvSpPr>
          <p:cNvPr id="20" name="Shape 18"/>
          <p:cNvSpPr/>
          <p:nvPr/>
        </p:nvSpPr>
        <p:spPr>
          <a:xfrm>
            <a:off x="4216400" y="3124200"/>
            <a:ext cx="190500" cy="190500"/>
          </a:xfrm>
          <a:prstGeom prst="roundRect">
            <a:avLst>
              <a:gd name="adj" fmla="val 96000"/>
            </a:avLst>
          </a:prstGeom>
          <a:solidFill>
            <a:srgbClr val="13294B"/>
          </a:solidFill>
          <a:ln/>
        </p:spPr>
      </p:sp>
      <p:sp>
        <p:nvSpPr>
          <p:cNvPr id="21" name="Shape 19"/>
          <p:cNvSpPr/>
          <p:nvPr/>
        </p:nvSpPr>
        <p:spPr>
          <a:xfrm>
            <a:off x="4445000" y="3124200"/>
            <a:ext cx="190500" cy="190500"/>
          </a:xfrm>
          <a:prstGeom prst="roundRect">
            <a:avLst>
              <a:gd name="adj" fmla="val 96000"/>
            </a:avLst>
          </a:prstGeom>
          <a:solidFill>
            <a:srgbClr val="13294B"/>
          </a:solidFill>
          <a:ln/>
        </p:spPr>
      </p:sp>
      <p:sp>
        <p:nvSpPr>
          <p:cNvPr id="22" name="Shape 20"/>
          <p:cNvSpPr/>
          <p:nvPr/>
        </p:nvSpPr>
        <p:spPr>
          <a:xfrm>
            <a:off x="4673600" y="3124200"/>
            <a:ext cx="190500" cy="190500"/>
          </a:xfrm>
          <a:prstGeom prst="roundRect">
            <a:avLst>
              <a:gd name="adj" fmla="val 96000"/>
            </a:avLst>
          </a:prstGeom>
          <a:solidFill>
            <a:srgbClr val="D5DCE6"/>
          </a:solidFill>
          <a:ln/>
        </p:spPr>
      </p:sp>
      <p:sp>
        <p:nvSpPr>
          <p:cNvPr id="23" name="Shape 21"/>
          <p:cNvSpPr/>
          <p:nvPr/>
        </p:nvSpPr>
        <p:spPr>
          <a:xfrm>
            <a:off x="4902200" y="3124200"/>
            <a:ext cx="190500" cy="190500"/>
          </a:xfrm>
          <a:prstGeom prst="roundRect">
            <a:avLst>
              <a:gd name="adj" fmla="val 96000"/>
            </a:avLst>
          </a:prstGeom>
          <a:solidFill>
            <a:srgbClr val="D5DCE6"/>
          </a:solidFill>
          <a:ln/>
        </p:spPr>
      </p:sp>
      <p:sp>
        <p:nvSpPr>
          <p:cNvPr id="24" name="Text 22"/>
          <p:cNvSpPr txBox="1"/>
          <p:nvPr/>
        </p:nvSpPr>
        <p:spPr>
          <a:xfrm>
            <a:off x="5283200" y="3098800"/>
            <a:ext cx="1270000" cy="241300"/>
          </a:xfrm>
          <a:prstGeom prst="rect">
            <a:avLst/>
          </a:prstGeom>
          <a:noFill/>
          <a:ln/>
        </p:spPr>
        <p:txBody>
          <a:bodyPr wrap="square" lIns="0" tIns="0" rIns="0" bIns="0" rtlCol="0" anchor="ctr"/>
          <a:lstStyle/>
          <a:p>
            <a:pPr indent="0" marL="0">
              <a:buNone/>
            </a:pPr>
            <a:r>
              <a:rPr lang="en-US" sz="1200" dirty="0">
                <a:solidFill>
                  <a:srgbClr val="4A5A70"/>
                </a:solidFill>
                <a:latin typeface="Arial" pitchFamily="34" charset="0"/>
                <a:ea typeface="Arial" pitchFamily="34" charset="-122"/>
                <a:cs typeface="Arial" pitchFamily="34" charset="-120"/>
              </a:rPr>
              <a:t>4 de 6</a:t>
            </a:r>
            <a:endParaRPr lang="en-US" sz="1200" dirty="0"/>
          </a:p>
        </p:txBody>
      </p:sp>
      <p:sp>
        <p:nvSpPr>
          <p:cNvPr id="25" name="Shape 23"/>
          <p:cNvSpPr/>
          <p:nvPr/>
        </p:nvSpPr>
        <p:spPr>
          <a:xfrm>
            <a:off x="812800" y="3403600"/>
            <a:ext cx="5715000" cy="0"/>
          </a:xfrm>
          <a:prstGeom prst="line">
            <a:avLst/>
          </a:prstGeom>
          <a:noFill/>
          <a:ln w="12700">
            <a:solidFill>
              <a:srgbClr val="DCE2EB"/>
            </a:solidFill>
            <a:prstDash val="solid"/>
          </a:ln>
        </p:spPr>
      </p:sp>
      <p:sp>
        <p:nvSpPr>
          <p:cNvPr id="26" name="Text 24"/>
          <p:cNvSpPr txBox="1"/>
          <p:nvPr/>
        </p:nvSpPr>
        <p:spPr>
          <a:xfrm>
            <a:off x="812800" y="3467100"/>
            <a:ext cx="2794000" cy="241300"/>
          </a:xfrm>
          <a:prstGeom prst="rect">
            <a:avLst/>
          </a:prstGeom>
          <a:noFill/>
          <a:ln/>
        </p:spPr>
        <p:txBody>
          <a:bodyPr wrap="square" lIns="0" tIns="0" rIns="0" bIns="0" rtlCol="0" anchor="ctr"/>
          <a:lstStyle/>
          <a:p>
            <a:pPr indent="0" marL="0">
              <a:buNone/>
            </a:pPr>
            <a:r>
              <a:rPr lang="en-US" sz="1300" b="1" dirty="0">
                <a:solidFill>
                  <a:srgbClr val="13213A"/>
                </a:solidFill>
                <a:latin typeface="Arial" pitchFamily="34" charset="0"/>
                <a:ea typeface="Arial" pitchFamily="34" charset="-122"/>
                <a:cs typeface="Arial" pitchFamily="34" charset="-120"/>
              </a:rPr>
              <a:t>Estudiantes y preinscripciones</a:t>
            </a:r>
            <a:endParaRPr lang="en-US" sz="1300" dirty="0"/>
          </a:p>
        </p:txBody>
      </p:sp>
      <p:sp>
        <p:nvSpPr>
          <p:cNvPr id="27" name="Shape 25"/>
          <p:cNvSpPr/>
          <p:nvPr/>
        </p:nvSpPr>
        <p:spPr>
          <a:xfrm>
            <a:off x="3759200" y="3492500"/>
            <a:ext cx="190500" cy="190500"/>
          </a:xfrm>
          <a:prstGeom prst="roundRect">
            <a:avLst>
              <a:gd name="adj" fmla="val 96000"/>
            </a:avLst>
          </a:prstGeom>
          <a:solidFill>
            <a:srgbClr val="13294B"/>
          </a:solidFill>
          <a:ln/>
        </p:spPr>
      </p:sp>
      <p:sp>
        <p:nvSpPr>
          <p:cNvPr id="28" name="Shape 26"/>
          <p:cNvSpPr/>
          <p:nvPr/>
        </p:nvSpPr>
        <p:spPr>
          <a:xfrm>
            <a:off x="3987800" y="3492500"/>
            <a:ext cx="190500" cy="190500"/>
          </a:xfrm>
          <a:prstGeom prst="roundRect">
            <a:avLst>
              <a:gd name="adj" fmla="val 96000"/>
            </a:avLst>
          </a:prstGeom>
          <a:solidFill>
            <a:srgbClr val="13294B"/>
          </a:solidFill>
          <a:ln/>
        </p:spPr>
      </p:sp>
      <p:sp>
        <p:nvSpPr>
          <p:cNvPr id="29" name="Shape 27"/>
          <p:cNvSpPr/>
          <p:nvPr/>
        </p:nvSpPr>
        <p:spPr>
          <a:xfrm>
            <a:off x="4216400" y="3492500"/>
            <a:ext cx="190500" cy="190500"/>
          </a:xfrm>
          <a:prstGeom prst="roundRect">
            <a:avLst>
              <a:gd name="adj" fmla="val 96000"/>
            </a:avLst>
          </a:prstGeom>
          <a:solidFill>
            <a:srgbClr val="D5DCE6"/>
          </a:solidFill>
          <a:ln/>
        </p:spPr>
      </p:sp>
      <p:sp>
        <p:nvSpPr>
          <p:cNvPr id="30" name="Shape 28"/>
          <p:cNvSpPr/>
          <p:nvPr/>
        </p:nvSpPr>
        <p:spPr>
          <a:xfrm>
            <a:off x="4445000" y="3492500"/>
            <a:ext cx="190500" cy="190500"/>
          </a:xfrm>
          <a:prstGeom prst="roundRect">
            <a:avLst>
              <a:gd name="adj" fmla="val 96000"/>
            </a:avLst>
          </a:prstGeom>
          <a:solidFill>
            <a:srgbClr val="D5DCE6"/>
          </a:solidFill>
          <a:ln/>
        </p:spPr>
      </p:sp>
      <p:sp>
        <p:nvSpPr>
          <p:cNvPr id="31" name="Shape 29"/>
          <p:cNvSpPr/>
          <p:nvPr/>
        </p:nvSpPr>
        <p:spPr>
          <a:xfrm>
            <a:off x="4673600" y="3492500"/>
            <a:ext cx="190500" cy="190500"/>
          </a:xfrm>
          <a:prstGeom prst="roundRect">
            <a:avLst>
              <a:gd name="adj" fmla="val 96000"/>
            </a:avLst>
          </a:prstGeom>
          <a:solidFill>
            <a:srgbClr val="D5DCE6"/>
          </a:solidFill>
          <a:ln/>
        </p:spPr>
      </p:sp>
      <p:sp>
        <p:nvSpPr>
          <p:cNvPr id="32" name="Text 30"/>
          <p:cNvSpPr txBox="1"/>
          <p:nvPr/>
        </p:nvSpPr>
        <p:spPr>
          <a:xfrm>
            <a:off x="5283200" y="3467100"/>
            <a:ext cx="1270000" cy="241300"/>
          </a:xfrm>
          <a:prstGeom prst="rect">
            <a:avLst/>
          </a:prstGeom>
          <a:noFill/>
          <a:ln/>
        </p:spPr>
        <p:txBody>
          <a:bodyPr wrap="square" lIns="0" tIns="0" rIns="0" bIns="0" rtlCol="0" anchor="ctr"/>
          <a:lstStyle/>
          <a:p>
            <a:pPr indent="0" marL="0">
              <a:buNone/>
            </a:pPr>
            <a:r>
              <a:rPr lang="en-US" sz="1200" dirty="0">
                <a:solidFill>
                  <a:srgbClr val="4A5A70"/>
                </a:solidFill>
                <a:latin typeface="Arial" pitchFamily="34" charset="0"/>
                <a:ea typeface="Arial" pitchFamily="34" charset="-122"/>
                <a:cs typeface="Arial" pitchFamily="34" charset="-120"/>
              </a:rPr>
              <a:t>2 de 5</a:t>
            </a:r>
            <a:endParaRPr lang="en-US" sz="1200" dirty="0"/>
          </a:p>
        </p:txBody>
      </p:sp>
      <p:sp>
        <p:nvSpPr>
          <p:cNvPr id="33" name="Shape 31"/>
          <p:cNvSpPr/>
          <p:nvPr/>
        </p:nvSpPr>
        <p:spPr>
          <a:xfrm>
            <a:off x="812800" y="3771900"/>
            <a:ext cx="5715000" cy="0"/>
          </a:xfrm>
          <a:prstGeom prst="line">
            <a:avLst/>
          </a:prstGeom>
          <a:noFill/>
          <a:ln w="12700">
            <a:solidFill>
              <a:srgbClr val="DCE2EB"/>
            </a:solidFill>
            <a:prstDash val="solid"/>
          </a:ln>
        </p:spPr>
      </p:sp>
      <p:sp>
        <p:nvSpPr>
          <p:cNvPr id="34" name="Text 32"/>
          <p:cNvSpPr txBox="1"/>
          <p:nvPr/>
        </p:nvSpPr>
        <p:spPr>
          <a:xfrm>
            <a:off x="812800" y="3835400"/>
            <a:ext cx="2794000" cy="241300"/>
          </a:xfrm>
          <a:prstGeom prst="rect">
            <a:avLst/>
          </a:prstGeom>
          <a:noFill/>
          <a:ln/>
        </p:spPr>
        <p:txBody>
          <a:bodyPr wrap="square" lIns="0" tIns="0" rIns="0" bIns="0" rtlCol="0" anchor="ctr"/>
          <a:lstStyle/>
          <a:p>
            <a:pPr indent="0" marL="0">
              <a:buNone/>
            </a:pPr>
            <a:r>
              <a:rPr lang="en-US" sz="1300" dirty="0">
                <a:solidFill>
                  <a:srgbClr val="4A5A70"/>
                </a:solidFill>
                <a:latin typeface="Arial" pitchFamily="34" charset="0"/>
                <a:ea typeface="Arial" pitchFamily="34" charset="-122"/>
                <a:cs typeface="Arial" pitchFamily="34" charset="-120"/>
              </a:rPr>
              <a:t>Cursadas y calificaciones</a:t>
            </a:r>
            <a:endParaRPr lang="en-US" sz="1300" dirty="0"/>
          </a:p>
        </p:txBody>
      </p:sp>
      <p:sp>
        <p:nvSpPr>
          <p:cNvPr id="35" name="Shape 33"/>
          <p:cNvSpPr/>
          <p:nvPr/>
        </p:nvSpPr>
        <p:spPr>
          <a:xfrm>
            <a:off x="3759200" y="3860800"/>
            <a:ext cx="190500" cy="190500"/>
          </a:xfrm>
          <a:prstGeom prst="roundRect">
            <a:avLst>
              <a:gd name="adj" fmla="val 96000"/>
            </a:avLst>
          </a:prstGeom>
          <a:solidFill>
            <a:srgbClr val="D5DCE6"/>
          </a:solidFill>
          <a:ln/>
        </p:spPr>
      </p:sp>
      <p:sp>
        <p:nvSpPr>
          <p:cNvPr id="36" name="Shape 34"/>
          <p:cNvSpPr/>
          <p:nvPr/>
        </p:nvSpPr>
        <p:spPr>
          <a:xfrm>
            <a:off x="3987800" y="3860800"/>
            <a:ext cx="190500" cy="190500"/>
          </a:xfrm>
          <a:prstGeom prst="roundRect">
            <a:avLst>
              <a:gd name="adj" fmla="val 96000"/>
            </a:avLst>
          </a:prstGeom>
          <a:solidFill>
            <a:srgbClr val="D5DCE6"/>
          </a:solidFill>
          <a:ln/>
        </p:spPr>
      </p:sp>
      <p:sp>
        <p:nvSpPr>
          <p:cNvPr id="37" name="Shape 35"/>
          <p:cNvSpPr/>
          <p:nvPr/>
        </p:nvSpPr>
        <p:spPr>
          <a:xfrm>
            <a:off x="4216400" y="3860800"/>
            <a:ext cx="190500" cy="190500"/>
          </a:xfrm>
          <a:prstGeom prst="roundRect">
            <a:avLst>
              <a:gd name="adj" fmla="val 96000"/>
            </a:avLst>
          </a:prstGeom>
          <a:solidFill>
            <a:srgbClr val="D5DCE6"/>
          </a:solidFill>
          <a:ln/>
        </p:spPr>
      </p:sp>
      <p:sp>
        <p:nvSpPr>
          <p:cNvPr id="38" name="Shape 36"/>
          <p:cNvSpPr/>
          <p:nvPr/>
        </p:nvSpPr>
        <p:spPr>
          <a:xfrm>
            <a:off x="4445000" y="3860800"/>
            <a:ext cx="190500" cy="190500"/>
          </a:xfrm>
          <a:prstGeom prst="roundRect">
            <a:avLst>
              <a:gd name="adj" fmla="val 96000"/>
            </a:avLst>
          </a:prstGeom>
          <a:solidFill>
            <a:srgbClr val="D5DCE6"/>
          </a:solidFill>
          <a:ln/>
        </p:spPr>
      </p:sp>
      <p:sp>
        <p:nvSpPr>
          <p:cNvPr id="39" name="Text 37"/>
          <p:cNvSpPr txBox="1"/>
          <p:nvPr/>
        </p:nvSpPr>
        <p:spPr>
          <a:xfrm>
            <a:off x="5283200" y="3835400"/>
            <a:ext cx="1270000" cy="241300"/>
          </a:xfrm>
          <a:prstGeom prst="rect">
            <a:avLst/>
          </a:prstGeom>
          <a:noFill/>
          <a:ln/>
        </p:spPr>
        <p:txBody>
          <a:bodyPr wrap="square" lIns="0" tIns="0" rIns="0" bIns="0" rtlCol="0" anchor="ctr"/>
          <a:lstStyle/>
          <a:p>
            <a:pPr indent="0" marL="0">
              <a:buNone/>
            </a:pPr>
            <a:r>
              <a:rPr lang="en-US" sz="1200" dirty="0">
                <a:solidFill>
                  <a:srgbClr val="4A5A70"/>
                </a:solidFill>
                <a:latin typeface="Arial" pitchFamily="34" charset="0"/>
                <a:ea typeface="Arial" pitchFamily="34" charset="-122"/>
                <a:cs typeface="Arial" pitchFamily="34" charset="-120"/>
              </a:rPr>
              <a:t>4</a:t>
            </a:r>
            <a:endParaRPr lang="en-US" sz="1200" dirty="0"/>
          </a:p>
        </p:txBody>
      </p:sp>
      <p:sp>
        <p:nvSpPr>
          <p:cNvPr id="40" name="Shape 38"/>
          <p:cNvSpPr/>
          <p:nvPr/>
        </p:nvSpPr>
        <p:spPr>
          <a:xfrm>
            <a:off x="812800" y="4140200"/>
            <a:ext cx="5715000" cy="0"/>
          </a:xfrm>
          <a:prstGeom prst="line">
            <a:avLst/>
          </a:prstGeom>
          <a:noFill/>
          <a:ln w="12700">
            <a:solidFill>
              <a:srgbClr val="DCE2EB"/>
            </a:solidFill>
            <a:prstDash val="solid"/>
          </a:ln>
        </p:spPr>
      </p:sp>
      <p:sp>
        <p:nvSpPr>
          <p:cNvPr id="41" name="Text 39"/>
          <p:cNvSpPr txBox="1"/>
          <p:nvPr/>
        </p:nvSpPr>
        <p:spPr>
          <a:xfrm>
            <a:off x="812800" y="4203700"/>
            <a:ext cx="2794000" cy="241300"/>
          </a:xfrm>
          <a:prstGeom prst="rect">
            <a:avLst/>
          </a:prstGeom>
          <a:noFill/>
          <a:ln/>
        </p:spPr>
        <p:txBody>
          <a:bodyPr wrap="square" lIns="0" tIns="0" rIns="0" bIns="0" rtlCol="0" anchor="ctr"/>
          <a:lstStyle/>
          <a:p>
            <a:pPr indent="0" marL="0">
              <a:buNone/>
            </a:pPr>
            <a:r>
              <a:rPr lang="en-US" sz="1300" dirty="0">
                <a:solidFill>
                  <a:srgbClr val="4A5A70"/>
                </a:solidFill>
                <a:latin typeface="Arial" pitchFamily="34" charset="0"/>
                <a:ea typeface="Arial" pitchFamily="34" charset="-122"/>
                <a:cs typeface="Arial" pitchFamily="34" charset="-120"/>
              </a:rPr>
              <a:t>Docentes, clases y asistencia</a:t>
            </a:r>
            <a:endParaRPr lang="en-US" sz="1300" dirty="0"/>
          </a:p>
        </p:txBody>
      </p:sp>
      <p:sp>
        <p:nvSpPr>
          <p:cNvPr id="42" name="Shape 40"/>
          <p:cNvSpPr/>
          <p:nvPr/>
        </p:nvSpPr>
        <p:spPr>
          <a:xfrm>
            <a:off x="3759200" y="4229100"/>
            <a:ext cx="190500" cy="190500"/>
          </a:xfrm>
          <a:prstGeom prst="roundRect">
            <a:avLst>
              <a:gd name="adj" fmla="val 96000"/>
            </a:avLst>
          </a:prstGeom>
          <a:solidFill>
            <a:srgbClr val="D5DCE6"/>
          </a:solidFill>
          <a:ln/>
        </p:spPr>
      </p:sp>
      <p:sp>
        <p:nvSpPr>
          <p:cNvPr id="43" name="Shape 41"/>
          <p:cNvSpPr/>
          <p:nvPr/>
        </p:nvSpPr>
        <p:spPr>
          <a:xfrm>
            <a:off x="3987800" y="4229100"/>
            <a:ext cx="190500" cy="190500"/>
          </a:xfrm>
          <a:prstGeom prst="roundRect">
            <a:avLst>
              <a:gd name="adj" fmla="val 96000"/>
            </a:avLst>
          </a:prstGeom>
          <a:solidFill>
            <a:srgbClr val="D5DCE6"/>
          </a:solidFill>
          <a:ln/>
        </p:spPr>
      </p:sp>
      <p:sp>
        <p:nvSpPr>
          <p:cNvPr id="44" name="Shape 42"/>
          <p:cNvSpPr/>
          <p:nvPr/>
        </p:nvSpPr>
        <p:spPr>
          <a:xfrm>
            <a:off x="4216400" y="4229100"/>
            <a:ext cx="190500" cy="190500"/>
          </a:xfrm>
          <a:prstGeom prst="roundRect">
            <a:avLst>
              <a:gd name="adj" fmla="val 96000"/>
            </a:avLst>
          </a:prstGeom>
          <a:solidFill>
            <a:srgbClr val="D5DCE6"/>
          </a:solidFill>
          <a:ln/>
        </p:spPr>
      </p:sp>
      <p:sp>
        <p:nvSpPr>
          <p:cNvPr id="45" name="Shape 43"/>
          <p:cNvSpPr/>
          <p:nvPr/>
        </p:nvSpPr>
        <p:spPr>
          <a:xfrm>
            <a:off x="4445000" y="4229100"/>
            <a:ext cx="190500" cy="190500"/>
          </a:xfrm>
          <a:prstGeom prst="roundRect">
            <a:avLst>
              <a:gd name="adj" fmla="val 96000"/>
            </a:avLst>
          </a:prstGeom>
          <a:solidFill>
            <a:srgbClr val="D5DCE6"/>
          </a:solidFill>
          <a:ln/>
        </p:spPr>
      </p:sp>
      <p:sp>
        <p:nvSpPr>
          <p:cNvPr id="46" name="Shape 44"/>
          <p:cNvSpPr/>
          <p:nvPr/>
        </p:nvSpPr>
        <p:spPr>
          <a:xfrm>
            <a:off x="4673600" y="4229100"/>
            <a:ext cx="190500" cy="190500"/>
          </a:xfrm>
          <a:prstGeom prst="roundRect">
            <a:avLst>
              <a:gd name="adj" fmla="val 96000"/>
            </a:avLst>
          </a:prstGeom>
          <a:solidFill>
            <a:srgbClr val="D5DCE6"/>
          </a:solidFill>
          <a:ln/>
        </p:spPr>
      </p:sp>
      <p:sp>
        <p:nvSpPr>
          <p:cNvPr id="47" name="Text 45"/>
          <p:cNvSpPr txBox="1"/>
          <p:nvPr/>
        </p:nvSpPr>
        <p:spPr>
          <a:xfrm>
            <a:off x="5283200" y="4203700"/>
            <a:ext cx="1270000" cy="241300"/>
          </a:xfrm>
          <a:prstGeom prst="rect">
            <a:avLst/>
          </a:prstGeom>
          <a:noFill/>
          <a:ln/>
        </p:spPr>
        <p:txBody>
          <a:bodyPr wrap="square" lIns="0" tIns="0" rIns="0" bIns="0" rtlCol="0" anchor="ctr"/>
          <a:lstStyle/>
          <a:p>
            <a:pPr indent="0" marL="0">
              <a:buNone/>
            </a:pPr>
            <a:r>
              <a:rPr lang="en-US" sz="1200" dirty="0">
                <a:solidFill>
                  <a:srgbClr val="4A5A70"/>
                </a:solidFill>
                <a:latin typeface="Arial" pitchFamily="34" charset="0"/>
                <a:ea typeface="Arial" pitchFamily="34" charset="-122"/>
                <a:cs typeface="Arial" pitchFamily="34" charset="-120"/>
              </a:rPr>
              <a:t>5</a:t>
            </a:r>
            <a:endParaRPr lang="en-US" sz="1200" dirty="0"/>
          </a:p>
        </p:txBody>
      </p:sp>
      <p:sp>
        <p:nvSpPr>
          <p:cNvPr id="48" name="Shape 46"/>
          <p:cNvSpPr/>
          <p:nvPr/>
        </p:nvSpPr>
        <p:spPr>
          <a:xfrm>
            <a:off x="812800" y="4508500"/>
            <a:ext cx="5715000" cy="0"/>
          </a:xfrm>
          <a:prstGeom prst="line">
            <a:avLst/>
          </a:prstGeom>
          <a:noFill/>
          <a:ln w="12700">
            <a:solidFill>
              <a:srgbClr val="DCE2EB"/>
            </a:solidFill>
            <a:prstDash val="solid"/>
          </a:ln>
        </p:spPr>
      </p:sp>
      <p:sp>
        <p:nvSpPr>
          <p:cNvPr id="49" name="Text 47"/>
          <p:cNvSpPr txBox="1"/>
          <p:nvPr/>
        </p:nvSpPr>
        <p:spPr>
          <a:xfrm>
            <a:off x="812800" y="4572000"/>
            <a:ext cx="2794000" cy="241300"/>
          </a:xfrm>
          <a:prstGeom prst="rect">
            <a:avLst/>
          </a:prstGeom>
          <a:noFill/>
          <a:ln/>
        </p:spPr>
        <p:txBody>
          <a:bodyPr wrap="square" lIns="0" tIns="0" rIns="0" bIns="0" rtlCol="0" anchor="ctr"/>
          <a:lstStyle/>
          <a:p>
            <a:pPr indent="0" marL="0">
              <a:buNone/>
            </a:pPr>
            <a:r>
              <a:rPr lang="en-US" sz="1300" dirty="0">
                <a:solidFill>
                  <a:srgbClr val="4A5A70"/>
                </a:solidFill>
                <a:latin typeface="Arial" pitchFamily="34" charset="0"/>
                <a:ea typeface="Arial" pitchFamily="34" charset="-122"/>
                <a:cs typeface="Arial" pitchFamily="34" charset="-120"/>
              </a:rPr>
              <a:t>Constancias</a:t>
            </a:r>
            <a:endParaRPr lang="en-US" sz="1300" dirty="0"/>
          </a:p>
        </p:txBody>
      </p:sp>
      <p:sp>
        <p:nvSpPr>
          <p:cNvPr id="50" name="Shape 48"/>
          <p:cNvSpPr/>
          <p:nvPr/>
        </p:nvSpPr>
        <p:spPr>
          <a:xfrm>
            <a:off x="3759200" y="4597400"/>
            <a:ext cx="190500" cy="190500"/>
          </a:xfrm>
          <a:prstGeom prst="roundRect">
            <a:avLst>
              <a:gd name="adj" fmla="val 96000"/>
            </a:avLst>
          </a:prstGeom>
          <a:solidFill>
            <a:srgbClr val="D5DCE6"/>
          </a:solidFill>
          <a:ln/>
        </p:spPr>
      </p:sp>
      <p:sp>
        <p:nvSpPr>
          <p:cNvPr id="51" name="Text 49"/>
          <p:cNvSpPr txBox="1"/>
          <p:nvPr/>
        </p:nvSpPr>
        <p:spPr>
          <a:xfrm>
            <a:off x="5283200" y="4572000"/>
            <a:ext cx="1270000" cy="241300"/>
          </a:xfrm>
          <a:prstGeom prst="rect">
            <a:avLst/>
          </a:prstGeom>
          <a:noFill/>
          <a:ln/>
        </p:spPr>
        <p:txBody>
          <a:bodyPr wrap="square" lIns="0" tIns="0" rIns="0" bIns="0" rtlCol="0" anchor="ctr"/>
          <a:lstStyle/>
          <a:p>
            <a:pPr indent="0" marL="0">
              <a:buNone/>
            </a:pPr>
            <a:r>
              <a:rPr lang="en-US" sz="1200" dirty="0">
                <a:solidFill>
                  <a:srgbClr val="4A5A70"/>
                </a:solidFill>
                <a:latin typeface="Arial" pitchFamily="34" charset="0"/>
                <a:ea typeface="Arial" pitchFamily="34" charset="-122"/>
                <a:cs typeface="Arial" pitchFamily="34" charset="-120"/>
              </a:rPr>
              <a:t>1</a:t>
            </a:r>
            <a:endParaRPr lang="en-US" sz="1200" dirty="0"/>
          </a:p>
        </p:txBody>
      </p:sp>
      <p:sp>
        <p:nvSpPr>
          <p:cNvPr id="52" name="Shape 50"/>
          <p:cNvSpPr/>
          <p:nvPr/>
        </p:nvSpPr>
        <p:spPr>
          <a:xfrm>
            <a:off x="812800" y="4876800"/>
            <a:ext cx="5715000" cy="0"/>
          </a:xfrm>
          <a:prstGeom prst="line">
            <a:avLst/>
          </a:prstGeom>
          <a:noFill/>
          <a:ln w="12700">
            <a:solidFill>
              <a:srgbClr val="DCE2EB"/>
            </a:solidFill>
            <a:prstDash val="solid"/>
          </a:ln>
        </p:spPr>
      </p:sp>
      <p:sp>
        <p:nvSpPr>
          <p:cNvPr id="53" name="Text 51"/>
          <p:cNvSpPr txBox="1"/>
          <p:nvPr/>
        </p:nvSpPr>
        <p:spPr>
          <a:xfrm>
            <a:off x="812800" y="4940300"/>
            <a:ext cx="2794000" cy="241300"/>
          </a:xfrm>
          <a:prstGeom prst="rect">
            <a:avLst/>
          </a:prstGeom>
          <a:noFill/>
          <a:ln/>
        </p:spPr>
        <p:txBody>
          <a:bodyPr wrap="square" lIns="0" tIns="0" rIns="0" bIns="0" rtlCol="0" anchor="ctr"/>
          <a:lstStyle/>
          <a:p>
            <a:pPr indent="0" marL="0">
              <a:buNone/>
            </a:pPr>
            <a:r>
              <a:rPr lang="en-US" sz="1300" dirty="0">
                <a:solidFill>
                  <a:srgbClr val="4A5A70"/>
                </a:solidFill>
                <a:latin typeface="Arial" pitchFamily="34" charset="0"/>
                <a:ea typeface="Arial" pitchFamily="34" charset="-122"/>
                <a:cs typeface="Arial" pitchFamily="34" charset="-120"/>
              </a:rPr>
              <a:t>Actas y firma digital</a:t>
            </a:r>
            <a:endParaRPr lang="en-US" sz="1300" dirty="0"/>
          </a:p>
        </p:txBody>
      </p:sp>
      <p:sp>
        <p:nvSpPr>
          <p:cNvPr id="54" name="Shape 52"/>
          <p:cNvSpPr/>
          <p:nvPr/>
        </p:nvSpPr>
        <p:spPr>
          <a:xfrm>
            <a:off x="3759200" y="4965700"/>
            <a:ext cx="190500" cy="190500"/>
          </a:xfrm>
          <a:prstGeom prst="roundRect">
            <a:avLst>
              <a:gd name="adj" fmla="val 96000"/>
            </a:avLst>
          </a:prstGeom>
          <a:solidFill>
            <a:srgbClr val="D5DCE6"/>
          </a:solidFill>
          <a:ln/>
        </p:spPr>
      </p:sp>
      <p:sp>
        <p:nvSpPr>
          <p:cNvPr id="55" name="Shape 53"/>
          <p:cNvSpPr/>
          <p:nvPr/>
        </p:nvSpPr>
        <p:spPr>
          <a:xfrm>
            <a:off x="3987800" y="4965700"/>
            <a:ext cx="190500" cy="190500"/>
          </a:xfrm>
          <a:prstGeom prst="roundRect">
            <a:avLst>
              <a:gd name="adj" fmla="val 96000"/>
            </a:avLst>
          </a:prstGeom>
          <a:solidFill>
            <a:srgbClr val="D5DCE6"/>
          </a:solidFill>
          <a:ln/>
        </p:spPr>
      </p:sp>
      <p:sp>
        <p:nvSpPr>
          <p:cNvPr id="56" name="Shape 54"/>
          <p:cNvSpPr/>
          <p:nvPr/>
        </p:nvSpPr>
        <p:spPr>
          <a:xfrm>
            <a:off x="4216400" y="4965700"/>
            <a:ext cx="190500" cy="190500"/>
          </a:xfrm>
          <a:prstGeom prst="roundRect">
            <a:avLst>
              <a:gd name="adj" fmla="val 96000"/>
            </a:avLst>
          </a:prstGeom>
          <a:solidFill>
            <a:srgbClr val="D5DCE6"/>
          </a:solidFill>
          <a:ln/>
        </p:spPr>
      </p:sp>
      <p:sp>
        <p:nvSpPr>
          <p:cNvPr id="57" name="Shape 55"/>
          <p:cNvSpPr/>
          <p:nvPr/>
        </p:nvSpPr>
        <p:spPr>
          <a:xfrm>
            <a:off x="4445000" y="4965700"/>
            <a:ext cx="190500" cy="190500"/>
          </a:xfrm>
          <a:prstGeom prst="roundRect">
            <a:avLst>
              <a:gd name="adj" fmla="val 96000"/>
            </a:avLst>
          </a:prstGeom>
          <a:solidFill>
            <a:srgbClr val="D5DCE6"/>
          </a:solidFill>
          <a:ln/>
        </p:spPr>
      </p:sp>
      <p:sp>
        <p:nvSpPr>
          <p:cNvPr id="58" name="Shape 56"/>
          <p:cNvSpPr/>
          <p:nvPr/>
        </p:nvSpPr>
        <p:spPr>
          <a:xfrm>
            <a:off x="4673600" y="4965700"/>
            <a:ext cx="190500" cy="190500"/>
          </a:xfrm>
          <a:prstGeom prst="roundRect">
            <a:avLst>
              <a:gd name="adj" fmla="val 96000"/>
            </a:avLst>
          </a:prstGeom>
          <a:solidFill>
            <a:srgbClr val="D5DCE6"/>
          </a:solidFill>
          <a:ln/>
        </p:spPr>
      </p:sp>
      <p:sp>
        <p:nvSpPr>
          <p:cNvPr id="59" name="Text 57"/>
          <p:cNvSpPr txBox="1"/>
          <p:nvPr/>
        </p:nvSpPr>
        <p:spPr>
          <a:xfrm>
            <a:off x="5283200" y="4940300"/>
            <a:ext cx="1270000" cy="241300"/>
          </a:xfrm>
          <a:prstGeom prst="rect">
            <a:avLst/>
          </a:prstGeom>
          <a:noFill/>
          <a:ln/>
        </p:spPr>
        <p:txBody>
          <a:bodyPr wrap="square" lIns="0" tIns="0" rIns="0" bIns="0" rtlCol="0" anchor="ctr"/>
          <a:lstStyle/>
          <a:p>
            <a:pPr indent="0" marL="0">
              <a:buNone/>
            </a:pPr>
            <a:r>
              <a:rPr lang="en-US" sz="1200" dirty="0">
                <a:solidFill>
                  <a:srgbClr val="4A5A70"/>
                </a:solidFill>
                <a:latin typeface="Arial" pitchFamily="34" charset="0"/>
                <a:ea typeface="Arial" pitchFamily="34" charset="-122"/>
                <a:cs typeface="Arial" pitchFamily="34" charset="-120"/>
              </a:rPr>
              <a:t>5</a:t>
            </a:r>
            <a:endParaRPr lang="en-US" sz="1200" dirty="0"/>
          </a:p>
        </p:txBody>
      </p:sp>
      <p:sp>
        <p:nvSpPr>
          <p:cNvPr id="60" name="Shape 58"/>
          <p:cNvSpPr/>
          <p:nvPr/>
        </p:nvSpPr>
        <p:spPr>
          <a:xfrm>
            <a:off x="812800" y="5346700"/>
            <a:ext cx="152400" cy="152400"/>
          </a:xfrm>
          <a:prstGeom prst="roundRect">
            <a:avLst>
              <a:gd name="adj" fmla="val 120000"/>
            </a:avLst>
          </a:prstGeom>
          <a:solidFill>
            <a:srgbClr val="13294B"/>
          </a:solidFill>
          <a:ln/>
        </p:spPr>
      </p:sp>
      <p:sp>
        <p:nvSpPr>
          <p:cNvPr id="61" name="Text 59"/>
          <p:cNvSpPr txBox="1"/>
          <p:nvPr/>
        </p:nvSpPr>
        <p:spPr>
          <a:xfrm>
            <a:off x="1041400" y="5308600"/>
            <a:ext cx="3175000" cy="228600"/>
          </a:xfrm>
          <a:prstGeom prst="rect">
            <a:avLst/>
          </a:prstGeom>
          <a:noFill/>
          <a:ln/>
        </p:spPr>
        <p:txBody>
          <a:bodyPr wrap="square" lIns="0" tIns="0" rIns="0" bIns="0" rtlCol="0" anchor="ctr"/>
          <a:lstStyle/>
          <a:p>
            <a:pPr indent="0" marL="0">
              <a:buNone/>
            </a:pPr>
            <a:r>
              <a:rPr lang="en-US" sz="1200" dirty="0">
                <a:solidFill>
                  <a:srgbClr val="4A5A70"/>
                </a:solidFill>
                <a:latin typeface="Arial" pitchFamily="34" charset="0"/>
                <a:ea typeface="Arial" pitchFamily="34" charset="-122"/>
                <a:cs typeface="Arial" pitchFamily="34" charset="-120"/>
              </a:rPr>
              <a:t>tablas que usa esta etapa</a:t>
            </a:r>
            <a:endParaRPr lang="en-US" sz="1200" dirty="0"/>
          </a:p>
        </p:txBody>
      </p:sp>
      <p:sp>
        <p:nvSpPr>
          <p:cNvPr id="62" name="Shape 60"/>
          <p:cNvSpPr/>
          <p:nvPr/>
        </p:nvSpPr>
        <p:spPr>
          <a:xfrm>
            <a:off x="6883400" y="1778000"/>
            <a:ext cx="4495800" cy="4064000"/>
          </a:xfrm>
          <a:prstGeom prst="roundRect">
            <a:avLst>
              <a:gd name="adj" fmla="val 3750"/>
            </a:avLst>
          </a:prstGeom>
          <a:solidFill>
            <a:srgbClr val="13294B"/>
          </a:solidFill>
          <a:ln/>
        </p:spPr>
      </p:sp>
      <p:sp>
        <p:nvSpPr>
          <p:cNvPr id="63" name="Text 61"/>
          <p:cNvSpPr txBox="1"/>
          <p:nvPr/>
        </p:nvSpPr>
        <p:spPr>
          <a:xfrm>
            <a:off x="7137400" y="2032000"/>
            <a:ext cx="3987800" cy="571500"/>
          </a:xfrm>
          <a:prstGeom prst="rect">
            <a:avLst/>
          </a:prstGeom>
          <a:noFill/>
          <a:ln/>
        </p:spPr>
        <p:txBody>
          <a:bodyPr wrap="square" lIns="0" tIns="0" rIns="0" bIns="0" rtlCol="0" anchor="t"/>
          <a:lstStyle/>
          <a:p>
            <a:pPr indent="0" marL="0">
              <a:lnSpc>
                <a:spcPct val="105000"/>
              </a:lnSpc>
              <a:buNone/>
            </a:pPr>
            <a:r>
              <a:rPr lang="en-US" sz="1700" b="1" dirty="0">
                <a:solidFill>
                  <a:srgbClr val="F4F6F9"/>
                </a:solidFill>
                <a:latin typeface="Arial" pitchFamily="34" charset="0"/>
                <a:ea typeface="Arial" pitchFamily="34" charset="-122"/>
                <a:cs typeface="Arial" pitchFamily="34" charset="-120"/>
              </a:rPr>
              <a:t>Modelos y migraciones a medida que avanzamos</a:t>
            </a:r>
            <a:endParaRPr lang="en-US" sz="1700" dirty="0"/>
          </a:p>
        </p:txBody>
      </p:sp>
      <p:sp>
        <p:nvSpPr>
          <p:cNvPr id="64" name="Text 62"/>
          <p:cNvSpPr txBox="1"/>
          <p:nvPr/>
        </p:nvSpPr>
        <p:spPr>
          <a:xfrm>
            <a:off x="7137400" y="2692400"/>
            <a:ext cx="3987800" cy="762000"/>
          </a:xfrm>
          <a:prstGeom prst="rect">
            <a:avLst/>
          </a:prstGeom>
          <a:noFill/>
          <a:ln/>
        </p:spPr>
        <p:txBody>
          <a:bodyPr wrap="square" lIns="0" tIns="0" rIns="0" bIns="0" rtlCol="0" anchor="t"/>
          <a:lstStyle/>
          <a:p>
            <a:pPr indent="0" marL="0">
              <a:lnSpc>
                <a:spcPct val="125000"/>
              </a:lnSpc>
              <a:buNone/>
            </a:pPr>
            <a:r>
              <a:rPr lang="en-US" sz="1300" dirty="0">
                <a:solidFill>
                  <a:srgbClr val="B9C6DA"/>
                </a:solidFill>
                <a:latin typeface="Arial" pitchFamily="34" charset="0"/>
                <a:ea typeface="Arial" pitchFamily="34" charset="-122"/>
                <a:cs typeface="Arial" pitchFamily="34" charset="-120"/>
              </a:rPr>
              <a:t>No importamos la base completa: cada funcionalidad suma sus modelos de Django y su migración.</a:t>
            </a:r>
            <a:endParaRPr lang="en-US" sz="1300" dirty="0"/>
          </a:p>
        </p:txBody>
      </p:sp>
      <p:sp>
        <p:nvSpPr>
          <p:cNvPr id="65" name="Text 63"/>
          <p:cNvSpPr txBox="1"/>
          <p:nvPr/>
        </p:nvSpPr>
        <p:spPr>
          <a:xfrm>
            <a:off x="7137400" y="3568700"/>
            <a:ext cx="3987800" cy="215900"/>
          </a:xfrm>
          <a:prstGeom prst="rect">
            <a:avLst/>
          </a:prstGeom>
          <a:noFill/>
          <a:ln/>
        </p:spPr>
        <p:txBody>
          <a:bodyPr wrap="square" lIns="0" tIns="0" rIns="0" bIns="0" rtlCol="0" anchor="t"/>
          <a:lstStyle/>
          <a:p>
            <a:pPr indent="0" marL="0">
              <a:buNone/>
            </a:pPr>
            <a:r>
              <a:rPr lang="en-US" sz="1200" b="1" spc="100" kern="0" dirty="0">
                <a:solidFill>
                  <a:srgbClr val="9DBBFF"/>
                </a:solidFill>
                <a:latin typeface="Arial" pitchFamily="34" charset="0"/>
                <a:ea typeface="Arial" pitchFamily="34" charset="-122"/>
                <a:cs typeface="Arial" pitchFamily="34" charset="-120"/>
              </a:rPr>
              <a:t>ESTA ETAPA</a:t>
            </a:r>
            <a:endParaRPr lang="en-US" sz="1200" dirty="0"/>
          </a:p>
        </p:txBody>
      </p:sp>
      <p:sp>
        <p:nvSpPr>
          <p:cNvPr id="66" name="Shape 64"/>
          <p:cNvSpPr/>
          <p:nvPr/>
        </p:nvSpPr>
        <p:spPr>
          <a:xfrm>
            <a:off x="7137400" y="3873500"/>
            <a:ext cx="876300" cy="279400"/>
          </a:xfrm>
          <a:prstGeom prst="roundRect">
            <a:avLst>
              <a:gd name="adj" fmla="val 49091"/>
            </a:avLst>
          </a:prstGeom>
          <a:solidFill>
            <a:srgbClr val="24406C"/>
          </a:solidFill>
          <a:ln/>
        </p:spPr>
      </p:sp>
      <p:sp>
        <p:nvSpPr>
          <p:cNvPr id="67" name="Text 65"/>
          <p:cNvSpPr txBox="1"/>
          <p:nvPr/>
        </p:nvSpPr>
        <p:spPr>
          <a:xfrm>
            <a:off x="7137400" y="3873500"/>
            <a:ext cx="876300" cy="279400"/>
          </a:xfrm>
          <a:prstGeom prst="rect">
            <a:avLst/>
          </a:prstGeom>
          <a:noFill/>
          <a:ln/>
        </p:spPr>
        <p:txBody>
          <a:bodyPr wrap="square" lIns="0" tIns="0" rIns="0" bIns="0" rtlCol="0" anchor="ctr"/>
          <a:lstStyle/>
          <a:p>
            <a:pPr algn="ctr" indent="0" marL="0">
              <a:buNone/>
            </a:pPr>
            <a:r>
              <a:rPr lang="en-US" sz="1200" dirty="0">
                <a:solidFill>
                  <a:srgbClr val="F4F6F9"/>
                </a:solidFill>
                <a:latin typeface="Consolas" pitchFamily="34" charset="0"/>
                <a:ea typeface="Consolas" pitchFamily="34" charset="-122"/>
                <a:cs typeface="Consolas" pitchFamily="34" charset="-120"/>
              </a:rPr>
              <a:t>usuarios</a:t>
            </a:r>
            <a:endParaRPr lang="en-US" sz="1200" dirty="0"/>
          </a:p>
        </p:txBody>
      </p:sp>
      <p:sp>
        <p:nvSpPr>
          <p:cNvPr id="68" name="Shape 66"/>
          <p:cNvSpPr/>
          <p:nvPr/>
        </p:nvSpPr>
        <p:spPr>
          <a:xfrm>
            <a:off x="8077200" y="3873500"/>
            <a:ext cx="615950" cy="279400"/>
          </a:xfrm>
          <a:prstGeom prst="roundRect">
            <a:avLst>
              <a:gd name="adj" fmla="val 49091"/>
            </a:avLst>
          </a:prstGeom>
          <a:solidFill>
            <a:srgbClr val="24406C"/>
          </a:solidFill>
          <a:ln/>
        </p:spPr>
      </p:sp>
      <p:sp>
        <p:nvSpPr>
          <p:cNvPr id="69" name="Text 67"/>
          <p:cNvSpPr txBox="1"/>
          <p:nvPr/>
        </p:nvSpPr>
        <p:spPr>
          <a:xfrm>
            <a:off x="8077200" y="3873500"/>
            <a:ext cx="615950" cy="279400"/>
          </a:xfrm>
          <a:prstGeom prst="rect">
            <a:avLst/>
          </a:prstGeom>
          <a:noFill/>
          <a:ln/>
        </p:spPr>
        <p:txBody>
          <a:bodyPr wrap="square" lIns="0" tIns="0" rIns="0" bIns="0" rtlCol="0" anchor="ctr"/>
          <a:lstStyle/>
          <a:p>
            <a:pPr algn="ctr" indent="0" marL="0">
              <a:buNone/>
            </a:pPr>
            <a:r>
              <a:rPr lang="en-US" sz="1200" dirty="0">
                <a:solidFill>
                  <a:srgbClr val="F4F6F9"/>
                </a:solidFill>
                <a:latin typeface="Consolas" pitchFamily="34" charset="0"/>
                <a:ea typeface="Consolas" pitchFamily="34" charset="-122"/>
                <a:cs typeface="Consolas" pitchFamily="34" charset="-120"/>
              </a:rPr>
              <a:t>roles</a:t>
            </a:r>
            <a:endParaRPr lang="en-US" sz="1200" dirty="0"/>
          </a:p>
        </p:txBody>
      </p:sp>
      <p:sp>
        <p:nvSpPr>
          <p:cNvPr id="70" name="Shape 68"/>
          <p:cNvSpPr/>
          <p:nvPr/>
        </p:nvSpPr>
        <p:spPr>
          <a:xfrm>
            <a:off x="8756650" y="3873500"/>
            <a:ext cx="876300" cy="279400"/>
          </a:xfrm>
          <a:prstGeom prst="roundRect">
            <a:avLst>
              <a:gd name="adj" fmla="val 49091"/>
            </a:avLst>
          </a:prstGeom>
          <a:solidFill>
            <a:srgbClr val="24406C"/>
          </a:solidFill>
          <a:ln/>
        </p:spPr>
      </p:sp>
      <p:sp>
        <p:nvSpPr>
          <p:cNvPr id="71" name="Text 69"/>
          <p:cNvSpPr txBox="1"/>
          <p:nvPr/>
        </p:nvSpPr>
        <p:spPr>
          <a:xfrm>
            <a:off x="8756650" y="3873500"/>
            <a:ext cx="876300" cy="279400"/>
          </a:xfrm>
          <a:prstGeom prst="rect">
            <a:avLst/>
          </a:prstGeom>
          <a:noFill/>
          <a:ln/>
        </p:spPr>
        <p:txBody>
          <a:bodyPr wrap="square" lIns="0" tIns="0" rIns="0" bIns="0" rtlCol="0" anchor="ctr"/>
          <a:lstStyle/>
          <a:p>
            <a:pPr algn="ctr" indent="0" marL="0">
              <a:buNone/>
            </a:pPr>
            <a:r>
              <a:rPr lang="en-US" sz="1200" dirty="0">
                <a:solidFill>
                  <a:srgbClr val="F4F6F9"/>
                </a:solidFill>
                <a:latin typeface="Consolas" pitchFamily="34" charset="0"/>
                <a:ea typeface="Consolas" pitchFamily="34" charset="-122"/>
                <a:cs typeface="Consolas" pitchFamily="34" charset="-120"/>
              </a:rPr>
              <a:t>carreras</a:t>
            </a:r>
            <a:endParaRPr lang="en-US" sz="1200" dirty="0"/>
          </a:p>
        </p:txBody>
      </p:sp>
      <p:sp>
        <p:nvSpPr>
          <p:cNvPr id="72" name="Shape 70"/>
          <p:cNvSpPr/>
          <p:nvPr/>
        </p:nvSpPr>
        <p:spPr>
          <a:xfrm>
            <a:off x="9696450" y="3873500"/>
            <a:ext cx="1384300" cy="279400"/>
          </a:xfrm>
          <a:prstGeom prst="roundRect">
            <a:avLst>
              <a:gd name="adj" fmla="val 49091"/>
            </a:avLst>
          </a:prstGeom>
          <a:solidFill>
            <a:srgbClr val="24406C"/>
          </a:solidFill>
          <a:ln/>
        </p:spPr>
      </p:sp>
      <p:sp>
        <p:nvSpPr>
          <p:cNvPr id="73" name="Text 71"/>
          <p:cNvSpPr txBox="1"/>
          <p:nvPr/>
        </p:nvSpPr>
        <p:spPr>
          <a:xfrm>
            <a:off x="9696450" y="3873500"/>
            <a:ext cx="1384300" cy="279400"/>
          </a:xfrm>
          <a:prstGeom prst="rect">
            <a:avLst/>
          </a:prstGeom>
          <a:noFill/>
          <a:ln/>
        </p:spPr>
        <p:txBody>
          <a:bodyPr wrap="square" lIns="0" tIns="0" rIns="0" bIns="0" rtlCol="0" anchor="ctr"/>
          <a:lstStyle/>
          <a:p>
            <a:pPr algn="ctr" indent="0" marL="0">
              <a:buNone/>
            </a:pPr>
            <a:r>
              <a:rPr lang="en-US" sz="1200" dirty="0">
                <a:solidFill>
                  <a:srgbClr val="F4F6F9"/>
                </a:solidFill>
                <a:latin typeface="Consolas" pitchFamily="34" charset="0"/>
                <a:ea typeface="Consolas" pitchFamily="34" charset="-122"/>
                <a:cs typeface="Consolas" pitchFamily="34" charset="-120"/>
              </a:rPr>
              <a:t>planes_estudio</a:t>
            </a:r>
            <a:endParaRPr lang="en-US" sz="1200" dirty="0"/>
          </a:p>
        </p:txBody>
      </p:sp>
      <p:sp>
        <p:nvSpPr>
          <p:cNvPr id="74" name="Shape 72"/>
          <p:cNvSpPr/>
          <p:nvPr/>
        </p:nvSpPr>
        <p:spPr>
          <a:xfrm>
            <a:off x="7137400" y="4229100"/>
            <a:ext cx="1898650" cy="279400"/>
          </a:xfrm>
          <a:prstGeom prst="roundRect">
            <a:avLst>
              <a:gd name="adj" fmla="val 49091"/>
            </a:avLst>
          </a:prstGeom>
          <a:solidFill>
            <a:srgbClr val="24406C"/>
          </a:solidFill>
          <a:ln/>
        </p:spPr>
      </p:sp>
      <p:sp>
        <p:nvSpPr>
          <p:cNvPr id="75" name="Text 73"/>
          <p:cNvSpPr txBox="1"/>
          <p:nvPr/>
        </p:nvSpPr>
        <p:spPr>
          <a:xfrm>
            <a:off x="7137400" y="4229100"/>
            <a:ext cx="1898650" cy="279400"/>
          </a:xfrm>
          <a:prstGeom prst="rect">
            <a:avLst/>
          </a:prstGeom>
          <a:noFill/>
          <a:ln/>
        </p:spPr>
        <p:txBody>
          <a:bodyPr wrap="square" lIns="0" tIns="0" rIns="0" bIns="0" rtlCol="0" anchor="ctr"/>
          <a:lstStyle/>
          <a:p>
            <a:pPr algn="ctr" indent="0" marL="0">
              <a:buNone/>
            </a:pPr>
            <a:r>
              <a:rPr lang="en-US" sz="1200" dirty="0">
                <a:solidFill>
                  <a:srgbClr val="F4F6F9"/>
                </a:solidFill>
                <a:latin typeface="Consolas" pitchFamily="34" charset="0"/>
                <a:ea typeface="Consolas" pitchFamily="34" charset="-122"/>
                <a:cs typeface="Consolas" pitchFamily="34" charset="-120"/>
              </a:rPr>
              <a:t>periodos_inscripcion</a:t>
            </a:r>
            <a:endParaRPr lang="en-US" sz="1200" dirty="0"/>
          </a:p>
        </p:txBody>
      </p:sp>
      <p:sp>
        <p:nvSpPr>
          <p:cNvPr id="76" name="Shape 74"/>
          <p:cNvSpPr/>
          <p:nvPr/>
        </p:nvSpPr>
        <p:spPr>
          <a:xfrm>
            <a:off x="7137400" y="4584700"/>
            <a:ext cx="2070100" cy="279400"/>
          </a:xfrm>
          <a:prstGeom prst="roundRect">
            <a:avLst>
              <a:gd name="adj" fmla="val 49091"/>
            </a:avLst>
          </a:prstGeom>
          <a:solidFill>
            <a:srgbClr val="24406C"/>
          </a:solidFill>
          <a:ln/>
        </p:spPr>
      </p:sp>
      <p:sp>
        <p:nvSpPr>
          <p:cNvPr id="77" name="Text 75"/>
          <p:cNvSpPr txBox="1"/>
          <p:nvPr/>
        </p:nvSpPr>
        <p:spPr>
          <a:xfrm>
            <a:off x="7137400" y="4584700"/>
            <a:ext cx="2070100" cy="279400"/>
          </a:xfrm>
          <a:prstGeom prst="rect">
            <a:avLst/>
          </a:prstGeom>
          <a:noFill/>
          <a:ln/>
        </p:spPr>
        <p:txBody>
          <a:bodyPr wrap="square" lIns="0" tIns="0" rIns="0" bIns="0" rtlCol="0" anchor="ctr"/>
          <a:lstStyle/>
          <a:p>
            <a:pPr algn="ctr" indent="0" marL="0">
              <a:buNone/>
            </a:pPr>
            <a:r>
              <a:rPr lang="en-US" sz="1200" dirty="0">
                <a:solidFill>
                  <a:srgbClr val="F4F6F9"/>
                </a:solidFill>
                <a:latin typeface="Consolas" pitchFamily="34" charset="0"/>
                <a:ea typeface="Consolas" pitchFamily="34" charset="-122"/>
                <a:cs typeface="Consolas" pitchFamily="34" charset="-120"/>
              </a:rPr>
              <a:t>periodo_carrera_planes</a:t>
            </a:r>
            <a:endParaRPr lang="en-US" sz="1200" dirty="0"/>
          </a:p>
        </p:txBody>
      </p:sp>
      <p:sp>
        <p:nvSpPr>
          <p:cNvPr id="78" name="Shape 76"/>
          <p:cNvSpPr/>
          <p:nvPr/>
        </p:nvSpPr>
        <p:spPr>
          <a:xfrm>
            <a:off x="9271000" y="4584700"/>
            <a:ext cx="1555750" cy="279400"/>
          </a:xfrm>
          <a:prstGeom prst="roundRect">
            <a:avLst>
              <a:gd name="adj" fmla="val 49091"/>
            </a:avLst>
          </a:prstGeom>
          <a:solidFill>
            <a:srgbClr val="24406C"/>
          </a:solidFill>
          <a:ln/>
        </p:spPr>
      </p:sp>
      <p:sp>
        <p:nvSpPr>
          <p:cNvPr id="79" name="Text 77"/>
          <p:cNvSpPr txBox="1"/>
          <p:nvPr/>
        </p:nvSpPr>
        <p:spPr>
          <a:xfrm>
            <a:off x="9271000" y="4584700"/>
            <a:ext cx="1555750" cy="279400"/>
          </a:xfrm>
          <a:prstGeom prst="rect">
            <a:avLst/>
          </a:prstGeom>
          <a:noFill/>
          <a:ln/>
        </p:spPr>
        <p:txBody>
          <a:bodyPr wrap="square" lIns="0" tIns="0" rIns="0" bIns="0" rtlCol="0" anchor="ctr"/>
          <a:lstStyle/>
          <a:p>
            <a:pPr algn="ctr" indent="0" marL="0">
              <a:buNone/>
            </a:pPr>
            <a:r>
              <a:rPr lang="en-US" sz="1200" dirty="0">
                <a:solidFill>
                  <a:srgbClr val="F4F6F9"/>
                </a:solidFill>
                <a:latin typeface="Consolas" pitchFamily="34" charset="0"/>
                <a:ea typeface="Consolas" pitchFamily="34" charset="-122"/>
                <a:cs typeface="Consolas" pitchFamily="34" charset="-120"/>
              </a:rPr>
              <a:t>preinscripciones</a:t>
            </a:r>
            <a:endParaRPr lang="en-US" sz="1200" dirty="0"/>
          </a:p>
        </p:txBody>
      </p:sp>
      <p:sp>
        <p:nvSpPr>
          <p:cNvPr id="80" name="Shape 78"/>
          <p:cNvSpPr/>
          <p:nvPr/>
        </p:nvSpPr>
        <p:spPr>
          <a:xfrm>
            <a:off x="7137400" y="4940300"/>
            <a:ext cx="2070100" cy="279400"/>
          </a:xfrm>
          <a:prstGeom prst="roundRect">
            <a:avLst>
              <a:gd name="adj" fmla="val 49091"/>
            </a:avLst>
          </a:prstGeom>
          <a:solidFill>
            <a:srgbClr val="24406C"/>
          </a:solidFill>
          <a:ln/>
        </p:spPr>
      </p:sp>
      <p:sp>
        <p:nvSpPr>
          <p:cNvPr id="81" name="Text 79"/>
          <p:cNvSpPr txBox="1"/>
          <p:nvPr/>
        </p:nvSpPr>
        <p:spPr>
          <a:xfrm>
            <a:off x="7137400" y="4940300"/>
            <a:ext cx="2070100" cy="279400"/>
          </a:xfrm>
          <a:prstGeom prst="rect">
            <a:avLst/>
          </a:prstGeom>
          <a:noFill/>
          <a:ln/>
        </p:spPr>
        <p:txBody>
          <a:bodyPr wrap="square" lIns="0" tIns="0" rIns="0" bIns="0" rtlCol="0" anchor="ctr"/>
          <a:lstStyle/>
          <a:p>
            <a:pPr algn="ctr" indent="0" marL="0">
              <a:buNone/>
            </a:pPr>
            <a:r>
              <a:rPr lang="en-US" sz="1200" dirty="0">
                <a:solidFill>
                  <a:srgbClr val="F4F6F9"/>
                </a:solidFill>
                <a:latin typeface="Consolas" pitchFamily="34" charset="0"/>
                <a:ea typeface="Consolas" pitchFamily="34" charset="-122"/>
                <a:cs typeface="Consolas" pitchFamily="34" charset="-120"/>
              </a:rPr>
              <a:t>documentos_estudiantes</a:t>
            </a:r>
            <a:endParaRPr lang="en-US" sz="1200" dirty="0"/>
          </a:p>
        </p:txBody>
      </p:sp>
      <p:sp>
        <p:nvSpPr>
          <p:cNvPr id="82" name="Text 80"/>
          <p:cNvSpPr txBox="1"/>
          <p:nvPr/>
        </p:nvSpPr>
        <p:spPr>
          <a:xfrm>
            <a:off x="812800" y="6235700"/>
            <a:ext cx="6350000" cy="215900"/>
          </a:xfrm>
          <a:prstGeom prst="rect">
            <a:avLst/>
          </a:prstGeom>
          <a:noFill/>
          <a:ln/>
        </p:spPr>
        <p:txBody>
          <a:bodyPr wrap="square" lIns="0" tIns="0" rIns="0" bIns="0" rtlCol="0" anchor="t"/>
          <a:lstStyle/>
          <a:p>
            <a:pPr indent="0" marL="0">
              <a:buNone/>
            </a:pPr>
            <a:r>
              <a:rPr lang="en-US" sz="1200" dirty="0">
                <a:solidFill>
                  <a:srgbClr val="5A6A80"/>
                </a:solidFill>
                <a:latin typeface="Arial" pitchFamily="34" charset="0"/>
                <a:ea typeface="Arial" pitchFamily="34" charset="-122"/>
                <a:cs typeface="Arial" pitchFamily="34" charset="-120"/>
              </a:rPr>
              <a:t>SIGA · Primera cohorte · Circuito de ingreso</a:t>
            </a:r>
            <a:endParaRPr lang="en-US" sz="1200" dirty="0"/>
          </a:p>
        </p:txBody>
      </p:sp>
      <p:sp>
        <p:nvSpPr>
          <p:cNvPr id="83" name="Text 81"/>
          <p:cNvSpPr txBox="1"/>
          <p:nvPr/>
        </p:nvSpPr>
        <p:spPr>
          <a:xfrm>
            <a:off x="10109200" y="6235700"/>
            <a:ext cx="1270000" cy="215900"/>
          </a:xfrm>
          <a:prstGeom prst="rect">
            <a:avLst/>
          </a:prstGeom>
          <a:noFill/>
          <a:ln/>
        </p:spPr>
        <p:txBody>
          <a:bodyPr wrap="square" lIns="0" tIns="0" rIns="0" bIns="0" rtlCol="0" anchor="t"/>
          <a:lstStyle/>
          <a:p>
            <a:pPr algn="r" indent="0" marL="0">
              <a:buNone/>
            </a:pPr>
            <a:r>
              <a:rPr lang="en-US" sz="1200" dirty="0">
                <a:solidFill>
                  <a:srgbClr val="5A6A80"/>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294B"/>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5900"/>
          </a:xfrm>
          <a:prstGeom prst="rect">
            <a:avLst/>
          </a:prstGeom>
          <a:noFill/>
          <a:ln/>
        </p:spPr>
        <p:txBody>
          <a:bodyPr wrap="square" lIns="0" tIns="0" rIns="0" bIns="0" rtlCol="0" anchor="t"/>
          <a:lstStyle/>
          <a:p>
            <a:pPr indent="0" marL="0">
              <a:buNone/>
            </a:pPr>
            <a:r>
              <a:rPr lang="en-US" sz="1200" b="1" spc="150" kern="0" dirty="0">
                <a:solidFill>
                  <a:srgbClr val="9DBBFF"/>
                </a:solidFill>
                <a:latin typeface="Arial" pitchFamily="34" charset="0"/>
                <a:ea typeface="Arial" pitchFamily="34" charset="-122"/>
                <a:cs typeface="Arial" pitchFamily="34" charset="-120"/>
              </a:rPr>
              <a:t>CÓMO SEGUIMOS</a:t>
            </a:r>
            <a:endParaRPr lang="en-US" sz="1200" dirty="0"/>
          </a:p>
        </p:txBody>
      </p:sp>
      <p:sp>
        <p:nvSpPr>
          <p:cNvPr id="3" name="Text 1"/>
          <p:cNvSpPr txBox="1"/>
          <p:nvPr/>
        </p:nvSpPr>
        <p:spPr>
          <a:xfrm>
            <a:off x="812800" y="1066800"/>
            <a:ext cx="10566400" cy="571500"/>
          </a:xfrm>
          <a:prstGeom prst="rect">
            <a:avLst/>
          </a:prstGeom>
          <a:noFill/>
          <a:ln/>
        </p:spPr>
        <p:txBody>
          <a:bodyPr wrap="square" lIns="0" tIns="0" rIns="0" bIns="0" rtlCol="0" anchor="t"/>
          <a:lstStyle/>
          <a:p>
            <a:pPr indent="0" marL="0">
              <a:lnSpc>
                <a:spcPct val="100000"/>
              </a:lnSpc>
              <a:buNone/>
            </a:pPr>
            <a:r>
              <a:rPr lang="en-US" sz="3600" b="1" dirty="0">
                <a:solidFill>
                  <a:srgbClr val="F4F6F9"/>
                </a:solidFill>
                <a:latin typeface="Arial" pitchFamily="34" charset="0"/>
                <a:ea typeface="Arial" pitchFamily="34" charset="-122"/>
                <a:cs typeface="Arial" pitchFamily="34" charset="-120"/>
              </a:rPr>
              <a:t>Próximos pasos</a:t>
            </a:r>
            <a:endParaRPr lang="en-US" sz="3600" dirty="0"/>
          </a:p>
        </p:txBody>
      </p:sp>
      <p:sp>
        <p:nvSpPr>
          <p:cNvPr id="4" name="Shape 2"/>
          <p:cNvSpPr/>
          <p:nvPr/>
        </p:nvSpPr>
        <p:spPr>
          <a:xfrm>
            <a:off x="812800" y="2667000"/>
            <a:ext cx="1950720" cy="0"/>
          </a:xfrm>
          <a:prstGeom prst="line">
            <a:avLst/>
          </a:prstGeom>
          <a:noFill/>
          <a:ln w="28575">
            <a:solidFill>
              <a:srgbClr val="9DBBFF"/>
            </a:solidFill>
            <a:prstDash val="solid"/>
          </a:ln>
        </p:spPr>
      </p:sp>
      <p:sp>
        <p:nvSpPr>
          <p:cNvPr id="5" name="Text 3"/>
          <p:cNvSpPr txBox="1"/>
          <p:nvPr/>
        </p:nvSpPr>
        <p:spPr>
          <a:xfrm>
            <a:off x="812800" y="2844800"/>
            <a:ext cx="1950720" cy="215900"/>
          </a:xfrm>
          <a:prstGeom prst="rect">
            <a:avLst/>
          </a:prstGeom>
          <a:noFill/>
          <a:ln/>
        </p:spPr>
        <p:txBody>
          <a:bodyPr wrap="square" lIns="0" tIns="0" rIns="0" bIns="0" rtlCol="0" anchor="t"/>
          <a:lstStyle/>
          <a:p>
            <a:pPr indent="0" marL="0">
              <a:buNone/>
            </a:pPr>
            <a:r>
              <a:rPr lang="en-US" sz="1200" b="1" dirty="0">
                <a:solidFill>
                  <a:srgbClr val="9DBBFF"/>
                </a:solidFill>
                <a:latin typeface="Consolas" pitchFamily="34" charset="0"/>
                <a:ea typeface="Consolas" pitchFamily="34" charset="-122"/>
                <a:cs typeface="Consolas" pitchFamily="34" charset="-120"/>
              </a:rPr>
              <a:t>01</a:t>
            </a:r>
            <a:endParaRPr lang="en-US" sz="1200" dirty="0"/>
          </a:p>
        </p:txBody>
      </p:sp>
      <p:sp>
        <p:nvSpPr>
          <p:cNvPr id="6" name="Text 4"/>
          <p:cNvSpPr txBox="1"/>
          <p:nvPr/>
        </p:nvSpPr>
        <p:spPr>
          <a:xfrm>
            <a:off x="812800" y="3175000"/>
            <a:ext cx="1950720" cy="825500"/>
          </a:xfrm>
          <a:prstGeom prst="rect">
            <a:avLst/>
          </a:prstGeom>
          <a:noFill/>
          <a:ln/>
        </p:spPr>
        <p:txBody>
          <a:bodyPr wrap="square" lIns="0" tIns="0" rIns="0" bIns="0" rtlCol="0" anchor="t"/>
          <a:lstStyle/>
          <a:p>
            <a:pPr indent="0" marL="0">
              <a:lnSpc>
                <a:spcPct val="115000"/>
              </a:lnSpc>
              <a:buNone/>
            </a:pPr>
            <a:r>
              <a:rPr lang="en-US" sz="1500" b="1" dirty="0">
                <a:solidFill>
                  <a:srgbClr val="F4F6F9"/>
                </a:solidFill>
                <a:latin typeface="Arial" pitchFamily="34" charset="0"/>
                <a:ea typeface="Arial" pitchFamily="34" charset="-122"/>
                <a:cs typeface="Arial" pitchFamily="34" charset="-120"/>
              </a:rPr>
              <a:t>Ajustar el modelo con los hallazgos</a:t>
            </a:r>
            <a:endParaRPr lang="en-US" sz="1500" dirty="0"/>
          </a:p>
        </p:txBody>
      </p:sp>
      <p:sp>
        <p:nvSpPr>
          <p:cNvPr id="7" name="Shape 5"/>
          <p:cNvSpPr/>
          <p:nvPr/>
        </p:nvSpPr>
        <p:spPr>
          <a:xfrm>
            <a:off x="2966720" y="2667000"/>
            <a:ext cx="1950720" cy="0"/>
          </a:xfrm>
          <a:prstGeom prst="line">
            <a:avLst/>
          </a:prstGeom>
          <a:noFill/>
          <a:ln w="28575">
            <a:solidFill>
              <a:srgbClr val="9DBBFF"/>
            </a:solidFill>
            <a:prstDash val="solid"/>
          </a:ln>
        </p:spPr>
      </p:sp>
      <p:sp>
        <p:nvSpPr>
          <p:cNvPr id="8" name="Text 6"/>
          <p:cNvSpPr txBox="1"/>
          <p:nvPr/>
        </p:nvSpPr>
        <p:spPr>
          <a:xfrm>
            <a:off x="2966720" y="2844800"/>
            <a:ext cx="1950720" cy="215900"/>
          </a:xfrm>
          <a:prstGeom prst="rect">
            <a:avLst/>
          </a:prstGeom>
          <a:noFill/>
          <a:ln/>
        </p:spPr>
        <p:txBody>
          <a:bodyPr wrap="square" lIns="0" tIns="0" rIns="0" bIns="0" rtlCol="0" anchor="t"/>
          <a:lstStyle/>
          <a:p>
            <a:pPr indent="0" marL="0">
              <a:buNone/>
            </a:pPr>
            <a:r>
              <a:rPr lang="en-US" sz="1200" b="1" dirty="0">
                <a:solidFill>
                  <a:srgbClr val="9DBBFF"/>
                </a:solidFill>
                <a:latin typeface="Consolas" pitchFamily="34" charset="0"/>
                <a:ea typeface="Consolas" pitchFamily="34" charset="-122"/>
                <a:cs typeface="Consolas" pitchFamily="34" charset="-120"/>
              </a:rPr>
              <a:t>02</a:t>
            </a:r>
            <a:endParaRPr lang="en-US" sz="1200" dirty="0"/>
          </a:p>
        </p:txBody>
      </p:sp>
      <p:sp>
        <p:nvSpPr>
          <p:cNvPr id="9" name="Text 7"/>
          <p:cNvSpPr txBox="1"/>
          <p:nvPr/>
        </p:nvSpPr>
        <p:spPr>
          <a:xfrm>
            <a:off x="2966720" y="3175000"/>
            <a:ext cx="1950720" cy="825500"/>
          </a:xfrm>
          <a:prstGeom prst="rect">
            <a:avLst/>
          </a:prstGeom>
          <a:noFill/>
          <a:ln/>
        </p:spPr>
        <p:txBody>
          <a:bodyPr wrap="square" lIns="0" tIns="0" rIns="0" bIns="0" rtlCol="0" anchor="t"/>
          <a:lstStyle/>
          <a:p>
            <a:pPr indent="0" marL="0">
              <a:lnSpc>
                <a:spcPct val="115000"/>
              </a:lnSpc>
              <a:buNone/>
            </a:pPr>
            <a:r>
              <a:rPr lang="en-US" sz="1500" b="1" dirty="0">
                <a:solidFill>
                  <a:srgbClr val="F4F6F9"/>
                </a:solidFill>
                <a:latin typeface="Arial" pitchFamily="34" charset="0"/>
                <a:ea typeface="Arial" pitchFamily="34" charset="-122"/>
                <a:cs typeface="Arial" pitchFamily="34" charset="-120"/>
              </a:rPr>
              <a:t>Base en Django, PostgreSQL y Docker</a:t>
            </a:r>
            <a:endParaRPr lang="en-US" sz="1500" dirty="0"/>
          </a:p>
        </p:txBody>
      </p:sp>
      <p:sp>
        <p:nvSpPr>
          <p:cNvPr id="10" name="Shape 8"/>
          <p:cNvSpPr/>
          <p:nvPr/>
        </p:nvSpPr>
        <p:spPr>
          <a:xfrm>
            <a:off x="5120640" y="2667000"/>
            <a:ext cx="1950720" cy="0"/>
          </a:xfrm>
          <a:prstGeom prst="line">
            <a:avLst/>
          </a:prstGeom>
          <a:noFill/>
          <a:ln w="28575">
            <a:solidFill>
              <a:srgbClr val="9DBBFF"/>
            </a:solidFill>
            <a:prstDash val="solid"/>
          </a:ln>
        </p:spPr>
      </p:sp>
      <p:sp>
        <p:nvSpPr>
          <p:cNvPr id="11" name="Text 9"/>
          <p:cNvSpPr txBox="1"/>
          <p:nvPr/>
        </p:nvSpPr>
        <p:spPr>
          <a:xfrm>
            <a:off x="5120640" y="2844800"/>
            <a:ext cx="1950720" cy="215900"/>
          </a:xfrm>
          <a:prstGeom prst="rect">
            <a:avLst/>
          </a:prstGeom>
          <a:noFill/>
          <a:ln/>
        </p:spPr>
        <p:txBody>
          <a:bodyPr wrap="square" lIns="0" tIns="0" rIns="0" bIns="0" rtlCol="0" anchor="t"/>
          <a:lstStyle/>
          <a:p>
            <a:pPr indent="0" marL="0">
              <a:buNone/>
            </a:pPr>
            <a:r>
              <a:rPr lang="en-US" sz="1200" b="1" dirty="0">
                <a:solidFill>
                  <a:srgbClr val="9DBBFF"/>
                </a:solidFill>
                <a:latin typeface="Consolas" pitchFamily="34" charset="0"/>
                <a:ea typeface="Consolas" pitchFamily="34" charset="-122"/>
                <a:cs typeface="Consolas" pitchFamily="34" charset="-120"/>
              </a:rPr>
              <a:t>03</a:t>
            </a:r>
            <a:endParaRPr lang="en-US" sz="1200" dirty="0"/>
          </a:p>
        </p:txBody>
      </p:sp>
      <p:sp>
        <p:nvSpPr>
          <p:cNvPr id="12" name="Text 10"/>
          <p:cNvSpPr txBox="1"/>
          <p:nvPr/>
        </p:nvSpPr>
        <p:spPr>
          <a:xfrm>
            <a:off x="5120640" y="3175000"/>
            <a:ext cx="1950720" cy="825500"/>
          </a:xfrm>
          <a:prstGeom prst="rect">
            <a:avLst/>
          </a:prstGeom>
          <a:noFill/>
          <a:ln/>
        </p:spPr>
        <p:txBody>
          <a:bodyPr wrap="square" lIns="0" tIns="0" rIns="0" bIns="0" rtlCol="0" anchor="t"/>
          <a:lstStyle/>
          <a:p>
            <a:pPr indent="0" marL="0">
              <a:lnSpc>
                <a:spcPct val="115000"/>
              </a:lnSpc>
              <a:buNone/>
            </a:pPr>
            <a:r>
              <a:rPr lang="en-US" sz="1500" b="1" dirty="0">
                <a:solidFill>
                  <a:srgbClr val="F4F6F9"/>
                </a:solidFill>
                <a:latin typeface="Arial" pitchFamily="34" charset="0"/>
                <a:ea typeface="Arial" pitchFamily="34" charset="-122"/>
                <a:cs typeface="Arial" pitchFamily="34" charset="-120"/>
              </a:rPr>
              <a:t>Formulario de preinscripción</a:t>
            </a:r>
            <a:endParaRPr lang="en-US" sz="1500" dirty="0"/>
          </a:p>
        </p:txBody>
      </p:sp>
      <p:sp>
        <p:nvSpPr>
          <p:cNvPr id="13" name="Shape 11"/>
          <p:cNvSpPr/>
          <p:nvPr/>
        </p:nvSpPr>
        <p:spPr>
          <a:xfrm>
            <a:off x="7274560" y="2667000"/>
            <a:ext cx="1950720" cy="0"/>
          </a:xfrm>
          <a:prstGeom prst="line">
            <a:avLst/>
          </a:prstGeom>
          <a:noFill/>
          <a:ln w="28575">
            <a:solidFill>
              <a:srgbClr val="9DBBFF"/>
            </a:solidFill>
            <a:prstDash val="solid"/>
          </a:ln>
        </p:spPr>
      </p:sp>
      <p:sp>
        <p:nvSpPr>
          <p:cNvPr id="14" name="Text 12"/>
          <p:cNvSpPr txBox="1"/>
          <p:nvPr/>
        </p:nvSpPr>
        <p:spPr>
          <a:xfrm>
            <a:off x="7274560" y="2844800"/>
            <a:ext cx="1950720" cy="215900"/>
          </a:xfrm>
          <a:prstGeom prst="rect">
            <a:avLst/>
          </a:prstGeom>
          <a:noFill/>
          <a:ln/>
        </p:spPr>
        <p:txBody>
          <a:bodyPr wrap="square" lIns="0" tIns="0" rIns="0" bIns="0" rtlCol="0" anchor="t"/>
          <a:lstStyle/>
          <a:p>
            <a:pPr indent="0" marL="0">
              <a:buNone/>
            </a:pPr>
            <a:r>
              <a:rPr lang="en-US" sz="1200" b="1" dirty="0">
                <a:solidFill>
                  <a:srgbClr val="9DBBFF"/>
                </a:solidFill>
                <a:latin typeface="Consolas" pitchFamily="34" charset="0"/>
                <a:ea typeface="Consolas" pitchFamily="34" charset="-122"/>
                <a:cs typeface="Consolas" pitchFamily="34" charset="-120"/>
              </a:rPr>
              <a:t>04</a:t>
            </a:r>
            <a:endParaRPr lang="en-US" sz="1200" dirty="0"/>
          </a:p>
        </p:txBody>
      </p:sp>
      <p:sp>
        <p:nvSpPr>
          <p:cNvPr id="15" name="Text 13"/>
          <p:cNvSpPr txBox="1"/>
          <p:nvPr/>
        </p:nvSpPr>
        <p:spPr>
          <a:xfrm>
            <a:off x="7274560" y="3175000"/>
            <a:ext cx="1950720" cy="825500"/>
          </a:xfrm>
          <a:prstGeom prst="rect">
            <a:avLst/>
          </a:prstGeom>
          <a:noFill/>
          <a:ln/>
        </p:spPr>
        <p:txBody>
          <a:bodyPr wrap="square" lIns="0" tIns="0" rIns="0" bIns="0" rtlCol="0" anchor="t"/>
          <a:lstStyle/>
          <a:p>
            <a:pPr indent="0" marL="0">
              <a:lnSpc>
                <a:spcPct val="115000"/>
              </a:lnSpc>
              <a:buNone/>
            </a:pPr>
            <a:r>
              <a:rPr lang="en-US" sz="1500" b="1" dirty="0">
                <a:solidFill>
                  <a:srgbClr val="F4F6F9"/>
                </a:solidFill>
                <a:latin typeface="Arial" pitchFamily="34" charset="0"/>
                <a:ea typeface="Arial" pitchFamily="34" charset="-122"/>
                <a:cs typeface="Arial" pitchFamily="34" charset="-120"/>
              </a:rPr>
              <a:t>Bandeja y ficha de aspirantes</a:t>
            </a:r>
            <a:endParaRPr lang="en-US" sz="1500" dirty="0"/>
          </a:p>
        </p:txBody>
      </p:sp>
      <p:sp>
        <p:nvSpPr>
          <p:cNvPr id="16" name="Shape 14"/>
          <p:cNvSpPr/>
          <p:nvPr/>
        </p:nvSpPr>
        <p:spPr>
          <a:xfrm>
            <a:off x="9428480" y="2667000"/>
            <a:ext cx="1950720" cy="0"/>
          </a:xfrm>
          <a:prstGeom prst="line">
            <a:avLst/>
          </a:prstGeom>
          <a:noFill/>
          <a:ln w="28575">
            <a:solidFill>
              <a:srgbClr val="9DBBFF"/>
            </a:solidFill>
            <a:prstDash val="solid"/>
          </a:ln>
        </p:spPr>
      </p:sp>
      <p:sp>
        <p:nvSpPr>
          <p:cNvPr id="17" name="Text 15"/>
          <p:cNvSpPr txBox="1"/>
          <p:nvPr/>
        </p:nvSpPr>
        <p:spPr>
          <a:xfrm>
            <a:off x="9428480" y="2844800"/>
            <a:ext cx="1950720" cy="215900"/>
          </a:xfrm>
          <a:prstGeom prst="rect">
            <a:avLst/>
          </a:prstGeom>
          <a:noFill/>
          <a:ln/>
        </p:spPr>
        <p:txBody>
          <a:bodyPr wrap="square" lIns="0" tIns="0" rIns="0" bIns="0" rtlCol="0" anchor="t"/>
          <a:lstStyle/>
          <a:p>
            <a:pPr indent="0" marL="0">
              <a:buNone/>
            </a:pPr>
            <a:r>
              <a:rPr lang="en-US" sz="1200" b="1" dirty="0">
                <a:solidFill>
                  <a:srgbClr val="9DBBFF"/>
                </a:solidFill>
                <a:latin typeface="Consolas" pitchFamily="34" charset="0"/>
                <a:ea typeface="Consolas" pitchFamily="34" charset="-122"/>
                <a:cs typeface="Consolas" pitchFamily="34" charset="-120"/>
              </a:rPr>
              <a:t>05</a:t>
            </a:r>
            <a:endParaRPr lang="en-US" sz="1200" dirty="0"/>
          </a:p>
        </p:txBody>
      </p:sp>
      <p:sp>
        <p:nvSpPr>
          <p:cNvPr id="18" name="Text 16"/>
          <p:cNvSpPr txBox="1"/>
          <p:nvPr/>
        </p:nvSpPr>
        <p:spPr>
          <a:xfrm>
            <a:off x="9428480" y="3175000"/>
            <a:ext cx="1950720" cy="825500"/>
          </a:xfrm>
          <a:prstGeom prst="rect">
            <a:avLst/>
          </a:prstGeom>
          <a:noFill/>
          <a:ln/>
        </p:spPr>
        <p:txBody>
          <a:bodyPr wrap="square" lIns="0" tIns="0" rIns="0" bIns="0" rtlCol="0" anchor="t"/>
          <a:lstStyle/>
          <a:p>
            <a:pPr indent="0" marL="0">
              <a:lnSpc>
                <a:spcPct val="115000"/>
              </a:lnSpc>
              <a:buNone/>
            </a:pPr>
            <a:r>
              <a:rPr lang="en-US" sz="1500" b="1" dirty="0">
                <a:solidFill>
                  <a:srgbClr val="F4F6F9"/>
                </a:solidFill>
                <a:latin typeface="Arial" pitchFamily="34" charset="0"/>
                <a:ea typeface="Arial" pitchFamily="34" charset="-122"/>
                <a:cs typeface="Arial" pitchFamily="34" charset="-120"/>
              </a:rPr>
              <a:t>Despliegue de prueba y traspaso</a:t>
            </a:r>
            <a:endParaRPr lang="en-US" sz="1500" dirty="0"/>
          </a:p>
        </p:txBody>
      </p:sp>
      <p:sp>
        <p:nvSpPr>
          <p:cNvPr id="19" name="Text 17"/>
          <p:cNvSpPr txBox="1"/>
          <p:nvPr/>
        </p:nvSpPr>
        <p:spPr>
          <a:xfrm>
            <a:off x="812800" y="5435600"/>
            <a:ext cx="6985000" cy="254000"/>
          </a:xfrm>
          <a:prstGeom prst="rect">
            <a:avLst/>
          </a:prstGeom>
          <a:noFill/>
          <a:ln/>
        </p:spPr>
        <p:txBody>
          <a:bodyPr wrap="square" lIns="0" tIns="0" rIns="0" bIns="0" rtlCol="0" anchor="b"/>
          <a:lstStyle/>
          <a:p>
            <a:pPr indent="0" marL="0">
              <a:buNone/>
            </a:pPr>
            <a:r>
              <a:rPr lang="en-US" sz="1200" dirty="0">
                <a:solidFill>
                  <a:srgbClr val="B9C6DA"/>
                </a:solidFill>
                <a:latin typeface="Arial" pitchFamily="34" charset="0"/>
                <a:ea typeface="Arial" pitchFamily="34" charset="-122"/>
                <a:cs typeface="Arial" pitchFamily="34" charset="-120"/>
              </a:rPr>
              <a:t>Mockups navegables: </a:t>
            </a:r>
            <a:pPr indent="0" marL="0">
              <a:buNone/>
            </a:pPr>
            <a:r>
              <a:rPr lang="en-US" sz="1200" u="sng" dirty="0">
                <a:solidFill>
                  <a:srgbClr val="9DBB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claude.ai/artifact/LUtNzuTp73qRe59vqwuPYf</a:t>
            </a:r>
            <a:endParaRPr lang="en-US" sz="1200" dirty="0"/>
          </a:p>
        </p:txBody>
      </p:sp>
      <p:sp>
        <p:nvSpPr>
          <p:cNvPr id="20" name="Text 18"/>
          <p:cNvSpPr txBox="1"/>
          <p:nvPr/>
        </p:nvSpPr>
        <p:spPr>
          <a:xfrm>
            <a:off x="8204200" y="5207000"/>
            <a:ext cx="3175000" cy="508000"/>
          </a:xfrm>
          <a:prstGeom prst="rect">
            <a:avLst/>
          </a:prstGeom>
          <a:noFill/>
          <a:ln/>
        </p:spPr>
        <p:txBody>
          <a:bodyPr wrap="square" lIns="0" tIns="0" rIns="0" bIns="0" rtlCol="0" anchor="t"/>
          <a:lstStyle/>
          <a:p>
            <a:pPr algn="r" indent="0" marL="0">
              <a:buNone/>
            </a:pPr>
            <a:r>
              <a:rPr lang="en-US" sz="3200" b="1" dirty="0">
                <a:solidFill>
                  <a:srgbClr val="F4F6F9"/>
                </a:solidFill>
                <a:latin typeface="Arial" pitchFamily="34" charset="0"/>
                <a:ea typeface="Arial" pitchFamily="34" charset="-122"/>
                <a:cs typeface="Arial" pitchFamily="34" charset="-120"/>
              </a:rPr>
              <a:t>¿Preguntas?</a:t>
            </a:r>
            <a:endParaRPr lang="en-US" sz="3200" dirty="0"/>
          </a:p>
        </p:txBody>
      </p:sp>
      <p:sp>
        <p:nvSpPr>
          <p:cNvPr id="21" name="Text 19"/>
          <p:cNvSpPr txBox="1"/>
          <p:nvPr/>
        </p:nvSpPr>
        <p:spPr>
          <a:xfrm>
            <a:off x="812800" y="6235700"/>
            <a:ext cx="6350000" cy="215900"/>
          </a:xfrm>
          <a:prstGeom prst="rect">
            <a:avLst/>
          </a:prstGeom>
          <a:noFill/>
          <a:ln/>
        </p:spPr>
        <p:txBody>
          <a:bodyPr wrap="square" lIns="0" tIns="0" rIns="0" bIns="0" rtlCol="0" anchor="t"/>
          <a:lstStyle/>
          <a:p>
            <a:pPr indent="0" marL="0">
              <a:buNone/>
            </a:pPr>
            <a:r>
              <a:rPr lang="en-US" sz="1200" dirty="0">
                <a:solidFill>
                  <a:srgbClr val="B9C6DA"/>
                </a:solidFill>
                <a:latin typeface="Arial" pitchFamily="34" charset="0"/>
                <a:ea typeface="Arial" pitchFamily="34" charset="-122"/>
                <a:cs typeface="Arial" pitchFamily="34" charset="-120"/>
              </a:rPr>
              <a:t>SIGA · Primera cohorte · Circuito de ingreso</a:t>
            </a:r>
            <a:endParaRPr lang="en-US" sz="1200" dirty="0"/>
          </a:p>
        </p:txBody>
      </p:sp>
      <p:sp>
        <p:nvSpPr>
          <p:cNvPr id="22" name="Text 20"/>
          <p:cNvSpPr txBox="1"/>
          <p:nvPr/>
        </p:nvSpPr>
        <p:spPr>
          <a:xfrm>
            <a:off x="10109200" y="6235700"/>
            <a:ext cx="1270000" cy="215900"/>
          </a:xfrm>
          <a:prstGeom prst="rect">
            <a:avLst/>
          </a:prstGeom>
          <a:noFill/>
          <a:ln/>
        </p:spPr>
        <p:txBody>
          <a:bodyPr wrap="square" lIns="0" tIns="0" rIns="0" bIns="0" rtlCol="0" anchor="t"/>
          <a:lstStyle/>
          <a:p>
            <a:pPr algn="r" indent="0" marL="0">
              <a:buNone/>
            </a:pPr>
            <a:r>
              <a:rPr lang="en-US" sz="1200" dirty="0">
                <a:solidFill>
                  <a:srgbClr val="B9C6DA"/>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SIGA · Primera cohorte</dc:title>
  <dc:subject>PptxGenJS Presentation</dc:subject>
  <dc:creator>PptxGenJS</dc:creator>
  <cp:lastModifiedBy>PptxGenJS</cp:lastModifiedBy>
  <cp:revision>1</cp:revision>
  <dcterms:created xsi:type="dcterms:W3CDTF">2026-10-01T15:31:23Z</dcterms:created>
  <dcterms:modified xsi:type="dcterms:W3CDTF">2026-10-01T15:31:23Z</dcterms:modified>
</cp:coreProperties>
</file>